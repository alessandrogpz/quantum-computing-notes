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2507040" y="2325240"/>
            <a:ext cx="7165080" cy="54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15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Quantum Computing Fundamentals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495320" y="3136320"/>
            <a:ext cx="32061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From kets to key distribution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743000" y="3650760"/>
            <a:ext cx="27136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Alessandro Gentili Perez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546280" y="4201200"/>
            <a:ext cx="709668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Based on </a:t>
            </a:r>
            <a:r>
              <a:rPr lang="en-US" sz="1540" b="0" i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Quantum Computing for Everyone </a:t>
            </a:r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(Bernhardt), implemented in Qiskit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47720" y="731520"/>
            <a:ext cx="463788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Everything here is 2D, and real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47720" y="1383840"/>
            <a:ext cx="8304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 qubit is a vector of length 1. With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real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amplitudes, every state sits on the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47720" y="1745640"/>
            <a:ext cx="6832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unit circle.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Kets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are column vectors;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bras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are their transpose.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538440" y="2349360"/>
            <a:ext cx="6627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565160" y="2647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331960" y="2348280"/>
            <a:ext cx="6627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259160" y="2349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[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411440" y="21686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411440" y="2521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4555440" y="2349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]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6358680" y="2647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7125480" y="2348280"/>
            <a:ext cx="6627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⟨0∣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052680" y="2349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[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204960" y="21686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204960" y="2521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348960" y="2349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]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8120160" y="2647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8552520" y="2647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7846200" y="2349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1"/>
                <a:ea typeface="KaTeX_Size1"/>
              </a:rPr>
              <a:t>[</a:t>
            </a:r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" name=""/>
          <p:cNvPicPr/>
          <p:nvPr/>
        </p:nvPicPr>
        <p:blipFill>
          <a:blip r:embed="rId1"/>
          <a:stretch/>
        </p:blipFill>
        <p:spPr>
          <a:xfrm>
            <a:off x="752400" y="3085920"/>
            <a:ext cx="2856960" cy="280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"/>
          <p:cNvSpPr txBox="1"/>
          <p:nvPr/>
        </p:nvSpPr>
        <p:spPr>
          <a:xfrm>
            <a:off x="8398800" y="2349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1"/>
                <a:ea typeface="KaTeX_Size1"/>
              </a:rPr>
              <a:t>]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747720" y="6192000"/>
            <a:ext cx="896508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Complex amplitudes would ﬁll a sphere instead. Not needed until the quantum Fourier transform.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747720" y="1369440"/>
            <a:ext cx="58010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A qubit, and why the squares sum to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4016160" y="1958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096440" y="20386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v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246560" y="1958760"/>
            <a:ext cx="353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743000" y="20386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982760" y="2256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4982760" y="1958760"/>
            <a:ext cx="6627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4867560" y="20991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671800" y="20386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911920" y="2256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911920" y="1958760"/>
            <a:ext cx="4230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824520" y="20386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064640" y="2256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128720" y="1958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796720" y="20991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949440" y="21182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949440" y="19371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7416720" y="20386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7656840" y="2256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736760" y="1958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541640" y="21182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541640" y="19371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040960" y="1958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987840" y="2545920"/>
            <a:ext cx="550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and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779120" y="2545920"/>
            <a:ext cx="51476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are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probability amplitudes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Measuring gives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4595040" y="3096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P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819680" y="3016080"/>
            <a:ext cx="5778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(0)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572440" y="3096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812560" y="33141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388920" y="3096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P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613920" y="3016080"/>
            <a:ext cx="5778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(1)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5697360" y="3175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697360" y="29944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366680" y="3096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7606440" y="33141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491240" y="3175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7491240" y="29944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747720" y="3603240"/>
            <a:ext cx="7238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so the normalisation condition is just "the probabilities add to 1".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747720" y="4107960"/>
            <a:ext cx="21067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Standard basis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—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3942000" y="4107960"/>
            <a:ext cx="20872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— is orthonormal: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842640" y="4559400"/>
            <a:ext cx="11797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⟨0∣0⟩ = 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5540040" y="4559400"/>
            <a:ext cx="11797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⟨1∣1⟩ = 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7237440" y="4559400"/>
            <a:ext cx="11797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⟨0∣1⟩ = 0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47720" y="5172840"/>
            <a:ext cx="603720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 bra times a ket gives a number: the overlap between two states.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47720" y="25722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987840" y="27900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72640" y="26323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539000" y="25722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779120" y="27900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663920" y="26323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852280" y="4054320"/>
            <a:ext cx="12164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{∣0⟩, ∣1⟩}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47720" y="1445760"/>
            <a:ext cx="46947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Two qubits: the tensor product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47720" y="2107800"/>
            <a:ext cx="1041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Alice has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4269600" y="2107800"/>
            <a:ext cx="10886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Bob has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7894800" y="210780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421360" y="25686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250164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v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2651400" y="2568600"/>
            <a:ext cx="6487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⊗ 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19608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w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410280" y="2568600"/>
            <a:ext cx="353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90672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14684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414684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41180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411800" y="25686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49208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475992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75992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99860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998600" y="2568600"/>
            <a:ext cx="353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03164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29660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64472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488340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46336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70312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570312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96844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5968440" y="25686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04836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631620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31620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55524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555240" y="2568600"/>
            <a:ext cx="353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558792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85324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20100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44004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01964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25976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725976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524720" y="25686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760500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787284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787284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811152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8111520" y="2568600"/>
            <a:ext cx="353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714456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740952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75764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799632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857592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881604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881604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908136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9081360" y="25686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916128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942912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9429120" y="2648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9668160" y="2866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9668160" y="25686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870084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896616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931392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955296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47720" y="3155400"/>
            <a:ext cx="30092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Name the four amplitudes: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186720" y="367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3404880" y="35971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3709080" y="367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3948840" y="38952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3948840" y="367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214160" y="38952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4790160" y="367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5005440" y="35971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3833640" y="37371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4098960" y="37371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5309640" y="367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5549760" y="38952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5549760" y="367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5814720" y="38952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6391080" y="367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575040" y="35971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434560" y="37371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5699520" y="37371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6879240" y="367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7119360" y="38952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7119360" y="367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384320" y="38952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7960680" y="367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u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8205480" y="35971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004160" y="37371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7269120" y="37371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8509680" y="367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8749440" y="38952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8749440" y="367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9014760" y="38952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8634240" y="37371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8899560" y="37371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747720" y="4183920"/>
            <a:ext cx="32212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It is still normalised, because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575240" y="4933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5730120" y="4933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5800320" y="4635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3986640" y="51757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3504960" y="5047920"/>
            <a:ext cx="267120" cy="96840"/>
          </a:xfrm>
          <a:custGeom>
            <a:avLst/>
            <a:gdLst/>
            <a:ahLst/>
            <a:rect l="0" t="0" r="r" b="b"/>
            <a:pathLst>
              <a:path w="742" h="269">
                <a:moveTo>
                  <a:pt x="0" y="5"/>
                </a:moveTo>
                <a:lnTo>
                  <a:pt x="5" y="0"/>
                </a:lnTo>
                <a:lnTo>
                  <a:pt x="19" y="0"/>
                </a:lnTo>
                <a:cubicBezTo>
                  <a:pt x="29" y="0"/>
                  <a:pt x="34" y="1"/>
                  <a:pt x="35" y="1"/>
                </a:cubicBezTo>
                <a:cubicBezTo>
                  <a:pt x="38" y="4"/>
                  <a:pt x="40" y="8"/>
                  <a:pt x="43" y="12"/>
                </a:cubicBezTo>
                <a:cubicBezTo>
                  <a:pt x="71" y="53"/>
                  <a:pt x="107" y="87"/>
                  <a:pt x="152" y="114"/>
                </a:cubicBezTo>
                <a:cubicBezTo>
                  <a:pt x="196" y="141"/>
                  <a:pt x="245" y="158"/>
                  <a:pt x="300" y="167"/>
                </a:cubicBezTo>
                <a:cubicBezTo>
                  <a:pt x="301" y="167"/>
                  <a:pt x="302" y="167"/>
                  <a:pt x="303" y="168"/>
                </a:cubicBezTo>
                <a:cubicBezTo>
                  <a:pt x="318" y="170"/>
                  <a:pt x="364" y="171"/>
                  <a:pt x="441" y="172"/>
                </a:cubicBezTo>
                <a:lnTo>
                  <a:pt x="742" y="172"/>
                </a:lnTo>
                <a:lnTo>
                  <a:pt x="742" y="269"/>
                </a:lnTo>
                <a:lnTo>
                  <a:pt x="344" y="269"/>
                </a:lnTo>
                <a:lnTo>
                  <a:pt x="339" y="268"/>
                </a:lnTo>
                <a:cubicBezTo>
                  <a:pt x="239" y="260"/>
                  <a:pt x="151" y="217"/>
                  <a:pt x="74" y="138"/>
                </a:cubicBezTo>
                <a:cubicBezTo>
                  <a:pt x="49" y="111"/>
                  <a:pt x="26" y="80"/>
                  <a:pt x="6" y="44"/>
                </a:cubicBezTo>
                <a:lnTo>
                  <a:pt x="0" y="33"/>
                </a:lnTo>
                <a:lnTo>
                  <a:pt x="0" y="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3771720" y="5109840"/>
            <a:ext cx="533880" cy="91080"/>
          </a:xfrm>
          <a:custGeom>
            <a:avLst/>
            <a:gdLst/>
            <a:ahLst/>
            <a:rect l="0" t="0" r="r" b="b"/>
            <a:pathLst>
              <a:path w="1483" h="253">
                <a:moveTo>
                  <a:pt x="392" y="0"/>
                </a:moveTo>
                <a:cubicBezTo>
                  <a:pt x="472" y="6"/>
                  <a:pt x="548" y="35"/>
                  <a:pt x="615" y="87"/>
                </a:cubicBezTo>
                <a:cubicBezTo>
                  <a:pt x="661" y="120"/>
                  <a:pt x="698" y="161"/>
                  <a:pt x="728" y="209"/>
                </a:cubicBezTo>
                <a:lnTo>
                  <a:pt x="735" y="220"/>
                </a:lnTo>
                <a:cubicBezTo>
                  <a:pt x="737" y="217"/>
                  <a:pt x="739" y="213"/>
                  <a:pt x="742" y="209"/>
                </a:cubicBezTo>
                <a:cubicBezTo>
                  <a:pt x="785" y="140"/>
                  <a:pt x="841" y="87"/>
                  <a:pt x="911" y="50"/>
                </a:cubicBezTo>
                <a:cubicBezTo>
                  <a:pt x="964" y="20"/>
                  <a:pt x="1020" y="4"/>
                  <a:pt x="1080" y="0"/>
                </a:cubicBezTo>
                <a:lnTo>
                  <a:pt x="1483" y="0"/>
                </a:lnTo>
                <a:lnTo>
                  <a:pt x="1483" y="97"/>
                </a:lnTo>
                <a:lnTo>
                  <a:pt x="1080" y="97"/>
                </a:lnTo>
                <a:cubicBezTo>
                  <a:pt x="940" y="106"/>
                  <a:pt x="834" y="157"/>
                  <a:pt x="761" y="253"/>
                </a:cubicBezTo>
                <a:lnTo>
                  <a:pt x="708" y="253"/>
                </a:lnTo>
                <a:cubicBezTo>
                  <a:pt x="673" y="207"/>
                  <a:pt x="628" y="171"/>
                  <a:pt x="575" y="144"/>
                </a:cubicBezTo>
                <a:cubicBezTo>
                  <a:pt x="520" y="117"/>
                  <a:pt x="458" y="101"/>
                  <a:pt x="392" y="97"/>
                </a:cubicBezTo>
                <a:lnTo>
                  <a:pt x="0" y="97"/>
                </a:lnTo>
                <a:lnTo>
                  <a:pt x="0" y="0"/>
                </a:lnTo>
                <a:lnTo>
                  <a:pt x="392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4305240" y="5047920"/>
            <a:ext cx="257400" cy="96840"/>
          </a:xfrm>
          <a:custGeom>
            <a:avLst/>
            <a:gdLst/>
            <a:ahLst/>
            <a:rect l="0" t="0" r="r" b="b"/>
            <a:pathLst>
              <a:path w="715" h="269">
                <a:moveTo>
                  <a:pt x="715" y="72"/>
                </a:moveTo>
                <a:cubicBezTo>
                  <a:pt x="672" y="140"/>
                  <a:pt x="614" y="192"/>
                  <a:pt x="542" y="228"/>
                </a:cubicBezTo>
                <a:cubicBezTo>
                  <a:pt x="495" y="250"/>
                  <a:pt x="448" y="265"/>
                  <a:pt x="398" y="269"/>
                </a:cubicBezTo>
                <a:lnTo>
                  <a:pt x="0" y="269"/>
                </a:lnTo>
                <a:lnTo>
                  <a:pt x="0" y="172"/>
                </a:lnTo>
                <a:lnTo>
                  <a:pt x="414" y="172"/>
                </a:lnTo>
                <a:cubicBezTo>
                  <a:pt x="449" y="166"/>
                  <a:pt x="479" y="160"/>
                  <a:pt x="504" y="151"/>
                </a:cubicBezTo>
                <a:cubicBezTo>
                  <a:pt x="586" y="124"/>
                  <a:pt x="649" y="78"/>
                  <a:pt x="695" y="12"/>
                </a:cubicBezTo>
                <a:cubicBezTo>
                  <a:pt x="697" y="8"/>
                  <a:pt x="700" y="4"/>
                  <a:pt x="703" y="1"/>
                </a:cubicBezTo>
                <a:cubicBezTo>
                  <a:pt x="703" y="1"/>
                  <a:pt x="707" y="0"/>
                  <a:pt x="715" y="0"/>
                </a:cubicBezTo>
                <a:lnTo>
                  <a:pt x="715" y="7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4575240" y="4933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508920" y="4635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621240" y="47152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861360" y="4933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3925080" y="4635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4213440" y="47152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453560" y="4933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4453560" y="4635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3746160" y="47944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3746160" y="4613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4338360" y="47944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4338360" y="4613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5116680" y="51757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4609800" y="5047920"/>
            <a:ext cx="286200" cy="96840"/>
          </a:xfrm>
          <a:custGeom>
            <a:avLst/>
            <a:gdLst/>
            <a:ahLst/>
            <a:rect l="0" t="0" r="r" b="b"/>
            <a:pathLst>
              <a:path w="795" h="269">
                <a:moveTo>
                  <a:pt x="0" y="5"/>
                </a:moveTo>
                <a:lnTo>
                  <a:pt x="5" y="0"/>
                </a:lnTo>
                <a:lnTo>
                  <a:pt x="19" y="0"/>
                </a:lnTo>
                <a:cubicBezTo>
                  <a:pt x="29" y="0"/>
                  <a:pt x="34" y="1"/>
                  <a:pt x="35" y="1"/>
                </a:cubicBezTo>
                <a:cubicBezTo>
                  <a:pt x="38" y="4"/>
                  <a:pt x="41" y="8"/>
                  <a:pt x="43" y="12"/>
                </a:cubicBezTo>
                <a:cubicBezTo>
                  <a:pt x="71" y="53"/>
                  <a:pt x="107" y="87"/>
                  <a:pt x="152" y="114"/>
                </a:cubicBezTo>
                <a:cubicBezTo>
                  <a:pt x="196" y="141"/>
                  <a:pt x="246" y="158"/>
                  <a:pt x="300" y="167"/>
                </a:cubicBezTo>
                <a:cubicBezTo>
                  <a:pt x="301" y="167"/>
                  <a:pt x="302" y="167"/>
                  <a:pt x="304" y="168"/>
                </a:cubicBezTo>
                <a:cubicBezTo>
                  <a:pt x="319" y="170"/>
                  <a:pt x="364" y="171"/>
                  <a:pt x="441" y="172"/>
                </a:cubicBezTo>
                <a:lnTo>
                  <a:pt x="795" y="172"/>
                </a:lnTo>
                <a:lnTo>
                  <a:pt x="795" y="269"/>
                </a:lnTo>
                <a:lnTo>
                  <a:pt x="344" y="269"/>
                </a:lnTo>
                <a:lnTo>
                  <a:pt x="340" y="268"/>
                </a:lnTo>
                <a:cubicBezTo>
                  <a:pt x="239" y="260"/>
                  <a:pt x="151" y="217"/>
                  <a:pt x="74" y="138"/>
                </a:cubicBezTo>
                <a:cubicBezTo>
                  <a:pt x="49" y="111"/>
                  <a:pt x="26" y="80"/>
                  <a:pt x="6" y="44"/>
                </a:cubicBezTo>
                <a:lnTo>
                  <a:pt x="0" y="33"/>
                </a:lnTo>
                <a:lnTo>
                  <a:pt x="0" y="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4886280" y="5109840"/>
            <a:ext cx="562320" cy="91080"/>
          </a:xfrm>
          <a:custGeom>
            <a:avLst/>
            <a:gdLst/>
            <a:ahLst/>
            <a:rect l="0" t="0" r="r" b="b"/>
            <a:pathLst>
              <a:path w="1562" h="253">
                <a:moveTo>
                  <a:pt x="426" y="0"/>
                </a:moveTo>
                <a:cubicBezTo>
                  <a:pt x="506" y="6"/>
                  <a:pt x="582" y="35"/>
                  <a:pt x="650" y="87"/>
                </a:cubicBezTo>
                <a:cubicBezTo>
                  <a:pt x="694" y="120"/>
                  <a:pt x="731" y="161"/>
                  <a:pt x="761" y="209"/>
                </a:cubicBezTo>
                <a:lnTo>
                  <a:pt x="768" y="220"/>
                </a:lnTo>
                <a:cubicBezTo>
                  <a:pt x="770" y="217"/>
                  <a:pt x="773" y="213"/>
                  <a:pt x="775" y="209"/>
                </a:cubicBezTo>
                <a:cubicBezTo>
                  <a:pt x="818" y="140"/>
                  <a:pt x="874" y="87"/>
                  <a:pt x="944" y="50"/>
                </a:cubicBezTo>
                <a:cubicBezTo>
                  <a:pt x="997" y="20"/>
                  <a:pt x="1054" y="4"/>
                  <a:pt x="1114" y="0"/>
                </a:cubicBezTo>
                <a:lnTo>
                  <a:pt x="1562" y="0"/>
                </a:lnTo>
                <a:lnTo>
                  <a:pt x="1562" y="97"/>
                </a:lnTo>
                <a:lnTo>
                  <a:pt x="1114" y="97"/>
                </a:lnTo>
                <a:cubicBezTo>
                  <a:pt x="973" y="106"/>
                  <a:pt x="868" y="157"/>
                  <a:pt x="795" y="253"/>
                </a:cubicBezTo>
                <a:lnTo>
                  <a:pt x="741" y="253"/>
                </a:lnTo>
                <a:cubicBezTo>
                  <a:pt x="706" y="207"/>
                  <a:pt x="662" y="171"/>
                  <a:pt x="609" y="144"/>
                </a:cubicBezTo>
                <a:cubicBezTo>
                  <a:pt x="554" y="117"/>
                  <a:pt x="493" y="101"/>
                  <a:pt x="426" y="97"/>
                </a:cubicBezTo>
                <a:lnTo>
                  <a:pt x="0" y="97"/>
                </a:lnTo>
                <a:lnTo>
                  <a:pt x="0" y="0"/>
                </a:lnTo>
                <a:lnTo>
                  <a:pt x="426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5438520" y="5047920"/>
            <a:ext cx="278280" cy="96840"/>
          </a:xfrm>
          <a:custGeom>
            <a:avLst/>
            <a:gdLst/>
            <a:ahLst/>
            <a:rect l="0" t="0" r="r" b="b"/>
            <a:pathLst>
              <a:path w="773" h="269">
                <a:moveTo>
                  <a:pt x="768" y="0"/>
                </a:moveTo>
                <a:lnTo>
                  <a:pt x="773" y="5"/>
                </a:lnTo>
                <a:lnTo>
                  <a:pt x="773" y="33"/>
                </a:lnTo>
                <a:lnTo>
                  <a:pt x="768" y="42"/>
                </a:lnTo>
                <a:cubicBezTo>
                  <a:pt x="723" y="125"/>
                  <a:pt x="659" y="187"/>
                  <a:pt x="576" y="228"/>
                </a:cubicBezTo>
                <a:cubicBezTo>
                  <a:pt x="531" y="250"/>
                  <a:pt x="483" y="265"/>
                  <a:pt x="433" y="269"/>
                </a:cubicBezTo>
                <a:lnTo>
                  <a:pt x="0" y="269"/>
                </a:lnTo>
                <a:lnTo>
                  <a:pt x="0" y="172"/>
                </a:lnTo>
                <a:lnTo>
                  <a:pt x="449" y="172"/>
                </a:lnTo>
                <a:cubicBezTo>
                  <a:pt x="484" y="166"/>
                  <a:pt x="514" y="160"/>
                  <a:pt x="540" y="151"/>
                </a:cubicBezTo>
                <a:cubicBezTo>
                  <a:pt x="620" y="124"/>
                  <a:pt x="683" y="78"/>
                  <a:pt x="730" y="12"/>
                </a:cubicBezTo>
                <a:cubicBezTo>
                  <a:pt x="732" y="8"/>
                  <a:pt x="735" y="4"/>
                  <a:pt x="738" y="1"/>
                </a:cubicBezTo>
                <a:cubicBezTo>
                  <a:pt x="739" y="0"/>
                  <a:pt x="744" y="0"/>
                  <a:pt x="754" y="0"/>
                </a:cubicBezTo>
                <a:lnTo>
                  <a:pt x="768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5730120" y="4933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4613760" y="4635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4725720" y="47152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4991040" y="4933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5055120" y="4635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5343120" y="47152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5608440" y="4933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5608440" y="4635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4875840" y="47944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4875840" y="4613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5493240" y="47944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5493240" y="4613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6104520" y="47152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421680" y="4635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6242760" y="4613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6710040" y="47152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7024320" y="4635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6845040" y="4613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7312680" y="47152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7596000" y="4635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7416720" y="4613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7884000" y="47152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u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8244360" y="4635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8049240" y="4613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8548560" y="46353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790280" y="20541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870200" y="21340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v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020320" y="2054160"/>
            <a:ext cx="353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2516760" y="21340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2756880" y="23425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2756880" y="20541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2836800" y="21340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3104640" y="23425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3104640" y="2054160"/>
            <a:ext cx="353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2641680" y="21848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989440" y="21848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3569040" y="21340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3809160" y="23425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3809160" y="20541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3889440" y="21340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4157280" y="23425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4157280" y="20541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3693960" y="21848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4042080" y="21848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5359320" y="20541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5439240" y="21340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w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5653440" y="2054160"/>
            <a:ext cx="353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149880" y="21340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6414840" y="23425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6414840" y="20541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495120" y="21340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6734160" y="23425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6734160" y="2054160"/>
            <a:ext cx="353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299640" y="21848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6618960" y="21848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7198560" y="21340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7463520" y="23425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7463520" y="20541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7543800" y="21340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7782840" y="23425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7782840" y="20541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7348320" y="21848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7667640" y="21848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747720" y="1036080"/>
            <a:ext cx="34826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The entanglement test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747720" y="1698120"/>
            <a:ext cx="57135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If the state really came from a tensor product, then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2544840" y="2229120"/>
            <a:ext cx="3240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ru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2927520" y="21495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323172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347184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347184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373680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3800880" y="21495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⋅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335664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362160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394488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418500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418500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444996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4529880" y="21495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406980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433476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483408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507420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507420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531432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531432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557928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557928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584460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642060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st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6739920" y="21495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495900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519912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546408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572940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704412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728424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728424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754920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7613280" y="21495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⋅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716904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743400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775728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799740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799740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826236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8342280" y="21495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788220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814716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864648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888660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888660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912672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912672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939168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9391680" y="2229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9657000" y="2447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877140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901152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927648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954180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747720" y="2736360"/>
            <a:ext cx="26553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They must be equal. So: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7585560" y="37807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5657040" y="37807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7489800" y="37807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4711680" y="3343680"/>
            <a:ext cx="3240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ru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5094360" y="3263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5398920" y="33436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st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4711680" y="3772440"/>
            <a:ext cx="3240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ru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5094360" y="36925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5398920" y="3772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st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5094360" y="36925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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5717880" y="3263760"/>
            <a:ext cx="17287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⇒</a:t>
            </a:r>
            <a:r>
              <a:rPr lang="en-US" sz="2270" b="1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separable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4633560" y="3233520"/>
            <a:ext cx="2934360" cy="962280"/>
          </a:xfrm>
          <a:custGeom>
            <a:avLst/>
            <a:gdLst/>
            <a:ahLst/>
            <a:rect l="0" t="0" r="r" b="b"/>
            <a:pathLst>
              <a:path w="8151" h="2673">
                <a:moveTo>
                  <a:pt x="0" y="0"/>
                </a:moveTo>
                <a:lnTo>
                  <a:pt x="8151" y="0"/>
                </a:lnTo>
                <a:lnTo>
                  <a:pt x="8151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5717880" y="3692520"/>
            <a:ext cx="17823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⇒</a:t>
            </a:r>
            <a:r>
              <a:rPr lang="en-US" sz="2270" b="1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entangled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747720" y="4374720"/>
            <a:ext cx="8619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Separable means each qubit has a state of its own. Entangled means only the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747720" y="4736520"/>
            <a:ext cx="68241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pair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has a state. Two worked examples follow — one of each.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747720" y="5363280"/>
            <a:ext cx="121284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Equivalently: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2693880" y="5363280"/>
            <a:ext cx="20289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is the determinant of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5457960" y="5363280"/>
            <a:ext cx="313020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so separable = determinant zero.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960920" y="5384880"/>
            <a:ext cx="2656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ru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2261520" y="5319720"/>
            <a:ext cx="2358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−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2497680" y="538488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st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4971600" y="55620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5342760" y="55620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4724280" y="5319720"/>
            <a:ext cx="2358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[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4848840" y="524232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4862520" y="552780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5209920" y="524232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5198040" y="552780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u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5333040" y="5319720"/>
            <a:ext cx="2358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]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747720" y="731520"/>
            <a:ext cx="419760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Example A — not entangled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747720" y="1448280"/>
            <a:ext cx="5853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Alice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2481120" y="1448280"/>
            <a:ext cx="632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Bob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4094280" y="1448280"/>
            <a:ext cx="16099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Tensor them: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3751920" y="2115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3969720" y="2035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4687560" y="23328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5000760" y="2115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5215680" y="2035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4308480" y="22640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4687560" y="24663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4424400" y="230184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50"/>
                </a:moveTo>
                <a:cubicBezTo>
                  <a:pt x="11" y="350"/>
                  <a:pt x="9" y="348"/>
                  <a:pt x="5" y="345"/>
                </a:cubicBezTo>
                <a:cubicBezTo>
                  <a:pt x="2" y="342"/>
                  <a:pt x="0" y="340"/>
                  <a:pt x="0" y="337"/>
                </a:cubicBezTo>
                <a:cubicBezTo>
                  <a:pt x="0" y="336"/>
                  <a:pt x="0" y="335"/>
                  <a:pt x="1" y="335"/>
                </a:cubicBezTo>
                <a:cubicBezTo>
                  <a:pt x="1" y="334"/>
                  <a:pt x="14" y="323"/>
                  <a:pt x="38" y="305"/>
                </a:cubicBezTo>
                <a:cubicBezTo>
                  <a:pt x="63" y="286"/>
                  <a:pt x="75" y="277"/>
                  <a:pt x="76" y="276"/>
                </a:cubicBezTo>
                <a:cubicBezTo>
                  <a:pt x="76" y="276"/>
                  <a:pt x="77" y="275"/>
                  <a:pt x="78" y="275"/>
                </a:cubicBezTo>
                <a:cubicBezTo>
                  <a:pt x="81" y="275"/>
                  <a:pt x="83" y="277"/>
                  <a:pt x="85" y="281"/>
                </a:cubicBezTo>
                <a:cubicBezTo>
                  <a:pt x="87" y="285"/>
                  <a:pt x="182" y="492"/>
                  <a:pt x="182" y="492"/>
                </a:cubicBezTo>
                <a:cubicBezTo>
                  <a:pt x="182" y="492"/>
                  <a:pt x="202" y="453"/>
                  <a:pt x="240" y="373"/>
                </a:cubicBezTo>
                <a:cubicBezTo>
                  <a:pt x="279" y="294"/>
                  <a:pt x="317" y="214"/>
                  <a:pt x="356" y="133"/>
                </a:cubicBezTo>
                <a:cubicBezTo>
                  <a:pt x="395" y="52"/>
                  <a:pt x="414" y="10"/>
                  <a:pt x="416" y="8"/>
                </a:cubicBezTo>
                <a:cubicBezTo>
                  <a:pt x="419" y="3"/>
                  <a:pt x="422" y="0"/>
                  <a:pt x="427" y="0"/>
                </a:cubicBezTo>
                <a:lnTo>
                  <a:pt x="702" y="0"/>
                </a:lnTo>
                <a:lnTo>
                  <a:pt x="702" y="23"/>
                </a:lnTo>
                <a:lnTo>
                  <a:pt x="433" y="23"/>
                </a:lnTo>
                <a:lnTo>
                  <a:pt x="307" y="285"/>
                </a:lnTo>
                <a:lnTo>
                  <a:pt x="175" y="557"/>
                </a:lnTo>
                <a:cubicBezTo>
                  <a:pt x="174" y="560"/>
                  <a:pt x="170" y="561"/>
                  <a:pt x="165" y="561"/>
                </a:cubicBezTo>
                <a:cubicBezTo>
                  <a:pt x="161" y="561"/>
                  <a:pt x="159" y="561"/>
                  <a:pt x="158" y="560"/>
                </a:cubicBezTo>
                <a:cubicBezTo>
                  <a:pt x="157" y="559"/>
                  <a:pt x="49" y="323"/>
                  <a:pt x="49" y="323"/>
                </a:cubicBezTo>
                <a:lnTo>
                  <a:pt x="13" y="35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4305240" y="226692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4577040" y="2260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4442760" y="20228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5933880" y="23328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6247080" y="211896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6431040" y="20390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5554440" y="22640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5933880" y="24663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5672160" y="230184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50"/>
                </a:moveTo>
                <a:cubicBezTo>
                  <a:pt x="11" y="350"/>
                  <a:pt x="9" y="348"/>
                  <a:pt x="5" y="345"/>
                </a:cubicBezTo>
                <a:cubicBezTo>
                  <a:pt x="2" y="342"/>
                  <a:pt x="0" y="340"/>
                  <a:pt x="0" y="337"/>
                </a:cubicBezTo>
                <a:cubicBezTo>
                  <a:pt x="0" y="336"/>
                  <a:pt x="0" y="335"/>
                  <a:pt x="1" y="335"/>
                </a:cubicBezTo>
                <a:cubicBezTo>
                  <a:pt x="1" y="334"/>
                  <a:pt x="14" y="323"/>
                  <a:pt x="38" y="305"/>
                </a:cubicBezTo>
                <a:cubicBezTo>
                  <a:pt x="63" y="286"/>
                  <a:pt x="75" y="277"/>
                  <a:pt x="76" y="276"/>
                </a:cubicBezTo>
                <a:cubicBezTo>
                  <a:pt x="76" y="276"/>
                  <a:pt x="77" y="275"/>
                  <a:pt x="78" y="275"/>
                </a:cubicBezTo>
                <a:cubicBezTo>
                  <a:pt x="81" y="275"/>
                  <a:pt x="83" y="277"/>
                  <a:pt x="85" y="281"/>
                </a:cubicBezTo>
                <a:cubicBezTo>
                  <a:pt x="87" y="285"/>
                  <a:pt x="182" y="492"/>
                  <a:pt x="182" y="492"/>
                </a:cubicBezTo>
                <a:cubicBezTo>
                  <a:pt x="182" y="492"/>
                  <a:pt x="202" y="453"/>
                  <a:pt x="240" y="373"/>
                </a:cubicBezTo>
                <a:cubicBezTo>
                  <a:pt x="279" y="294"/>
                  <a:pt x="317" y="214"/>
                  <a:pt x="356" y="133"/>
                </a:cubicBezTo>
                <a:cubicBezTo>
                  <a:pt x="395" y="52"/>
                  <a:pt x="414" y="10"/>
                  <a:pt x="416" y="8"/>
                </a:cubicBezTo>
                <a:cubicBezTo>
                  <a:pt x="419" y="3"/>
                  <a:pt x="422" y="0"/>
                  <a:pt x="427" y="0"/>
                </a:cubicBezTo>
                <a:lnTo>
                  <a:pt x="702" y="0"/>
                </a:lnTo>
                <a:lnTo>
                  <a:pt x="702" y="23"/>
                </a:lnTo>
                <a:lnTo>
                  <a:pt x="433" y="23"/>
                </a:lnTo>
                <a:lnTo>
                  <a:pt x="307" y="285"/>
                </a:lnTo>
                <a:lnTo>
                  <a:pt x="175" y="557"/>
                </a:lnTo>
                <a:cubicBezTo>
                  <a:pt x="174" y="560"/>
                  <a:pt x="170" y="561"/>
                  <a:pt x="165" y="561"/>
                </a:cubicBezTo>
                <a:cubicBezTo>
                  <a:pt x="161" y="561"/>
                  <a:pt x="159" y="561"/>
                  <a:pt x="158" y="560"/>
                </a:cubicBezTo>
                <a:cubicBezTo>
                  <a:pt x="157" y="559"/>
                  <a:pt x="49" y="323"/>
                  <a:pt x="49" y="323"/>
                </a:cubicBezTo>
                <a:lnTo>
                  <a:pt x="13" y="35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5553000" y="226692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5823360" y="2260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5883480" y="22186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5614920" y="2054160"/>
            <a:ext cx="262080" cy="201960"/>
          </a:xfrm>
          <a:custGeom>
            <a:avLst/>
            <a:gdLst/>
            <a:ahLst/>
            <a:rect l="0" t="0" r="r" b="b"/>
            <a:pathLst>
              <a:path w="728" h="561">
                <a:moveTo>
                  <a:pt x="14" y="350"/>
                </a:moveTo>
                <a:cubicBezTo>
                  <a:pt x="13" y="350"/>
                  <a:pt x="9" y="348"/>
                  <a:pt x="6" y="345"/>
                </a:cubicBezTo>
                <a:cubicBezTo>
                  <a:pt x="2" y="342"/>
                  <a:pt x="0" y="340"/>
                  <a:pt x="0" y="337"/>
                </a:cubicBezTo>
                <a:cubicBezTo>
                  <a:pt x="0" y="336"/>
                  <a:pt x="0" y="336"/>
                  <a:pt x="1" y="335"/>
                </a:cubicBezTo>
                <a:cubicBezTo>
                  <a:pt x="2" y="334"/>
                  <a:pt x="15" y="324"/>
                  <a:pt x="40" y="305"/>
                </a:cubicBezTo>
                <a:cubicBezTo>
                  <a:pt x="64" y="286"/>
                  <a:pt x="77" y="277"/>
                  <a:pt x="77" y="276"/>
                </a:cubicBezTo>
                <a:cubicBezTo>
                  <a:pt x="78" y="276"/>
                  <a:pt x="79" y="275"/>
                  <a:pt x="80" y="275"/>
                </a:cubicBezTo>
                <a:cubicBezTo>
                  <a:pt x="82" y="275"/>
                  <a:pt x="85" y="277"/>
                  <a:pt x="86" y="281"/>
                </a:cubicBezTo>
                <a:cubicBezTo>
                  <a:pt x="88" y="285"/>
                  <a:pt x="183" y="493"/>
                  <a:pt x="183" y="493"/>
                </a:cubicBezTo>
                <a:cubicBezTo>
                  <a:pt x="184" y="493"/>
                  <a:pt x="203" y="453"/>
                  <a:pt x="242" y="373"/>
                </a:cubicBezTo>
                <a:cubicBezTo>
                  <a:pt x="280" y="294"/>
                  <a:pt x="319" y="214"/>
                  <a:pt x="357" y="132"/>
                </a:cubicBezTo>
                <a:cubicBezTo>
                  <a:pt x="396" y="51"/>
                  <a:pt x="416" y="10"/>
                  <a:pt x="417" y="8"/>
                </a:cubicBezTo>
                <a:cubicBezTo>
                  <a:pt x="420" y="3"/>
                  <a:pt x="424" y="0"/>
                  <a:pt x="428" y="0"/>
                </a:cubicBezTo>
                <a:lnTo>
                  <a:pt x="728" y="0"/>
                </a:lnTo>
                <a:lnTo>
                  <a:pt x="728" y="23"/>
                </a:lnTo>
                <a:lnTo>
                  <a:pt x="434" y="23"/>
                </a:lnTo>
                <a:lnTo>
                  <a:pt x="308" y="285"/>
                </a:lnTo>
                <a:lnTo>
                  <a:pt x="177" y="557"/>
                </a:lnTo>
                <a:cubicBezTo>
                  <a:pt x="175" y="560"/>
                  <a:pt x="172" y="561"/>
                  <a:pt x="166" y="561"/>
                </a:cubicBezTo>
                <a:cubicBezTo>
                  <a:pt x="163" y="561"/>
                  <a:pt x="160" y="561"/>
                  <a:pt x="159" y="560"/>
                </a:cubicBezTo>
                <a:cubicBezTo>
                  <a:pt x="158" y="559"/>
                  <a:pt x="51" y="323"/>
                  <a:pt x="51" y="323"/>
                </a:cubicBezTo>
                <a:lnTo>
                  <a:pt x="14" y="35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5772960" y="20131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3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7148880" y="23328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7462080" y="2115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u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7706880" y="2035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6769440" y="22640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7148880" y="24663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6881760" y="2301840"/>
            <a:ext cx="262080" cy="201960"/>
          </a:xfrm>
          <a:custGeom>
            <a:avLst/>
            <a:gdLst/>
            <a:ahLst/>
            <a:rect l="0" t="0" r="r" b="b"/>
            <a:pathLst>
              <a:path w="728" h="561">
                <a:moveTo>
                  <a:pt x="13" y="350"/>
                </a:moveTo>
                <a:cubicBezTo>
                  <a:pt x="12" y="350"/>
                  <a:pt x="9" y="348"/>
                  <a:pt x="6" y="345"/>
                </a:cubicBezTo>
                <a:cubicBezTo>
                  <a:pt x="2" y="342"/>
                  <a:pt x="0" y="340"/>
                  <a:pt x="0" y="337"/>
                </a:cubicBezTo>
                <a:cubicBezTo>
                  <a:pt x="0" y="336"/>
                  <a:pt x="0" y="335"/>
                  <a:pt x="1" y="335"/>
                </a:cubicBezTo>
                <a:cubicBezTo>
                  <a:pt x="2" y="334"/>
                  <a:pt x="14" y="323"/>
                  <a:pt x="39" y="305"/>
                </a:cubicBezTo>
                <a:cubicBezTo>
                  <a:pt x="63" y="286"/>
                  <a:pt x="75" y="277"/>
                  <a:pt x="76" y="276"/>
                </a:cubicBezTo>
                <a:cubicBezTo>
                  <a:pt x="77" y="276"/>
                  <a:pt x="78" y="275"/>
                  <a:pt x="79" y="275"/>
                </a:cubicBezTo>
                <a:cubicBezTo>
                  <a:pt x="81" y="275"/>
                  <a:pt x="84" y="277"/>
                  <a:pt x="85" y="281"/>
                </a:cubicBezTo>
                <a:cubicBezTo>
                  <a:pt x="87" y="285"/>
                  <a:pt x="183" y="492"/>
                  <a:pt x="183" y="492"/>
                </a:cubicBezTo>
                <a:cubicBezTo>
                  <a:pt x="184" y="492"/>
                  <a:pt x="203" y="453"/>
                  <a:pt x="242" y="373"/>
                </a:cubicBezTo>
                <a:cubicBezTo>
                  <a:pt x="280" y="294"/>
                  <a:pt x="319" y="214"/>
                  <a:pt x="357" y="133"/>
                </a:cubicBezTo>
                <a:cubicBezTo>
                  <a:pt x="396" y="52"/>
                  <a:pt x="416" y="10"/>
                  <a:pt x="417" y="8"/>
                </a:cubicBezTo>
                <a:cubicBezTo>
                  <a:pt x="420" y="3"/>
                  <a:pt x="424" y="0"/>
                  <a:pt x="428" y="0"/>
                </a:cubicBezTo>
                <a:lnTo>
                  <a:pt x="728" y="0"/>
                </a:lnTo>
                <a:lnTo>
                  <a:pt x="728" y="23"/>
                </a:lnTo>
                <a:lnTo>
                  <a:pt x="434" y="23"/>
                </a:lnTo>
                <a:lnTo>
                  <a:pt x="308" y="285"/>
                </a:lnTo>
                <a:lnTo>
                  <a:pt x="177" y="557"/>
                </a:lnTo>
                <a:cubicBezTo>
                  <a:pt x="175" y="560"/>
                  <a:pt x="172" y="561"/>
                  <a:pt x="166" y="561"/>
                </a:cubicBezTo>
                <a:cubicBezTo>
                  <a:pt x="163" y="561"/>
                  <a:pt x="160" y="561"/>
                  <a:pt x="159" y="560"/>
                </a:cubicBezTo>
                <a:cubicBezTo>
                  <a:pt x="158" y="559"/>
                  <a:pt x="50" y="323"/>
                  <a:pt x="50" y="323"/>
                </a:cubicBezTo>
                <a:lnTo>
                  <a:pt x="13" y="35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6771960" y="226692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7038360" y="2260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6904080" y="20228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8424720" y="23328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8045640" y="22640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8424720" y="24663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8158320" y="2301840"/>
            <a:ext cx="252360" cy="201960"/>
          </a:xfrm>
          <a:custGeom>
            <a:avLst/>
            <a:gdLst/>
            <a:ahLst/>
            <a:rect l="0" t="0" r="r" b="b"/>
            <a:pathLst>
              <a:path w="701" h="561">
                <a:moveTo>
                  <a:pt x="13" y="350"/>
                </a:moveTo>
                <a:cubicBezTo>
                  <a:pt x="11" y="350"/>
                  <a:pt x="9" y="348"/>
                  <a:pt x="5" y="345"/>
                </a:cubicBezTo>
                <a:cubicBezTo>
                  <a:pt x="2" y="342"/>
                  <a:pt x="0" y="340"/>
                  <a:pt x="0" y="337"/>
                </a:cubicBezTo>
                <a:cubicBezTo>
                  <a:pt x="0" y="336"/>
                  <a:pt x="0" y="335"/>
                  <a:pt x="0" y="335"/>
                </a:cubicBezTo>
                <a:cubicBezTo>
                  <a:pt x="1" y="334"/>
                  <a:pt x="14" y="323"/>
                  <a:pt x="38" y="305"/>
                </a:cubicBezTo>
                <a:cubicBezTo>
                  <a:pt x="63" y="286"/>
                  <a:pt x="75" y="277"/>
                  <a:pt x="75" y="276"/>
                </a:cubicBezTo>
                <a:cubicBezTo>
                  <a:pt x="76" y="276"/>
                  <a:pt x="77" y="275"/>
                  <a:pt x="78" y="275"/>
                </a:cubicBezTo>
                <a:cubicBezTo>
                  <a:pt x="81" y="275"/>
                  <a:pt x="83" y="277"/>
                  <a:pt x="85" y="281"/>
                </a:cubicBezTo>
                <a:cubicBezTo>
                  <a:pt x="87" y="285"/>
                  <a:pt x="183" y="492"/>
                  <a:pt x="183" y="492"/>
                </a:cubicBezTo>
                <a:cubicBezTo>
                  <a:pt x="183" y="492"/>
                  <a:pt x="202" y="453"/>
                  <a:pt x="241" y="373"/>
                </a:cubicBezTo>
                <a:cubicBezTo>
                  <a:pt x="279" y="294"/>
                  <a:pt x="318" y="214"/>
                  <a:pt x="357" y="133"/>
                </a:cubicBezTo>
                <a:cubicBezTo>
                  <a:pt x="395" y="52"/>
                  <a:pt x="415" y="10"/>
                  <a:pt x="416" y="8"/>
                </a:cubicBezTo>
                <a:cubicBezTo>
                  <a:pt x="419" y="3"/>
                  <a:pt x="423" y="0"/>
                  <a:pt x="427" y="0"/>
                </a:cubicBezTo>
                <a:lnTo>
                  <a:pt x="701" y="0"/>
                </a:lnTo>
                <a:lnTo>
                  <a:pt x="701" y="23"/>
                </a:lnTo>
                <a:lnTo>
                  <a:pt x="434" y="23"/>
                </a:lnTo>
                <a:lnTo>
                  <a:pt x="308" y="285"/>
                </a:lnTo>
                <a:lnTo>
                  <a:pt x="176" y="557"/>
                </a:lnTo>
                <a:cubicBezTo>
                  <a:pt x="174" y="560"/>
                  <a:pt x="171" y="561"/>
                  <a:pt x="165" y="561"/>
                </a:cubicBezTo>
                <a:cubicBezTo>
                  <a:pt x="162" y="561"/>
                  <a:pt x="160" y="561"/>
                  <a:pt x="159" y="560"/>
                </a:cubicBezTo>
                <a:cubicBezTo>
                  <a:pt x="158" y="559"/>
                  <a:pt x="49" y="323"/>
                  <a:pt x="49" y="323"/>
                </a:cubicBezTo>
                <a:lnTo>
                  <a:pt x="13" y="35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8048520" y="2266920"/>
            <a:ext cx="362160" cy="9720"/>
          </a:xfrm>
          <a:custGeom>
            <a:avLst/>
            <a:gdLst/>
            <a:ahLst/>
            <a:rect l="0" t="0" r="r" b="b"/>
            <a:pathLst>
              <a:path w="1006" h="27">
                <a:moveTo>
                  <a:pt x="0" y="0"/>
                </a:moveTo>
                <a:lnTo>
                  <a:pt x="1006" y="0"/>
                </a:lnTo>
                <a:lnTo>
                  <a:pt x="10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8314200" y="2260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8374320" y="22186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8110440" y="205416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50"/>
                </a:moveTo>
                <a:cubicBezTo>
                  <a:pt x="12" y="350"/>
                  <a:pt x="9" y="348"/>
                  <a:pt x="6" y="345"/>
                </a:cubicBezTo>
                <a:cubicBezTo>
                  <a:pt x="2" y="342"/>
                  <a:pt x="0" y="340"/>
                  <a:pt x="0" y="337"/>
                </a:cubicBezTo>
                <a:cubicBezTo>
                  <a:pt x="0" y="336"/>
                  <a:pt x="1" y="336"/>
                  <a:pt x="1" y="335"/>
                </a:cubicBezTo>
                <a:cubicBezTo>
                  <a:pt x="2" y="334"/>
                  <a:pt x="14" y="324"/>
                  <a:pt x="39" y="305"/>
                </a:cubicBezTo>
                <a:cubicBezTo>
                  <a:pt x="64" y="286"/>
                  <a:pt x="76" y="277"/>
                  <a:pt x="76" y="276"/>
                </a:cubicBezTo>
                <a:cubicBezTo>
                  <a:pt x="77" y="276"/>
                  <a:pt x="78" y="275"/>
                  <a:pt x="79" y="275"/>
                </a:cubicBezTo>
                <a:cubicBezTo>
                  <a:pt x="81" y="275"/>
                  <a:pt x="84" y="277"/>
                  <a:pt x="86" y="281"/>
                </a:cubicBezTo>
                <a:cubicBezTo>
                  <a:pt x="87" y="285"/>
                  <a:pt x="182" y="493"/>
                  <a:pt x="182" y="493"/>
                </a:cubicBezTo>
                <a:cubicBezTo>
                  <a:pt x="183" y="493"/>
                  <a:pt x="202" y="453"/>
                  <a:pt x="242" y="373"/>
                </a:cubicBezTo>
                <a:cubicBezTo>
                  <a:pt x="280" y="294"/>
                  <a:pt x="319" y="214"/>
                  <a:pt x="357" y="132"/>
                </a:cubicBezTo>
                <a:cubicBezTo>
                  <a:pt x="396" y="51"/>
                  <a:pt x="416" y="10"/>
                  <a:pt x="417" y="8"/>
                </a:cubicBezTo>
                <a:cubicBezTo>
                  <a:pt x="420" y="3"/>
                  <a:pt x="424" y="0"/>
                  <a:pt x="428" y="0"/>
                </a:cubicBezTo>
                <a:lnTo>
                  <a:pt x="702" y="0"/>
                </a:lnTo>
                <a:lnTo>
                  <a:pt x="702" y="23"/>
                </a:lnTo>
                <a:lnTo>
                  <a:pt x="434" y="23"/>
                </a:lnTo>
                <a:lnTo>
                  <a:pt x="308" y="285"/>
                </a:lnTo>
                <a:lnTo>
                  <a:pt x="176" y="557"/>
                </a:lnTo>
                <a:cubicBezTo>
                  <a:pt x="174" y="560"/>
                  <a:pt x="171" y="561"/>
                  <a:pt x="165" y="561"/>
                </a:cubicBezTo>
                <a:cubicBezTo>
                  <a:pt x="162" y="561"/>
                  <a:pt x="159" y="561"/>
                  <a:pt x="158" y="560"/>
                </a:cubicBezTo>
                <a:cubicBezTo>
                  <a:pt x="157" y="559"/>
                  <a:pt x="50" y="323"/>
                  <a:pt x="50" y="323"/>
                </a:cubicBezTo>
                <a:lnTo>
                  <a:pt x="13" y="35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8263800" y="20131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3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747720" y="2702160"/>
            <a:ext cx="6310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Test: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2387520" y="2702160"/>
            <a:ext cx="550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and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3899520" y="2702160"/>
            <a:ext cx="8082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Equal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4708440" y="2741040"/>
            <a:ext cx="238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4946400" y="2702160"/>
            <a:ext cx="12268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separable.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747720" y="3222000"/>
            <a:ext cx="25362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Group by Alice's kets: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2980080" y="37476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3060360" y="38293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3327840" y="40474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3327840" y="37476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4073760" y="40474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4098960" y="3749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4179240" y="38293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4417920" y="40474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4417920" y="3749760"/>
            <a:ext cx="353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5296320" y="40474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5321160" y="3749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5401440" y="38293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5640120" y="40474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5640120" y="3749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5988600" y="37476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3212640" y="38800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3488040" y="3749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3694680" y="39690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4073760" y="4171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3805200" y="4006800"/>
            <a:ext cx="262080" cy="201960"/>
          </a:xfrm>
          <a:custGeom>
            <a:avLst/>
            <a:gdLst/>
            <a:ahLst/>
            <a:rect l="0" t="0" r="r" b="b"/>
            <a:pathLst>
              <a:path w="728" h="561">
                <a:moveTo>
                  <a:pt x="13" y="349"/>
                </a:moveTo>
                <a:cubicBezTo>
                  <a:pt x="12" y="349"/>
                  <a:pt x="9" y="347"/>
                  <a:pt x="6" y="344"/>
                </a:cubicBezTo>
                <a:cubicBezTo>
                  <a:pt x="2" y="341"/>
                  <a:pt x="0" y="339"/>
                  <a:pt x="0" y="336"/>
                </a:cubicBezTo>
                <a:cubicBezTo>
                  <a:pt x="0" y="335"/>
                  <a:pt x="0" y="335"/>
                  <a:pt x="1" y="334"/>
                </a:cubicBezTo>
                <a:cubicBezTo>
                  <a:pt x="2" y="333"/>
                  <a:pt x="14" y="323"/>
                  <a:pt x="39" y="304"/>
                </a:cubicBezTo>
                <a:cubicBezTo>
                  <a:pt x="63" y="285"/>
                  <a:pt x="75" y="276"/>
                  <a:pt x="76" y="275"/>
                </a:cubicBezTo>
                <a:cubicBezTo>
                  <a:pt x="77" y="275"/>
                  <a:pt x="78" y="274"/>
                  <a:pt x="79" y="274"/>
                </a:cubicBezTo>
                <a:cubicBezTo>
                  <a:pt x="81" y="274"/>
                  <a:pt x="84" y="276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3" y="492"/>
                  <a:pt x="202" y="453"/>
                  <a:pt x="240" y="373"/>
                </a:cubicBezTo>
                <a:cubicBezTo>
                  <a:pt x="279" y="293"/>
                  <a:pt x="317" y="213"/>
                  <a:pt x="356" y="132"/>
                </a:cubicBezTo>
                <a:cubicBezTo>
                  <a:pt x="395" y="51"/>
                  <a:pt x="415" y="10"/>
                  <a:pt x="416" y="8"/>
                </a:cubicBezTo>
                <a:cubicBezTo>
                  <a:pt x="419" y="3"/>
                  <a:pt x="422" y="0"/>
                  <a:pt x="427" y="0"/>
                </a:cubicBezTo>
                <a:lnTo>
                  <a:pt x="728" y="0"/>
                </a:lnTo>
                <a:lnTo>
                  <a:pt x="728" y="23"/>
                </a:lnTo>
                <a:lnTo>
                  <a:pt x="433" y="23"/>
                </a:lnTo>
                <a:lnTo>
                  <a:pt x="307" y="284"/>
                </a:lnTo>
                <a:lnTo>
                  <a:pt x="176" y="557"/>
                </a:lnTo>
                <a:cubicBezTo>
                  <a:pt x="174" y="560"/>
                  <a:pt x="170" y="561"/>
                  <a:pt x="165" y="561"/>
                </a:cubicBezTo>
                <a:cubicBezTo>
                  <a:pt x="162" y="561"/>
                  <a:pt x="159" y="561"/>
                  <a:pt x="158" y="560"/>
                </a:cubicBezTo>
                <a:cubicBezTo>
                  <a:pt x="157" y="559"/>
                  <a:pt x="50" y="322"/>
                  <a:pt x="50" y="322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3695400" y="398124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3963600" y="3965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3828960" y="3727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4302720" y="38800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4916880" y="39690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5296320" y="4171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5033880" y="400680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49"/>
                </a:moveTo>
                <a:cubicBezTo>
                  <a:pt x="12" y="349"/>
                  <a:pt x="9" y="347"/>
                  <a:pt x="6" y="344"/>
                </a:cubicBezTo>
                <a:cubicBezTo>
                  <a:pt x="2" y="341"/>
                  <a:pt x="0" y="339"/>
                  <a:pt x="0" y="336"/>
                </a:cubicBezTo>
                <a:cubicBezTo>
                  <a:pt x="0" y="335"/>
                  <a:pt x="1" y="335"/>
                  <a:pt x="1" y="334"/>
                </a:cubicBezTo>
                <a:cubicBezTo>
                  <a:pt x="2" y="333"/>
                  <a:pt x="14" y="323"/>
                  <a:pt x="39" y="304"/>
                </a:cubicBezTo>
                <a:cubicBezTo>
                  <a:pt x="63" y="285"/>
                  <a:pt x="76" y="276"/>
                  <a:pt x="76" y="275"/>
                </a:cubicBezTo>
                <a:cubicBezTo>
                  <a:pt x="77" y="275"/>
                  <a:pt x="78" y="274"/>
                  <a:pt x="79" y="274"/>
                </a:cubicBezTo>
                <a:cubicBezTo>
                  <a:pt x="81" y="274"/>
                  <a:pt x="84" y="276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3" y="492"/>
                  <a:pt x="202" y="453"/>
                  <a:pt x="241" y="373"/>
                </a:cubicBezTo>
                <a:cubicBezTo>
                  <a:pt x="279" y="293"/>
                  <a:pt x="318" y="213"/>
                  <a:pt x="356" y="132"/>
                </a:cubicBezTo>
                <a:cubicBezTo>
                  <a:pt x="396" y="51"/>
                  <a:pt x="416" y="10"/>
                  <a:pt x="417" y="8"/>
                </a:cubicBezTo>
                <a:cubicBezTo>
                  <a:pt x="420" y="3"/>
                  <a:pt x="424" y="0"/>
                  <a:pt x="428" y="0"/>
                </a:cubicBezTo>
                <a:lnTo>
                  <a:pt x="702" y="0"/>
                </a:lnTo>
                <a:lnTo>
                  <a:pt x="702" y="23"/>
                </a:lnTo>
                <a:lnTo>
                  <a:pt x="434" y="23"/>
                </a:lnTo>
                <a:lnTo>
                  <a:pt x="307" y="284"/>
                </a:lnTo>
                <a:lnTo>
                  <a:pt x="176" y="557"/>
                </a:lnTo>
                <a:cubicBezTo>
                  <a:pt x="174" y="560"/>
                  <a:pt x="171" y="561"/>
                  <a:pt x="165" y="561"/>
                </a:cubicBezTo>
                <a:cubicBezTo>
                  <a:pt x="162" y="561"/>
                  <a:pt x="159" y="561"/>
                  <a:pt x="158" y="560"/>
                </a:cubicBezTo>
                <a:cubicBezTo>
                  <a:pt x="157" y="559"/>
                  <a:pt x="50" y="322"/>
                  <a:pt x="50" y="322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4914720" y="398124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5185800" y="3965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5245920" y="39330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4986360" y="3768840"/>
            <a:ext cx="252720" cy="193680"/>
          </a:xfrm>
          <a:custGeom>
            <a:avLst/>
            <a:gdLst/>
            <a:ahLst/>
            <a:rect l="0" t="0" r="r" b="b"/>
            <a:pathLst>
              <a:path w="702" h="538">
                <a:moveTo>
                  <a:pt x="13" y="349"/>
                </a:moveTo>
                <a:cubicBezTo>
                  <a:pt x="11" y="349"/>
                  <a:pt x="9" y="348"/>
                  <a:pt x="5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1" y="335"/>
                </a:cubicBezTo>
                <a:cubicBezTo>
                  <a:pt x="1" y="333"/>
                  <a:pt x="14" y="323"/>
                  <a:pt x="38" y="304"/>
                </a:cubicBezTo>
                <a:cubicBezTo>
                  <a:pt x="63" y="286"/>
                  <a:pt x="75" y="276"/>
                  <a:pt x="76" y="276"/>
                </a:cubicBezTo>
                <a:cubicBezTo>
                  <a:pt x="76" y="275"/>
                  <a:pt x="77" y="275"/>
                  <a:pt x="78" y="275"/>
                </a:cubicBezTo>
                <a:cubicBezTo>
                  <a:pt x="81" y="275"/>
                  <a:pt x="83" y="277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2" y="492"/>
                  <a:pt x="202" y="452"/>
                  <a:pt x="240" y="373"/>
                </a:cubicBezTo>
                <a:cubicBezTo>
                  <a:pt x="279" y="293"/>
                  <a:pt x="317" y="213"/>
                  <a:pt x="356" y="132"/>
                </a:cubicBezTo>
                <a:cubicBezTo>
                  <a:pt x="395" y="52"/>
                  <a:pt x="414" y="11"/>
                  <a:pt x="416" y="9"/>
                </a:cubicBezTo>
                <a:cubicBezTo>
                  <a:pt x="419" y="4"/>
                  <a:pt x="422" y="0"/>
                  <a:pt x="427" y="0"/>
                </a:cubicBezTo>
                <a:lnTo>
                  <a:pt x="702" y="0"/>
                </a:lnTo>
                <a:lnTo>
                  <a:pt x="702" y="23"/>
                </a:lnTo>
                <a:lnTo>
                  <a:pt x="433" y="23"/>
                </a:lnTo>
                <a:lnTo>
                  <a:pt x="307" y="285"/>
                </a:lnTo>
                <a:lnTo>
                  <a:pt x="184" y="538"/>
                </a:lnTo>
                <a:lnTo>
                  <a:pt x="148" y="538"/>
                </a:lnTo>
                <a:cubicBezTo>
                  <a:pt x="121" y="480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5135400" y="3727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3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5524920" y="38800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5752440" y="3749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6276960" y="37476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6356880" y="38293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6624720" y="40474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6624720" y="37476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7370640" y="40474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7395840" y="3749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7475760" y="38293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7714800" y="40474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7714800" y="3749760"/>
            <a:ext cx="353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8593200" y="40474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8618040" y="3749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8698320" y="38293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8937000" y="40474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8937000" y="3749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6509520" y="38800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6784920" y="3749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6991560" y="39690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7370640" y="4171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7110360" y="400680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49"/>
                </a:moveTo>
                <a:cubicBezTo>
                  <a:pt x="12" y="349"/>
                  <a:pt x="9" y="347"/>
                  <a:pt x="6" y="344"/>
                </a:cubicBezTo>
                <a:cubicBezTo>
                  <a:pt x="2" y="341"/>
                  <a:pt x="0" y="339"/>
                  <a:pt x="0" y="336"/>
                </a:cubicBezTo>
                <a:cubicBezTo>
                  <a:pt x="0" y="335"/>
                  <a:pt x="0" y="335"/>
                  <a:pt x="1" y="334"/>
                </a:cubicBezTo>
                <a:cubicBezTo>
                  <a:pt x="2" y="333"/>
                  <a:pt x="14" y="323"/>
                  <a:pt x="39" y="304"/>
                </a:cubicBezTo>
                <a:cubicBezTo>
                  <a:pt x="63" y="285"/>
                  <a:pt x="75" y="276"/>
                  <a:pt x="76" y="275"/>
                </a:cubicBezTo>
                <a:cubicBezTo>
                  <a:pt x="77" y="275"/>
                  <a:pt x="78" y="274"/>
                  <a:pt x="79" y="274"/>
                </a:cubicBezTo>
                <a:cubicBezTo>
                  <a:pt x="81" y="274"/>
                  <a:pt x="84" y="276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3" y="492"/>
                  <a:pt x="203" y="453"/>
                  <a:pt x="242" y="373"/>
                </a:cubicBezTo>
                <a:cubicBezTo>
                  <a:pt x="280" y="293"/>
                  <a:pt x="319" y="213"/>
                  <a:pt x="357" y="132"/>
                </a:cubicBezTo>
                <a:cubicBezTo>
                  <a:pt x="396" y="51"/>
                  <a:pt x="416" y="10"/>
                  <a:pt x="417" y="8"/>
                </a:cubicBezTo>
                <a:cubicBezTo>
                  <a:pt x="420" y="3"/>
                  <a:pt x="424" y="0"/>
                  <a:pt x="428" y="0"/>
                </a:cubicBezTo>
                <a:lnTo>
                  <a:pt x="702" y="0"/>
                </a:lnTo>
                <a:lnTo>
                  <a:pt x="702" y="23"/>
                </a:lnTo>
                <a:lnTo>
                  <a:pt x="434" y="23"/>
                </a:lnTo>
                <a:lnTo>
                  <a:pt x="308" y="284"/>
                </a:lnTo>
                <a:lnTo>
                  <a:pt x="176" y="557"/>
                </a:lnTo>
                <a:cubicBezTo>
                  <a:pt x="174" y="560"/>
                  <a:pt x="171" y="561"/>
                  <a:pt x="165" y="561"/>
                </a:cubicBezTo>
                <a:cubicBezTo>
                  <a:pt x="162" y="561"/>
                  <a:pt x="159" y="561"/>
                  <a:pt x="158" y="560"/>
                </a:cubicBezTo>
                <a:cubicBezTo>
                  <a:pt x="157" y="559"/>
                  <a:pt x="50" y="322"/>
                  <a:pt x="50" y="322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6991200" y="398124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7260120" y="3965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7125840" y="3727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7599600" y="38800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8213760" y="39690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8593200" y="4171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8329680" y="4006800"/>
            <a:ext cx="252360" cy="201960"/>
          </a:xfrm>
          <a:custGeom>
            <a:avLst/>
            <a:gdLst/>
            <a:ahLst/>
            <a:rect l="0" t="0" r="r" b="b"/>
            <a:pathLst>
              <a:path w="701" h="561">
                <a:moveTo>
                  <a:pt x="13" y="349"/>
                </a:moveTo>
                <a:cubicBezTo>
                  <a:pt x="11" y="349"/>
                  <a:pt x="9" y="347"/>
                  <a:pt x="5" y="344"/>
                </a:cubicBezTo>
                <a:cubicBezTo>
                  <a:pt x="2" y="341"/>
                  <a:pt x="0" y="339"/>
                  <a:pt x="0" y="336"/>
                </a:cubicBezTo>
                <a:cubicBezTo>
                  <a:pt x="0" y="335"/>
                  <a:pt x="0" y="335"/>
                  <a:pt x="1" y="334"/>
                </a:cubicBezTo>
                <a:cubicBezTo>
                  <a:pt x="1" y="333"/>
                  <a:pt x="14" y="323"/>
                  <a:pt x="38" y="304"/>
                </a:cubicBezTo>
                <a:cubicBezTo>
                  <a:pt x="63" y="285"/>
                  <a:pt x="75" y="276"/>
                  <a:pt x="76" y="275"/>
                </a:cubicBezTo>
                <a:cubicBezTo>
                  <a:pt x="76" y="275"/>
                  <a:pt x="77" y="274"/>
                  <a:pt x="78" y="274"/>
                </a:cubicBezTo>
                <a:cubicBezTo>
                  <a:pt x="81" y="274"/>
                  <a:pt x="83" y="276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2" y="492"/>
                  <a:pt x="202" y="453"/>
                  <a:pt x="240" y="373"/>
                </a:cubicBezTo>
                <a:cubicBezTo>
                  <a:pt x="279" y="293"/>
                  <a:pt x="318" y="213"/>
                  <a:pt x="357" y="132"/>
                </a:cubicBezTo>
                <a:cubicBezTo>
                  <a:pt x="395" y="51"/>
                  <a:pt x="415" y="10"/>
                  <a:pt x="416" y="8"/>
                </a:cubicBezTo>
                <a:cubicBezTo>
                  <a:pt x="419" y="3"/>
                  <a:pt x="423" y="0"/>
                  <a:pt x="428" y="0"/>
                </a:cubicBezTo>
                <a:lnTo>
                  <a:pt x="701" y="0"/>
                </a:lnTo>
                <a:lnTo>
                  <a:pt x="701" y="23"/>
                </a:lnTo>
                <a:lnTo>
                  <a:pt x="434" y="23"/>
                </a:lnTo>
                <a:lnTo>
                  <a:pt x="307" y="284"/>
                </a:lnTo>
                <a:lnTo>
                  <a:pt x="175" y="557"/>
                </a:lnTo>
                <a:cubicBezTo>
                  <a:pt x="174" y="560"/>
                  <a:pt x="170" y="561"/>
                  <a:pt x="165" y="561"/>
                </a:cubicBezTo>
                <a:cubicBezTo>
                  <a:pt x="161" y="561"/>
                  <a:pt x="159" y="561"/>
                  <a:pt x="158" y="560"/>
                </a:cubicBezTo>
                <a:cubicBezTo>
                  <a:pt x="157" y="559"/>
                  <a:pt x="49" y="322"/>
                  <a:pt x="49" y="322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8210520" y="3981240"/>
            <a:ext cx="371520" cy="10080"/>
          </a:xfrm>
          <a:custGeom>
            <a:avLst/>
            <a:gdLst/>
            <a:ahLst/>
            <a:rect l="0" t="0" r="r" b="b"/>
            <a:pathLst>
              <a:path w="1032" h="28">
                <a:moveTo>
                  <a:pt x="0" y="0"/>
                </a:moveTo>
                <a:lnTo>
                  <a:pt x="1032" y="0"/>
                </a:lnTo>
                <a:lnTo>
                  <a:pt x="10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8482680" y="3965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8542440" y="39330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8282160" y="3768840"/>
            <a:ext cx="252360" cy="193680"/>
          </a:xfrm>
          <a:custGeom>
            <a:avLst/>
            <a:gdLst/>
            <a:ahLst/>
            <a:rect l="0" t="0" r="r" b="b"/>
            <a:pathLst>
              <a:path w="701" h="538">
                <a:moveTo>
                  <a:pt x="13" y="349"/>
                </a:moveTo>
                <a:cubicBezTo>
                  <a:pt x="11" y="349"/>
                  <a:pt x="9" y="348"/>
                  <a:pt x="5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0" y="335"/>
                </a:cubicBezTo>
                <a:cubicBezTo>
                  <a:pt x="1" y="333"/>
                  <a:pt x="14" y="323"/>
                  <a:pt x="38" y="304"/>
                </a:cubicBezTo>
                <a:cubicBezTo>
                  <a:pt x="63" y="286"/>
                  <a:pt x="75" y="276"/>
                  <a:pt x="75" y="276"/>
                </a:cubicBezTo>
                <a:cubicBezTo>
                  <a:pt x="76" y="275"/>
                  <a:pt x="77" y="275"/>
                  <a:pt x="78" y="275"/>
                </a:cubicBezTo>
                <a:cubicBezTo>
                  <a:pt x="81" y="275"/>
                  <a:pt x="83" y="277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2" y="492"/>
                  <a:pt x="201" y="452"/>
                  <a:pt x="240" y="373"/>
                </a:cubicBezTo>
                <a:cubicBezTo>
                  <a:pt x="278" y="293"/>
                  <a:pt x="317" y="213"/>
                  <a:pt x="356" y="132"/>
                </a:cubicBezTo>
                <a:cubicBezTo>
                  <a:pt x="394" y="52"/>
                  <a:pt x="414" y="11"/>
                  <a:pt x="415" y="9"/>
                </a:cubicBezTo>
                <a:cubicBezTo>
                  <a:pt x="418" y="4"/>
                  <a:pt x="422" y="0"/>
                  <a:pt x="426" y="0"/>
                </a:cubicBezTo>
                <a:lnTo>
                  <a:pt x="701" y="0"/>
                </a:lnTo>
                <a:lnTo>
                  <a:pt x="701" y="23"/>
                </a:lnTo>
                <a:lnTo>
                  <a:pt x="433" y="23"/>
                </a:lnTo>
                <a:lnTo>
                  <a:pt x="307" y="285"/>
                </a:lnTo>
                <a:lnTo>
                  <a:pt x="184" y="538"/>
                </a:lnTo>
                <a:lnTo>
                  <a:pt x="148" y="538"/>
                </a:lnTo>
                <a:cubicBezTo>
                  <a:pt x="121" y="480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8432280" y="3727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3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8821800" y="38800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9049320" y="3749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747720" y="4501800"/>
            <a:ext cx="5041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Normalise each bracket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— both have norm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7494480" y="4501800"/>
            <a:ext cx="35197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— and Bob's part is a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common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747720" y="4936680"/>
            <a:ext cx="7794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factor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3745080" y="5464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4534200" y="57618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4559040" y="5464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4639320" y="5544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4907160" y="57618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4907160" y="5464080"/>
            <a:ext cx="353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5684400" y="57618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5709600" y="5464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5789880" y="5544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6057360" y="57618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6057360" y="5464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6706800" y="57618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6731640" y="5464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6811920" y="5544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7050600" y="57618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7050600" y="5464080"/>
            <a:ext cx="353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7828200" y="57618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7853040" y="5464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7933320" y="5544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8172000" y="57618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8172000" y="5464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4049280" y="5464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4534200" y="58856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4272120" y="5721480"/>
            <a:ext cx="252360" cy="201960"/>
          </a:xfrm>
          <a:custGeom>
            <a:avLst/>
            <a:gdLst/>
            <a:ahLst/>
            <a:rect l="0" t="0" r="r" b="b"/>
            <a:pathLst>
              <a:path w="701" h="561">
                <a:moveTo>
                  <a:pt x="13" y="349"/>
                </a:moveTo>
                <a:cubicBezTo>
                  <a:pt x="11" y="349"/>
                  <a:pt x="9" y="348"/>
                  <a:pt x="5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0" y="335"/>
                </a:cubicBezTo>
                <a:cubicBezTo>
                  <a:pt x="1" y="333"/>
                  <a:pt x="14" y="323"/>
                  <a:pt x="38" y="304"/>
                </a:cubicBezTo>
                <a:cubicBezTo>
                  <a:pt x="63" y="286"/>
                  <a:pt x="75" y="276"/>
                  <a:pt x="75" y="276"/>
                </a:cubicBezTo>
                <a:cubicBezTo>
                  <a:pt x="76" y="275"/>
                  <a:pt x="77" y="275"/>
                  <a:pt x="78" y="275"/>
                </a:cubicBezTo>
                <a:cubicBezTo>
                  <a:pt x="81" y="275"/>
                  <a:pt x="83" y="277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2" y="492"/>
                  <a:pt x="201" y="452"/>
                  <a:pt x="240" y="373"/>
                </a:cubicBezTo>
                <a:cubicBezTo>
                  <a:pt x="278" y="293"/>
                  <a:pt x="317" y="213"/>
                  <a:pt x="356" y="132"/>
                </a:cubicBezTo>
                <a:cubicBezTo>
                  <a:pt x="395" y="51"/>
                  <a:pt x="415" y="10"/>
                  <a:pt x="416" y="8"/>
                </a:cubicBezTo>
                <a:cubicBezTo>
                  <a:pt x="419" y="2"/>
                  <a:pt x="423" y="0"/>
                  <a:pt x="427" y="0"/>
                </a:cubicBezTo>
                <a:lnTo>
                  <a:pt x="701" y="0"/>
                </a:lnTo>
                <a:lnTo>
                  <a:pt x="701" y="22"/>
                </a:lnTo>
                <a:lnTo>
                  <a:pt x="434" y="22"/>
                </a:lnTo>
                <a:lnTo>
                  <a:pt x="307" y="285"/>
                </a:lnTo>
                <a:lnTo>
                  <a:pt x="175" y="557"/>
                </a:lnTo>
                <a:cubicBezTo>
                  <a:pt x="173" y="560"/>
                  <a:pt x="170" y="561"/>
                  <a:pt x="164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4257360" y="569592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4423680" y="56804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4339800" y="54421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4791960" y="5594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5684400" y="58856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5424480" y="572148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49"/>
                </a:moveTo>
                <a:cubicBezTo>
                  <a:pt x="12" y="349"/>
                  <a:pt x="9" y="348"/>
                  <a:pt x="5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1" y="335"/>
                </a:cubicBezTo>
                <a:cubicBezTo>
                  <a:pt x="1" y="333"/>
                  <a:pt x="14" y="323"/>
                  <a:pt x="39" y="304"/>
                </a:cubicBezTo>
                <a:cubicBezTo>
                  <a:pt x="63" y="286"/>
                  <a:pt x="75" y="276"/>
                  <a:pt x="76" y="276"/>
                </a:cubicBezTo>
                <a:cubicBezTo>
                  <a:pt x="76" y="275"/>
                  <a:pt x="77" y="275"/>
                  <a:pt x="79" y="275"/>
                </a:cubicBezTo>
                <a:cubicBezTo>
                  <a:pt x="81" y="275"/>
                  <a:pt x="83" y="277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3" y="492"/>
                  <a:pt x="202" y="452"/>
                  <a:pt x="240" y="373"/>
                </a:cubicBezTo>
                <a:cubicBezTo>
                  <a:pt x="279" y="293"/>
                  <a:pt x="317" y="213"/>
                  <a:pt x="356" y="132"/>
                </a:cubicBezTo>
                <a:cubicBezTo>
                  <a:pt x="395" y="51"/>
                  <a:pt x="415" y="10"/>
                  <a:pt x="416" y="8"/>
                </a:cubicBezTo>
                <a:cubicBezTo>
                  <a:pt x="419" y="2"/>
                  <a:pt x="422" y="0"/>
                  <a:pt x="427" y="0"/>
                </a:cubicBezTo>
                <a:lnTo>
                  <a:pt x="702" y="0"/>
                </a:lnTo>
                <a:lnTo>
                  <a:pt x="702" y="22"/>
                </a:lnTo>
                <a:lnTo>
                  <a:pt x="433" y="22"/>
                </a:lnTo>
                <a:lnTo>
                  <a:pt x="307" y="285"/>
                </a:lnTo>
                <a:lnTo>
                  <a:pt x="175" y="557"/>
                </a:lnTo>
                <a:cubicBezTo>
                  <a:pt x="174" y="560"/>
                  <a:pt x="170" y="561"/>
                  <a:pt x="165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5410080" y="569592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5573880" y="56804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5490000" y="54421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5942160" y="5594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6169680" y="5464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) 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6600600" y="5695920"/>
            <a:ext cx="95760" cy="9720"/>
          </a:xfrm>
          <a:custGeom>
            <a:avLst/>
            <a:gdLst/>
            <a:ahLst/>
            <a:rect l="0" t="0" r="r" b="b"/>
            <a:pathLst>
              <a:path w="266" h="27">
                <a:moveTo>
                  <a:pt x="0" y="0"/>
                </a:moveTo>
                <a:lnTo>
                  <a:pt x="266" y="0"/>
                </a:lnTo>
                <a:lnTo>
                  <a:pt x="2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6596280" y="56520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6596280" y="54421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6935400" y="5594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7553160" y="569592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7633800" y="56520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7828200" y="56476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7567560" y="5483160"/>
            <a:ext cx="252720" cy="194040"/>
          </a:xfrm>
          <a:custGeom>
            <a:avLst/>
            <a:gdLst/>
            <a:ahLst/>
            <a:rect l="0" t="0" r="r" b="b"/>
            <a:pathLst>
              <a:path w="702" h="539">
                <a:moveTo>
                  <a:pt x="13" y="350"/>
                </a:moveTo>
                <a:cubicBezTo>
                  <a:pt x="12" y="350"/>
                  <a:pt x="9" y="348"/>
                  <a:pt x="6" y="345"/>
                </a:cubicBezTo>
                <a:cubicBezTo>
                  <a:pt x="2" y="342"/>
                  <a:pt x="0" y="340"/>
                  <a:pt x="0" y="337"/>
                </a:cubicBezTo>
                <a:cubicBezTo>
                  <a:pt x="0" y="336"/>
                  <a:pt x="0" y="336"/>
                  <a:pt x="1" y="335"/>
                </a:cubicBezTo>
                <a:cubicBezTo>
                  <a:pt x="2" y="334"/>
                  <a:pt x="14" y="324"/>
                  <a:pt x="39" y="305"/>
                </a:cubicBezTo>
                <a:cubicBezTo>
                  <a:pt x="63" y="286"/>
                  <a:pt x="75" y="277"/>
                  <a:pt x="76" y="276"/>
                </a:cubicBezTo>
                <a:cubicBezTo>
                  <a:pt x="77" y="276"/>
                  <a:pt x="78" y="275"/>
                  <a:pt x="79" y="275"/>
                </a:cubicBezTo>
                <a:cubicBezTo>
                  <a:pt x="81" y="275"/>
                  <a:pt x="84" y="277"/>
                  <a:pt x="85" y="281"/>
                </a:cubicBezTo>
                <a:cubicBezTo>
                  <a:pt x="87" y="285"/>
                  <a:pt x="182" y="493"/>
                  <a:pt x="182" y="493"/>
                </a:cubicBezTo>
                <a:cubicBezTo>
                  <a:pt x="183" y="493"/>
                  <a:pt x="202" y="453"/>
                  <a:pt x="241" y="373"/>
                </a:cubicBezTo>
                <a:cubicBezTo>
                  <a:pt x="279" y="294"/>
                  <a:pt x="318" y="214"/>
                  <a:pt x="357" y="133"/>
                </a:cubicBezTo>
                <a:cubicBezTo>
                  <a:pt x="396" y="51"/>
                  <a:pt x="416" y="10"/>
                  <a:pt x="417" y="8"/>
                </a:cubicBezTo>
                <a:cubicBezTo>
                  <a:pt x="420" y="3"/>
                  <a:pt x="424" y="0"/>
                  <a:pt x="428" y="0"/>
                </a:cubicBezTo>
                <a:lnTo>
                  <a:pt x="702" y="0"/>
                </a:lnTo>
                <a:lnTo>
                  <a:pt x="702" y="23"/>
                </a:lnTo>
                <a:lnTo>
                  <a:pt x="434" y="23"/>
                </a:lnTo>
                <a:lnTo>
                  <a:pt x="307" y="285"/>
                </a:lnTo>
                <a:lnTo>
                  <a:pt x="185" y="539"/>
                </a:lnTo>
                <a:lnTo>
                  <a:pt x="148" y="539"/>
                </a:lnTo>
                <a:cubicBezTo>
                  <a:pt x="122" y="481"/>
                  <a:pt x="50" y="323"/>
                  <a:pt x="50" y="323"/>
                </a:cubicBezTo>
                <a:lnTo>
                  <a:pt x="13" y="35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7717680" y="54421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3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8056800" y="5594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8284320" y="5464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747720" y="6127200"/>
            <a:ext cx="84409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Each qubit has a state of its own. Now the same four steps on one that fails.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1818360" y="16948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1843200" y="13968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2284200" y="16948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1333440" y="13968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1818360" y="18187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1557360" y="165420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49"/>
                </a:moveTo>
                <a:cubicBezTo>
                  <a:pt x="11" y="349"/>
                  <a:pt x="9" y="348"/>
                  <a:pt x="5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1" y="335"/>
                </a:cubicBezTo>
                <a:cubicBezTo>
                  <a:pt x="1" y="333"/>
                  <a:pt x="14" y="323"/>
                  <a:pt x="38" y="305"/>
                </a:cubicBezTo>
                <a:cubicBezTo>
                  <a:pt x="63" y="286"/>
                  <a:pt x="75" y="276"/>
                  <a:pt x="76" y="276"/>
                </a:cubicBezTo>
                <a:cubicBezTo>
                  <a:pt x="76" y="275"/>
                  <a:pt x="77" y="275"/>
                  <a:pt x="78" y="275"/>
                </a:cubicBezTo>
                <a:cubicBezTo>
                  <a:pt x="81" y="275"/>
                  <a:pt x="83" y="277"/>
                  <a:pt x="85" y="281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2" y="492"/>
                  <a:pt x="202" y="453"/>
                  <a:pt x="241" y="373"/>
                </a:cubicBezTo>
                <a:cubicBezTo>
                  <a:pt x="280" y="293"/>
                  <a:pt x="318" y="213"/>
                  <a:pt x="357" y="132"/>
                </a:cubicBezTo>
                <a:cubicBezTo>
                  <a:pt x="396" y="51"/>
                  <a:pt x="415" y="10"/>
                  <a:pt x="417" y="8"/>
                </a:cubicBezTo>
                <a:cubicBezTo>
                  <a:pt x="420" y="3"/>
                  <a:pt x="423" y="0"/>
                  <a:pt x="428" y="0"/>
                </a:cubicBezTo>
                <a:lnTo>
                  <a:pt x="702" y="0"/>
                </a:lnTo>
                <a:lnTo>
                  <a:pt x="702" y="23"/>
                </a:lnTo>
                <a:lnTo>
                  <a:pt x="434" y="23"/>
                </a:lnTo>
                <a:lnTo>
                  <a:pt x="308" y="285"/>
                </a:lnTo>
                <a:lnTo>
                  <a:pt x="175" y="557"/>
                </a:lnTo>
                <a:cubicBezTo>
                  <a:pt x="174" y="560"/>
                  <a:pt x="170" y="561"/>
                  <a:pt x="165" y="561"/>
                </a:cubicBezTo>
                <a:cubicBezTo>
                  <a:pt x="161" y="561"/>
                  <a:pt x="159" y="561"/>
                  <a:pt x="158" y="559"/>
                </a:cubicBezTo>
                <a:cubicBezTo>
                  <a:pt x="157" y="558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1542960" y="162864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1707840" y="16131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1623960" y="1375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2284200" y="18187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2024280" y="1654200"/>
            <a:ext cx="252360" cy="201960"/>
          </a:xfrm>
          <a:custGeom>
            <a:avLst/>
            <a:gdLst/>
            <a:ahLst/>
            <a:rect l="0" t="0" r="r" b="b"/>
            <a:pathLst>
              <a:path w="701" h="561">
                <a:moveTo>
                  <a:pt x="12" y="349"/>
                </a:moveTo>
                <a:cubicBezTo>
                  <a:pt x="11" y="349"/>
                  <a:pt x="8" y="348"/>
                  <a:pt x="5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0" y="335"/>
                </a:cubicBezTo>
                <a:cubicBezTo>
                  <a:pt x="1" y="333"/>
                  <a:pt x="13" y="323"/>
                  <a:pt x="38" y="305"/>
                </a:cubicBezTo>
                <a:cubicBezTo>
                  <a:pt x="63" y="286"/>
                  <a:pt x="75" y="276"/>
                  <a:pt x="75" y="276"/>
                </a:cubicBezTo>
                <a:cubicBezTo>
                  <a:pt x="76" y="275"/>
                  <a:pt x="77" y="275"/>
                  <a:pt x="78" y="275"/>
                </a:cubicBezTo>
                <a:cubicBezTo>
                  <a:pt x="81" y="275"/>
                  <a:pt x="83" y="277"/>
                  <a:pt x="85" y="281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2" y="492"/>
                  <a:pt x="201" y="453"/>
                  <a:pt x="240" y="373"/>
                </a:cubicBezTo>
                <a:cubicBezTo>
                  <a:pt x="278" y="293"/>
                  <a:pt x="317" y="213"/>
                  <a:pt x="356" y="132"/>
                </a:cubicBezTo>
                <a:cubicBezTo>
                  <a:pt x="395" y="51"/>
                  <a:pt x="415" y="10"/>
                  <a:pt x="416" y="8"/>
                </a:cubicBezTo>
                <a:cubicBezTo>
                  <a:pt x="419" y="3"/>
                  <a:pt x="423" y="0"/>
                  <a:pt x="427" y="0"/>
                </a:cubicBezTo>
                <a:lnTo>
                  <a:pt x="701" y="0"/>
                </a:lnTo>
                <a:lnTo>
                  <a:pt x="701" y="23"/>
                </a:lnTo>
                <a:lnTo>
                  <a:pt x="434" y="23"/>
                </a:lnTo>
                <a:lnTo>
                  <a:pt x="306" y="285"/>
                </a:lnTo>
                <a:lnTo>
                  <a:pt x="175" y="557"/>
                </a:lnTo>
                <a:cubicBezTo>
                  <a:pt x="173" y="560"/>
                  <a:pt x="170" y="561"/>
                  <a:pt x="164" y="561"/>
                </a:cubicBezTo>
                <a:cubicBezTo>
                  <a:pt x="161" y="561"/>
                  <a:pt x="159" y="561"/>
                  <a:pt x="157" y="559"/>
                </a:cubicBezTo>
                <a:cubicBezTo>
                  <a:pt x="156" y="558"/>
                  <a:pt x="49" y="323"/>
                  <a:pt x="49" y="323"/>
                </a:cubicBezTo>
                <a:lnTo>
                  <a:pt x="12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2009520" y="162864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2173680" y="16131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2089800" y="1375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2309040" y="13968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3431160" y="16948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3456360" y="13968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3897360" y="16948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3114360" y="13968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3323880" y="1628640"/>
            <a:ext cx="95760" cy="9720"/>
          </a:xfrm>
          <a:custGeom>
            <a:avLst/>
            <a:gdLst/>
            <a:ahLst/>
            <a:rect l="0" t="0" r="r" b="b"/>
            <a:pathLst>
              <a:path w="266" h="27">
                <a:moveTo>
                  <a:pt x="0" y="0"/>
                </a:moveTo>
                <a:lnTo>
                  <a:pt x="266" y="0"/>
                </a:lnTo>
                <a:lnTo>
                  <a:pt x="2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3320640" y="15847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3320640" y="1375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3619440" y="1628640"/>
            <a:ext cx="266760" cy="9720"/>
          </a:xfrm>
          <a:custGeom>
            <a:avLst/>
            <a:gdLst/>
            <a:ahLst/>
            <a:rect l="0" t="0" r="r" b="b"/>
            <a:pathLst>
              <a:path w="741" h="27">
                <a:moveTo>
                  <a:pt x="0" y="0"/>
                </a:moveTo>
                <a:lnTo>
                  <a:pt x="741" y="0"/>
                </a:lnTo>
                <a:lnTo>
                  <a:pt x="7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3702960" y="15847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3897360" y="15804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3633840" y="1416240"/>
            <a:ext cx="252360" cy="201960"/>
          </a:xfrm>
          <a:custGeom>
            <a:avLst/>
            <a:gdLst/>
            <a:ahLst/>
            <a:rect l="0" t="0" r="r" b="b"/>
            <a:pathLst>
              <a:path w="701" h="561">
                <a:moveTo>
                  <a:pt x="13" y="349"/>
                </a:moveTo>
                <a:cubicBezTo>
                  <a:pt x="11" y="349"/>
                  <a:pt x="9" y="347"/>
                  <a:pt x="5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1" y="334"/>
                </a:cubicBezTo>
                <a:cubicBezTo>
                  <a:pt x="1" y="333"/>
                  <a:pt x="14" y="323"/>
                  <a:pt x="38" y="304"/>
                </a:cubicBezTo>
                <a:cubicBezTo>
                  <a:pt x="64" y="286"/>
                  <a:pt x="76" y="276"/>
                  <a:pt x="77" y="276"/>
                </a:cubicBezTo>
                <a:cubicBezTo>
                  <a:pt x="77" y="275"/>
                  <a:pt x="78" y="275"/>
                  <a:pt x="79" y="275"/>
                </a:cubicBezTo>
                <a:cubicBezTo>
                  <a:pt x="82" y="275"/>
                  <a:pt x="84" y="276"/>
                  <a:pt x="86" y="280"/>
                </a:cubicBezTo>
                <a:cubicBezTo>
                  <a:pt x="88" y="284"/>
                  <a:pt x="183" y="492"/>
                  <a:pt x="183" y="492"/>
                </a:cubicBezTo>
                <a:cubicBezTo>
                  <a:pt x="183" y="492"/>
                  <a:pt x="203" y="452"/>
                  <a:pt x="241" y="373"/>
                </a:cubicBezTo>
                <a:cubicBezTo>
                  <a:pt x="280" y="293"/>
                  <a:pt x="318" y="212"/>
                  <a:pt x="357" y="131"/>
                </a:cubicBezTo>
                <a:cubicBezTo>
                  <a:pt x="396" y="51"/>
                  <a:pt x="415" y="9"/>
                  <a:pt x="417" y="8"/>
                </a:cubicBezTo>
                <a:cubicBezTo>
                  <a:pt x="419" y="2"/>
                  <a:pt x="423" y="0"/>
                  <a:pt x="428" y="0"/>
                </a:cubicBezTo>
                <a:lnTo>
                  <a:pt x="701" y="0"/>
                </a:lnTo>
                <a:lnTo>
                  <a:pt x="701" y="22"/>
                </a:lnTo>
                <a:lnTo>
                  <a:pt x="434" y="22"/>
                </a:lnTo>
                <a:lnTo>
                  <a:pt x="308" y="285"/>
                </a:lnTo>
                <a:lnTo>
                  <a:pt x="176" y="557"/>
                </a:lnTo>
                <a:cubicBezTo>
                  <a:pt x="175" y="559"/>
                  <a:pt x="171" y="561"/>
                  <a:pt x="166" y="561"/>
                </a:cubicBezTo>
                <a:cubicBezTo>
                  <a:pt x="162" y="561"/>
                  <a:pt x="160" y="560"/>
                  <a:pt x="159" y="559"/>
                </a:cubicBezTo>
                <a:cubicBezTo>
                  <a:pt x="158" y="558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3786840" y="1375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3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3922200" y="13968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362600" y="2724480"/>
            <a:ext cx="3240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ru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1745280" y="26445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2362320" y="29426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2085840" y="287640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2167920" y="28324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8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2362320" y="28281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2100240" y="266400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49"/>
                </a:moveTo>
                <a:cubicBezTo>
                  <a:pt x="12" y="349"/>
                  <a:pt x="9" y="348"/>
                  <a:pt x="6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1" y="334"/>
                </a:cubicBezTo>
                <a:cubicBezTo>
                  <a:pt x="1" y="333"/>
                  <a:pt x="14" y="323"/>
                  <a:pt x="39" y="304"/>
                </a:cubicBezTo>
                <a:cubicBezTo>
                  <a:pt x="63" y="286"/>
                  <a:pt x="75" y="276"/>
                  <a:pt x="76" y="276"/>
                </a:cubicBezTo>
                <a:cubicBezTo>
                  <a:pt x="77" y="275"/>
                  <a:pt x="77" y="275"/>
                  <a:pt x="79" y="275"/>
                </a:cubicBezTo>
                <a:cubicBezTo>
                  <a:pt x="81" y="275"/>
                  <a:pt x="83" y="276"/>
                  <a:pt x="85" y="280"/>
                </a:cubicBezTo>
                <a:cubicBezTo>
                  <a:pt x="87" y="284"/>
                  <a:pt x="183" y="492"/>
                  <a:pt x="183" y="492"/>
                </a:cubicBezTo>
                <a:cubicBezTo>
                  <a:pt x="184" y="492"/>
                  <a:pt x="203" y="452"/>
                  <a:pt x="241" y="373"/>
                </a:cubicBezTo>
                <a:cubicBezTo>
                  <a:pt x="280" y="293"/>
                  <a:pt x="318" y="213"/>
                  <a:pt x="357" y="131"/>
                </a:cubicBezTo>
                <a:cubicBezTo>
                  <a:pt x="396" y="51"/>
                  <a:pt x="416" y="9"/>
                  <a:pt x="417" y="8"/>
                </a:cubicBezTo>
                <a:cubicBezTo>
                  <a:pt x="420" y="2"/>
                  <a:pt x="423" y="0"/>
                  <a:pt x="428" y="0"/>
                </a:cubicBezTo>
                <a:lnTo>
                  <a:pt x="702" y="0"/>
                </a:lnTo>
                <a:lnTo>
                  <a:pt x="702" y="22"/>
                </a:lnTo>
                <a:lnTo>
                  <a:pt x="434" y="22"/>
                </a:lnTo>
                <a:lnTo>
                  <a:pt x="308" y="285"/>
                </a:lnTo>
                <a:lnTo>
                  <a:pt x="176" y="557"/>
                </a:lnTo>
                <a:cubicBezTo>
                  <a:pt x="175" y="559"/>
                  <a:pt x="171" y="561"/>
                  <a:pt x="166" y="561"/>
                </a:cubicBezTo>
                <a:cubicBezTo>
                  <a:pt x="162" y="561"/>
                  <a:pt x="160" y="560"/>
                  <a:pt x="159" y="559"/>
                </a:cubicBezTo>
                <a:cubicBezTo>
                  <a:pt x="158" y="558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2251800" y="26229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3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2938320" y="27244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st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3257640" y="26445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3874680" y="29426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3600360" y="287640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3680280" y="28324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8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3874680" y="28281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3614760" y="266400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49"/>
                </a:moveTo>
                <a:cubicBezTo>
                  <a:pt x="11" y="349"/>
                  <a:pt x="9" y="348"/>
                  <a:pt x="5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1" y="334"/>
                </a:cubicBezTo>
                <a:cubicBezTo>
                  <a:pt x="1" y="333"/>
                  <a:pt x="14" y="323"/>
                  <a:pt x="38" y="304"/>
                </a:cubicBezTo>
                <a:cubicBezTo>
                  <a:pt x="63" y="286"/>
                  <a:pt x="75" y="276"/>
                  <a:pt x="76" y="276"/>
                </a:cubicBezTo>
                <a:cubicBezTo>
                  <a:pt x="76" y="275"/>
                  <a:pt x="77" y="275"/>
                  <a:pt x="78" y="275"/>
                </a:cubicBezTo>
                <a:cubicBezTo>
                  <a:pt x="81" y="275"/>
                  <a:pt x="83" y="276"/>
                  <a:pt x="85" y="280"/>
                </a:cubicBezTo>
                <a:cubicBezTo>
                  <a:pt x="87" y="284"/>
                  <a:pt x="183" y="492"/>
                  <a:pt x="183" y="492"/>
                </a:cubicBezTo>
                <a:cubicBezTo>
                  <a:pt x="183" y="492"/>
                  <a:pt x="203" y="452"/>
                  <a:pt x="241" y="373"/>
                </a:cubicBezTo>
                <a:cubicBezTo>
                  <a:pt x="280" y="293"/>
                  <a:pt x="318" y="213"/>
                  <a:pt x="357" y="131"/>
                </a:cubicBezTo>
                <a:cubicBezTo>
                  <a:pt x="396" y="51"/>
                  <a:pt x="415" y="9"/>
                  <a:pt x="417" y="8"/>
                </a:cubicBezTo>
                <a:cubicBezTo>
                  <a:pt x="420" y="2"/>
                  <a:pt x="423" y="0"/>
                  <a:pt x="428" y="0"/>
                </a:cubicBezTo>
                <a:lnTo>
                  <a:pt x="702" y="0"/>
                </a:lnTo>
                <a:lnTo>
                  <a:pt x="702" y="22"/>
                </a:lnTo>
                <a:lnTo>
                  <a:pt x="434" y="22"/>
                </a:lnTo>
                <a:lnTo>
                  <a:pt x="308" y="285"/>
                </a:lnTo>
                <a:lnTo>
                  <a:pt x="176" y="557"/>
                </a:lnTo>
                <a:cubicBezTo>
                  <a:pt x="175" y="559"/>
                  <a:pt x="171" y="561"/>
                  <a:pt x="166" y="561"/>
                </a:cubicBezTo>
                <a:cubicBezTo>
                  <a:pt x="162" y="561"/>
                  <a:pt x="160" y="560"/>
                  <a:pt x="159" y="559"/>
                </a:cubicBezTo>
                <a:cubicBezTo>
                  <a:pt x="158" y="558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3764160" y="26229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3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6772320" y="47426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6852240" y="44485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6225120" y="47426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6314040" y="44449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6747480" y="47426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6114960" y="4676760"/>
            <a:ext cx="105120" cy="9720"/>
          </a:xfrm>
          <a:custGeom>
            <a:avLst/>
            <a:gdLst/>
            <a:ahLst/>
            <a:rect l="0" t="0" r="r" b="b"/>
            <a:pathLst>
              <a:path w="292" h="27">
                <a:moveTo>
                  <a:pt x="0" y="0"/>
                </a:moveTo>
                <a:lnTo>
                  <a:pt x="292" y="0"/>
                </a:lnTo>
                <a:lnTo>
                  <a:pt x="2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6114600" y="4642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8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6114600" y="44229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6638760" y="4676760"/>
            <a:ext cx="95760" cy="9720"/>
          </a:xfrm>
          <a:custGeom>
            <a:avLst/>
            <a:gdLst/>
            <a:ahLst/>
            <a:rect l="0" t="0" r="r" b="b"/>
            <a:pathLst>
              <a:path w="266" h="27">
                <a:moveTo>
                  <a:pt x="0" y="0"/>
                </a:moveTo>
                <a:lnTo>
                  <a:pt x="266" y="0"/>
                </a:lnTo>
                <a:lnTo>
                  <a:pt x="2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6636960" y="4642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8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5821200" y="4413240"/>
            <a:ext cx="951120" cy="501840"/>
          </a:xfrm>
          <a:custGeom>
            <a:avLst/>
            <a:gdLst/>
            <a:ahLst/>
            <a:rect l="0" t="0" r="r" b="b"/>
            <a:pathLst>
              <a:path w="2642" h="1394">
                <a:moveTo>
                  <a:pt x="677" y="7"/>
                </a:moveTo>
                <a:cubicBezTo>
                  <a:pt x="680" y="2"/>
                  <a:pt x="685" y="0"/>
                  <a:pt x="691" y="0"/>
                </a:cubicBezTo>
                <a:lnTo>
                  <a:pt x="2642" y="0"/>
                </a:lnTo>
                <a:lnTo>
                  <a:pt x="2642" y="31"/>
                </a:lnTo>
                <a:lnTo>
                  <a:pt x="700" y="31"/>
                </a:lnTo>
                <a:cubicBezTo>
                  <a:pt x="700" y="31"/>
                  <a:pt x="636" y="238"/>
                  <a:pt x="496" y="681"/>
                </a:cubicBezTo>
                <a:cubicBezTo>
                  <a:pt x="356" y="1124"/>
                  <a:pt x="281" y="1360"/>
                  <a:pt x="272" y="1388"/>
                </a:cubicBezTo>
                <a:cubicBezTo>
                  <a:pt x="269" y="1392"/>
                  <a:pt x="262" y="1394"/>
                  <a:pt x="254" y="1394"/>
                </a:cubicBezTo>
                <a:lnTo>
                  <a:pt x="244" y="1394"/>
                </a:lnTo>
                <a:cubicBezTo>
                  <a:pt x="243" y="1391"/>
                  <a:pt x="241" y="1385"/>
                  <a:pt x="239" y="1374"/>
                </a:cubicBezTo>
                <a:cubicBezTo>
                  <a:pt x="212" y="1277"/>
                  <a:pt x="156" y="1085"/>
                  <a:pt x="73" y="798"/>
                </a:cubicBezTo>
                <a:cubicBezTo>
                  <a:pt x="66" y="807"/>
                  <a:pt x="57" y="817"/>
                  <a:pt x="48" y="828"/>
                </a:cubicBezTo>
                <a:cubicBezTo>
                  <a:pt x="38" y="839"/>
                  <a:pt x="23" y="858"/>
                  <a:pt x="23" y="858"/>
                </a:cubicBezTo>
                <a:cubicBezTo>
                  <a:pt x="18" y="854"/>
                  <a:pt x="11" y="847"/>
                  <a:pt x="2" y="838"/>
                </a:cubicBezTo>
                <a:cubicBezTo>
                  <a:pt x="-7" y="829"/>
                  <a:pt x="21" y="815"/>
                  <a:pt x="21" y="815"/>
                </a:cubicBezTo>
                <a:cubicBezTo>
                  <a:pt x="42" y="789"/>
                  <a:pt x="62" y="766"/>
                  <a:pt x="80" y="744"/>
                </a:cubicBezTo>
                <a:cubicBezTo>
                  <a:pt x="99" y="722"/>
                  <a:pt x="120" y="698"/>
                  <a:pt x="120" y="698"/>
                </a:cubicBezTo>
                <a:lnTo>
                  <a:pt x="281" y="1257"/>
                </a:lnTo>
                <a:cubicBezTo>
                  <a:pt x="325" y="1122"/>
                  <a:pt x="379" y="949"/>
                  <a:pt x="445" y="741"/>
                </a:cubicBezTo>
                <a:cubicBezTo>
                  <a:pt x="510" y="533"/>
                  <a:pt x="564" y="363"/>
                  <a:pt x="605" y="231"/>
                </a:cubicBezTo>
                <a:cubicBezTo>
                  <a:pt x="647" y="100"/>
                  <a:pt x="671" y="25"/>
                  <a:pt x="677" y="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6636960" y="44229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3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7469280" y="47426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7469280" y="48762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7205760" y="4711680"/>
            <a:ext cx="252360" cy="194040"/>
          </a:xfrm>
          <a:custGeom>
            <a:avLst/>
            <a:gdLst/>
            <a:ahLst/>
            <a:rect l="0" t="0" r="r" b="b"/>
            <a:pathLst>
              <a:path w="701" h="539">
                <a:moveTo>
                  <a:pt x="13" y="350"/>
                </a:moveTo>
                <a:cubicBezTo>
                  <a:pt x="11" y="350"/>
                  <a:pt x="9" y="348"/>
                  <a:pt x="5" y="345"/>
                </a:cubicBezTo>
                <a:cubicBezTo>
                  <a:pt x="2" y="342"/>
                  <a:pt x="0" y="340"/>
                  <a:pt x="0" y="337"/>
                </a:cubicBezTo>
                <a:cubicBezTo>
                  <a:pt x="0" y="336"/>
                  <a:pt x="0" y="335"/>
                  <a:pt x="0" y="335"/>
                </a:cubicBezTo>
                <a:cubicBezTo>
                  <a:pt x="1" y="334"/>
                  <a:pt x="14" y="323"/>
                  <a:pt x="38" y="305"/>
                </a:cubicBezTo>
                <a:cubicBezTo>
                  <a:pt x="63" y="286"/>
                  <a:pt x="75" y="277"/>
                  <a:pt x="75" y="276"/>
                </a:cubicBezTo>
                <a:cubicBezTo>
                  <a:pt x="76" y="276"/>
                  <a:pt x="77" y="275"/>
                  <a:pt x="78" y="275"/>
                </a:cubicBezTo>
                <a:cubicBezTo>
                  <a:pt x="81" y="275"/>
                  <a:pt x="83" y="277"/>
                  <a:pt x="85" y="281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2" y="492"/>
                  <a:pt x="202" y="453"/>
                  <a:pt x="240" y="373"/>
                </a:cubicBezTo>
                <a:cubicBezTo>
                  <a:pt x="279" y="294"/>
                  <a:pt x="317" y="214"/>
                  <a:pt x="356" y="133"/>
                </a:cubicBezTo>
                <a:cubicBezTo>
                  <a:pt x="394" y="51"/>
                  <a:pt x="414" y="10"/>
                  <a:pt x="415" y="8"/>
                </a:cubicBezTo>
                <a:cubicBezTo>
                  <a:pt x="418" y="3"/>
                  <a:pt x="422" y="0"/>
                  <a:pt x="427" y="0"/>
                </a:cubicBezTo>
                <a:lnTo>
                  <a:pt x="701" y="0"/>
                </a:lnTo>
                <a:lnTo>
                  <a:pt x="701" y="23"/>
                </a:lnTo>
                <a:lnTo>
                  <a:pt x="433" y="23"/>
                </a:lnTo>
                <a:lnTo>
                  <a:pt x="307" y="285"/>
                </a:lnTo>
                <a:lnTo>
                  <a:pt x="184" y="539"/>
                </a:lnTo>
                <a:lnTo>
                  <a:pt x="148" y="539"/>
                </a:lnTo>
                <a:cubicBezTo>
                  <a:pt x="121" y="481"/>
                  <a:pt x="49" y="323"/>
                  <a:pt x="49" y="323"/>
                </a:cubicBezTo>
                <a:lnTo>
                  <a:pt x="13" y="35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7191360" y="4676760"/>
            <a:ext cx="266760" cy="9720"/>
          </a:xfrm>
          <a:custGeom>
            <a:avLst/>
            <a:gdLst/>
            <a:ahLst/>
            <a:rect l="0" t="0" r="r" b="b"/>
            <a:pathLst>
              <a:path w="741" h="27">
                <a:moveTo>
                  <a:pt x="0" y="0"/>
                </a:moveTo>
                <a:lnTo>
                  <a:pt x="741" y="0"/>
                </a:lnTo>
                <a:lnTo>
                  <a:pt x="7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7359120" y="4670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7274880" y="44229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747720" y="1122120"/>
            <a:ext cx="358920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Example B — entangled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3786120" y="18007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4003920" y="17208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4453200" y="20185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5054400" y="18007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5269320" y="17208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4343040" y="1952280"/>
            <a:ext cx="105480" cy="10080"/>
          </a:xfrm>
          <a:custGeom>
            <a:avLst/>
            <a:gdLst/>
            <a:ahLst/>
            <a:rect l="0" t="0" r="r" b="b"/>
            <a:pathLst>
              <a:path w="293" h="28">
                <a:moveTo>
                  <a:pt x="0" y="0"/>
                </a:moveTo>
                <a:lnTo>
                  <a:pt x="293" y="0"/>
                </a:lnTo>
                <a:lnTo>
                  <a:pt x="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4342680" y="19083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4342680" y="16988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5718600" y="20185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6319800" y="18007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6503760" y="17208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5609880" y="1952280"/>
            <a:ext cx="95760" cy="10080"/>
          </a:xfrm>
          <a:custGeom>
            <a:avLst/>
            <a:gdLst/>
            <a:ahLst/>
            <a:rect l="0" t="0" r="r" b="b"/>
            <a:pathLst>
              <a:path w="266" h="28">
                <a:moveTo>
                  <a:pt x="0" y="0"/>
                </a:moveTo>
                <a:lnTo>
                  <a:pt x="266" y="0"/>
                </a:lnTo>
                <a:lnTo>
                  <a:pt x="2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5608080" y="19083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5608080" y="16988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7120800" y="20185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7722000" y="18007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u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7966800" y="17208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7120800" y="21423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6853320" y="1978200"/>
            <a:ext cx="262080" cy="201960"/>
          </a:xfrm>
          <a:custGeom>
            <a:avLst/>
            <a:gdLst/>
            <a:ahLst/>
            <a:rect l="0" t="0" r="r" b="b"/>
            <a:pathLst>
              <a:path w="728" h="561">
                <a:moveTo>
                  <a:pt x="13" y="348"/>
                </a:moveTo>
                <a:cubicBezTo>
                  <a:pt x="11" y="348"/>
                  <a:pt x="9" y="347"/>
                  <a:pt x="5" y="344"/>
                </a:cubicBezTo>
                <a:cubicBezTo>
                  <a:pt x="2" y="341"/>
                  <a:pt x="0" y="338"/>
                  <a:pt x="0" y="336"/>
                </a:cubicBezTo>
                <a:cubicBezTo>
                  <a:pt x="0" y="335"/>
                  <a:pt x="0" y="334"/>
                  <a:pt x="0" y="333"/>
                </a:cubicBezTo>
                <a:cubicBezTo>
                  <a:pt x="1" y="332"/>
                  <a:pt x="14" y="322"/>
                  <a:pt x="38" y="303"/>
                </a:cubicBezTo>
                <a:cubicBezTo>
                  <a:pt x="63" y="285"/>
                  <a:pt x="75" y="275"/>
                  <a:pt x="76" y="275"/>
                </a:cubicBezTo>
                <a:cubicBezTo>
                  <a:pt x="76" y="274"/>
                  <a:pt x="77" y="274"/>
                  <a:pt x="78" y="274"/>
                </a:cubicBezTo>
                <a:cubicBezTo>
                  <a:pt x="81" y="274"/>
                  <a:pt x="83" y="275"/>
                  <a:pt x="85" y="279"/>
                </a:cubicBezTo>
                <a:cubicBezTo>
                  <a:pt x="87" y="283"/>
                  <a:pt x="182" y="492"/>
                  <a:pt x="182" y="492"/>
                </a:cubicBezTo>
                <a:cubicBezTo>
                  <a:pt x="182" y="492"/>
                  <a:pt x="203" y="452"/>
                  <a:pt x="241" y="372"/>
                </a:cubicBezTo>
                <a:cubicBezTo>
                  <a:pt x="280" y="292"/>
                  <a:pt x="318" y="212"/>
                  <a:pt x="357" y="131"/>
                </a:cubicBezTo>
                <a:cubicBezTo>
                  <a:pt x="395" y="51"/>
                  <a:pt x="415" y="9"/>
                  <a:pt x="416" y="8"/>
                </a:cubicBezTo>
                <a:cubicBezTo>
                  <a:pt x="419" y="2"/>
                  <a:pt x="423" y="0"/>
                  <a:pt x="428" y="0"/>
                </a:cubicBezTo>
                <a:lnTo>
                  <a:pt x="728" y="0"/>
                </a:lnTo>
                <a:lnTo>
                  <a:pt x="728" y="22"/>
                </a:lnTo>
                <a:lnTo>
                  <a:pt x="434" y="22"/>
                </a:lnTo>
                <a:lnTo>
                  <a:pt x="308" y="284"/>
                </a:lnTo>
                <a:lnTo>
                  <a:pt x="175" y="557"/>
                </a:lnTo>
                <a:cubicBezTo>
                  <a:pt x="174" y="559"/>
                  <a:pt x="170" y="561"/>
                  <a:pt x="165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2"/>
                  <a:pt x="49" y="322"/>
                </a:cubicBezTo>
                <a:lnTo>
                  <a:pt x="13" y="34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6838920" y="1952280"/>
            <a:ext cx="276480" cy="10080"/>
          </a:xfrm>
          <a:custGeom>
            <a:avLst/>
            <a:gdLst/>
            <a:ahLst/>
            <a:rect l="0" t="0" r="r" b="b"/>
            <a:pathLst>
              <a:path w="768" h="28">
                <a:moveTo>
                  <a:pt x="0" y="0"/>
                </a:moveTo>
                <a:lnTo>
                  <a:pt x="768" y="0"/>
                </a:lnTo>
                <a:lnTo>
                  <a:pt x="7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7010280" y="19465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6926400" y="16988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8271000" y="17208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747720" y="2355120"/>
            <a:ext cx="6310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Test: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2193840" y="2355120"/>
            <a:ext cx="5032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but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3759120" y="2355120"/>
            <a:ext cx="1185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Diﬀerent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4941360" y="2394360"/>
            <a:ext cx="238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5179320" y="2355120"/>
            <a:ext cx="12610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entangled.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747720" y="2926800"/>
            <a:ext cx="59961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Group by Alice's kets and normalise the same way: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4082400" y="3742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4107600" y="34426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4187880" y="352476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4455360" y="3742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4455360" y="34426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5100480" y="3742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5125320" y="3444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5205600" y="352476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5444640" y="3742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5444640" y="3444840"/>
            <a:ext cx="353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6221880" y="3742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6247080" y="3444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6327000" y="352476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6566040" y="3742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6566040" y="3444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6914160" y="34426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4082400" y="38664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3814920" y="3702240"/>
            <a:ext cx="262080" cy="201960"/>
          </a:xfrm>
          <a:custGeom>
            <a:avLst/>
            <a:gdLst/>
            <a:ahLst/>
            <a:rect l="0" t="0" r="r" b="b"/>
            <a:pathLst>
              <a:path w="728" h="561">
                <a:moveTo>
                  <a:pt x="13" y="349"/>
                </a:moveTo>
                <a:cubicBezTo>
                  <a:pt x="11" y="349"/>
                  <a:pt x="9" y="347"/>
                  <a:pt x="5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0" y="334"/>
                </a:cubicBezTo>
                <a:cubicBezTo>
                  <a:pt x="1" y="333"/>
                  <a:pt x="14" y="323"/>
                  <a:pt x="38" y="304"/>
                </a:cubicBezTo>
                <a:cubicBezTo>
                  <a:pt x="63" y="286"/>
                  <a:pt x="75" y="276"/>
                  <a:pt x="75" y="276"/>
                </a:cubicBezTo>
                <a:cubicBezTo>
                  <a:pt x="76" y="275"/>
                  <a:pt x="77" y="275"/>
                  <a:pt x="78" y="275"/>
                </a:cubicBezTo>
                <a:cubicBezTo>
                  <a:pt x="81" y="275"/>
                  <a:pt x="83" y="276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2" y="492"/>
                  <a:pt x="201" y="452"/>
                  <a:pt x="240" y="373"/>
                </a:cubicBezTo>
                <a:cubicBezTo>
                  <a:pt x="278" y="293"/>
                  <a:pt x="317" y="213"/>
                  <a:pt x="356" y="132"/>
                </a:cubicBezTo>
                <a:cubicBezTo>
                  <a:pt x="394" y="51"/>
                  <a:pt x="414" y="9"/>
                  <a:pt x="415" y="8"/>
                </a:cubicBezTo>
                <a:cubicBezTo>
                  <a:pt x="418" y="2"/>
                  <a:pt x="422" y="0"/>
                  <a:pt x="426" y="0"/>
                </a:cubicBezTo>
                <a:lnTo>
                  <a:pt x="728" y="0"/>
                </a:lnTo>
                <a:lnTo>
                  <a:pt x="728" y="22"/>
                </a:lnTo>
                <a:lnTo>
                  <a:pt x="433" y="22"/>
                </a:lnTo>
                <a:lnTo>
                  <a:pt x="307" y="285"/>
                </a:lnTo>
                <a:lnTo>
                  <a:pt x="175" y="557"/>
                </a:lnTo>
                <a:cubicBezTo>
                  <a:pt x="173" y="559"/>
                  <a:pt x="170" y="561"/>
                  <a:pt x="164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3800160" y="3676320"/>
            <a:ext cx="276840" cy="10080"/>
          </a:xfrm>
          <a:custGeom>
            <a:avLst/>
            <a:gdLst/>
            <a:ahLst/>
            <a:rect l="0" t="0" r="r" b="b"/>
            <a:pathLst>
              <a:path w="769" h="28">
                <a:moveTo>
                  <a:pt x="0" y="0"/>
                </a:moveTo>
                <a:lnTo>
                  <a:pt x="769" y="0"/>
                </a:lnTo>
                <a:lnTo>
                  <a:pt x="7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3972240" y="3661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3888000" y="34228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4340160" y="35755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4615560" y="3444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5100480" y="38664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4834080" y="3702240"/>
            <a:ext cx="252360" cy="201960"/>
          </a:xfrm>
          <a:custGeom>
            <a:avLst/>
            <a:gdLst/>
            <a:ahLst/>
            <a:rect l="0" t="0" r="r" b="b"/>
            <a:pathLst>
              <a:path w="701" h="561">
                <a:moveTo>
                  <a:pt x="13" y="349"/>
                </a:moveTo>
                <a:cubicBezTo>
                  <a:pt x="11" y="349"/>
                  <a:pt x="9" y="347"/>
                  <a:pt x="5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0" y="334"/>
                </a:cubicBezTo>
                <a:cubicBezTo>
                  <a:pt x="1" y="333"/>
                  <a:pt x="14" y="323"/>
                  <a:pt x="38" y="304"/>
                </a:cubicBezTo>
                <a:cubicBezTo>
                  <a:pt x="63" y="286"/>
                  <a:pt x="75" y="276"/>
                  <a:pt x="75" y="276"/>
                </a:cubicBezTo>
                <a:cubicBezTo>
                  <a:pt x="76" y="275"/>
                  <a:pt x="77" y="275"/>
                  <a:pt x="78" y="275"/>
                </a:cubicBezTo>
                <a:cubicBezTo>
                  <a:pt x="81" y="275"/>
                  <a:pt x="83" y="276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2" y="492"/>
                  <a:pt x="202" y="452"/>
                  <a:pt x="241" y="373"/>
                </a:cubicBezTo>
                <a:cubicBezTo>
                  <a:pt x="279" y="293"/>
                  <a:pt x="318" y="213"/>
                  <a:pt x="357" y="132"/>
                </a:cubicBezTo>
                <a:cubicBezTo>
                  <a:pt x="395" y="51"/>
                  <a:pt x="415" y="9"/>
                  <a:pt x="416" y="8"/>
                </a:cubicBezTo>
                <a:cubicBezTo>
                  <a:pt x="419" y="2"/>
                  <a:pt x="423" y="0"/>
                  <a:pt x="427" y="0"/>
                </a:cubicBezTo>
                <a:lnTo>
                  <a:pt x="701" y="0"/>
                </a:lnTo>
                <a:lnTo>
                  <a:pt x="701" y="22"/>
                </a:lnTo>
                <a:lnTo>
                  <a:pt x="434" y="22"/>
                </a:lnTo>
                <a:lnTo>
                  <a:pt x="308" y="285"/>
                </a:lnTo>
                <a:lnTo>
                  <a:pt x="175" y="557"/>
                </a:lnTo>
                <a:cubicBezTo>
                  <a:pt x="174" y="559"/>
                  <a:pt x="170" y="561"/>
                  <a:pt x="164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4819320" y="3676320"/>
            <a:ext cx="267120" cy="10080"/>
          </a:xfrm>
          <a:custGeom>
            <a:avLst/>
            <a:gdLst/>
            <a:ahLst/>
            <a:rect l="0" t="0" r="r" b="b"/>
            <a:pathLst>
              <a:path w="742" h="28">
                <a:moveTo>
                  <a:pt x="0" y="0"/>
                </a:moveTo>
                <a:lnTo>
                  <a:pt x="742" y="0"/>
                </a:lnTo>
                <a:lnTo>
                  <a:pt x="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4989960" y="3661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4906080" y="34228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5329440" y="35755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6221880" y="38664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5958000" y="3702240"/>
            <a:ext cx="252360" cy="201960"/>
          </a:xfrm>
          <a:custGeom>
            <a:avLst/>
            <a:gdLst/>
            <a:ahLst/>
            <a:rect l="0" t="0" r="r" b="b"/>
            <a:pathLst>
              <a:path w="701" h="561">
                <a:moveTo>
                  <a:pt x="13" y="349"/>
                </a:moveTo>
                <a:cubicBezTo>
                  <a:pt x="11" y="349"/>
                  <a:pt x="9" y="347"/>
                  <a:pt x="5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0" y="334"/>
                </a:cubicBezTo>
                <a:cubicBezTo>
                  <a:pt x="1" y="333"/>
                  <a:pt x="14" y="323"/>
                  <a:pt x="38" y="304"/>
                </a:cubicBezTo>
                <a:cubicBezTo>
                  <a:pt x="63" y="286"/>
                  <a:pt x="75" y="276"/>
                  <a:pt x="75" y="276"/>
                </a:cubicBezTo>
                <a:cubicBezTo>
                  <a:pt x="76" y="275"/>
                  <a:pt x="77" y="275"/>
                  <a:pt x="78" y="275"/>
                </a:cubicBezTo>
                <a:cubicBezTo>
                  <a:pt x="81" y="275"/>
                  <a:pt x="83" y="276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2" y="492"/>
                  <a:pt x="202" y="452"/>
                  <a:pt x="240" y="373"/>
                </a:cubicBezTo>
                <a:cubicBezTo>
                  <a:pt x="279" y="293"/>
                  <a:pt x="317" y="213"/>
                  <a:pt x="356" y="132"/>
                </a:cubicBezTo>
                <a:cubicBezTo>
                  <a:pt x="394" y="51"/>
                  <a:pt x="414" y="9"/>
                  <a:pt x="415" y="8"/>
                </a:cubicBezTo>
                <a:cubicBezTo>
                  <a:pt x="418" y="2"/>
                  <a:pt x="422" y="0"/>
                  <a:pt x="427" y="0"/>
                </a:cubicBezTo>
                <a:lnTo>
                  <a:pt x="701" y="0"/>
                </a:lnTo>
                <a:lnTo>
                  <a:pt x="701" y="22"/>
                </a:lnTo>
                <a:lnTo>
                  <a:pt x="433" y="22"/>
                </a:lnTo>
                <a:lnTo>
                  <a:pt x="307" y="285"/>
                </a:lnTo>
                <a:lnTo>
                  <a:pt x="175" y="557"/>
                </a:lnTo>
                <a:cubicBezTo>
                  <a:pt x="174" y="559"/>
                  <a:pt x="170" y="561"/>
                  <a:pt x="164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5943240" y="3676320"/>
            <a:ext cx="267120" cy="10080"/>
          </a:xfrm>
          <a:custGeom>
            <a:avLst/>
            <a:gdLst/>
            <a:ahLst/>
            <a:rect l="0" t="0" r="r" b="b"/>
            <a:pathLst>
              <a:path w="742" h="28">
                <a:moveTo>
                  <a:pt x="0" y="0"/>
                </a:moveTo>
                <a:lnTo>
                  <a:pt x="742" y="0"/>
                </a:lnTo>
                <a:lnTo>
                  <a:pt x="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6111360" y="3661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6027480" y="34228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6450840" y="35755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6678360" y="3444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7515360" y="3742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7540200" y="3444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7620480" y="352476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7888320" y="3742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7888320" y="3444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8080920" y="352476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8319600" y="3742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8319600" y="3444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7515360" y="38664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7253280" y="370224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49"/>
                </a:moveTo>
                <a:cubicBezTo>
                  <a:pt x="12" y="349"/>
                  <a:pt x="9" y="347"/>
                  <a:pt x="5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1" y="334"/>
                </a:cubicBezTo>
                <a:cubicBezTo>
                  <a:pt x="1" y="333"/>
                  <a:pt x="14" y="323"/>
                  <a:pt x="39" y="304"/>
                </a:cubicBezTo>
                <a:cubicBezTo>
                  <a:pt x="63" y="286"/>
                  <a:pt x="75" y="276"/>
                  <a:pt x="76" y="276"/>
                </a:cubicBezTo>
                <a:cubicBezTo>
                  <a:pt x="76" y="275"/>
                  <a:pt x="77" y="275"/>
                  <a:pt x="79" y="275"/>
                </a:cubicBezTo>
                <a:cubicBezTo>
                  <a:pt x="81" y="275"/>
                  <a:pt x="83" y="276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3" y="492"/>
                  <a:pt x="202" y="452"/>
                  <a:pt x="240" y="373"/>
                </a:cubicBezTo>
                <a:cubicBezTo>
                  <a:pt x="279" y="293"/>
                  <a:pt x="317" y="213"/>
                  <a:pt x="356" y="132"/>
                </a:cubicBezTo>
                <a:cubicBezTo>
                  <a:pt x="395" y="51"/>
                  <a:pt x="415" y="9"/>
                  <a:pt x="416" y="8"/>
                </a:cubicBezTo>
                <a:cubicBezTo>
                  <a:pt x="419" y="2"/>
                  <a:pt x="422" y="0"/>
                  <a:pt x="427" y="0"/>
                </a:cubicBezTo>
                <a:lnTo>
                  <a:pt x="702" y="0"/>
                </a:lnTo>
                <a:lnTo>
                  <a:pt x="702" y="22"/>
                </a:lnTo>
                <a:lnTo>
                  <a:pt x="433" y="22"/>
                </a:lnTo>
                <a:lnTo>
                  <a:pt x="307" y="285"/>
                </a:lnTo>
                <a:lnTo>
                  <a:pt x="175" y="557"/>
                </a:lnTo>
                <a:cubicBezTo>
                  <a:pt x="174" y="559"/>
                  <a:pt x="170" y="561"/>
                  <a:pt x="165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7238880" y="3676320"/>
            <a:ext cx="267120" cy="10080"/>
          </a:xfrm>
          <a:custGeom>
            <a:avLst/>
            <a:gdLst/>
            <a:ahLst/>
            <a:rect l="0" t="0" r="r" b="b"/>
            <a:pathLst>
              <a:path w="742" h="28">
                <a:moveTo>
                  <a:pt x="0" y="0"/>
                </a:moveTo>
                <a:lnTo>
                  <a:pt x="742" y="0"/>
                </a:lnTo>
                <a:lnTo>
                  <a:pt x="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7404840" y="3661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7320960" y="34228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7773120" y="35755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8204400" y="35755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747720" y="4107960"/>
            <a:ext cx="83959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Bob's two brackets are now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diﬀerent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so nothing factors out. Neither qubit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747720" y="4469760"/>
            <a:ext cx="2418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has a state of its own.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747720" y="4974840"/>
            <a:ext cx="39193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What that means: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Alice measures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5128200" y="4974840"/>
            <a:ext cx="366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or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5954760" y="4974840"/>
            <a:ext cx="25794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with equal odds — but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747720" y="5355720"/>
            <a:ext cx="32479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her result decides Bob's. Get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4446000" y="5355720"/>
            <a:ext cx="12942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and Bob is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6172920" y="5355720"/>
            <a:ext cx="16498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with certainty.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1362600" y="2381760"/>
            <a:ext cx="3240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ru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1745280" y="2301840"/>
            <a:ext cx="4050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 0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2697120" y="238176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st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3016440" y="2301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3734280" y="25902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3355200" y="25210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3734280" y="27234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3471840" y="255924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48"/>
                </a:moveTo>
                <a:cubicBezTo>
                  <a:pt x="12" y="348"/>
                  <a:pt x="9" y="346"/>
                  <a:pt x="6" y="344"/>
                </a:cubicBezTo>
                <a:cubicBezTo>
                  <a:pt x="2" y="341"/>
                  <a:pt x="0" y="338"/>
                  <a:pt x="0" y="336"/>
                </a:cubicBezTo>
                <a:cubicBezTo>
                  <a:pt x="0" y="335"/>
                  <a:pt x="0" y="334"/>
                  <a:pt x="1" y="333"/>
                </a:cubicBezTo>
                <a:cubicBezTo>
                  <a:pt x="1" y="332"/>
                  <a:pt x="14" y="322"/>
                  <a:pt x="39" y="303"/>
                </a:cubicBezTo>
                <a:cubicBezTo>
                  <a:pt x="63" y="285"/>
                  <a:pt x="75" y="275"/>
                  <a:pt x="76" y="275"/>
                </a:cubicBezTo>
                <a:cubicBezTo>
                  <a:pt x="77" y="274"/>
                  <a:pt x="77" y="274"/>
                  <a:pt x="79" y="274"/>
                </a:cubicBezTo>
                <a:cubicBezTo>
                  <a:pt x="81" y="274"/>
                  <a:pt x="83" y="275"/>
                  <a:pt x="85" y="279"/>
                </a:cubicBezTo>
                <a:cubicBezTo>
                  <a:pt x="87" y="283"/>
                  <a:pt x="182" y="492"/>
                  <a:pt x="182" y="492"/>
                </a:cubicBezTo>
                <a:cubicBezTo>
                  <a:pt x="183" y="492"/>
                  <a:pt x="202" y="452"/>
                  <a:pt x="240" y="372"/>
                </a:cubicBezTo>
                <a:cubicBezTo>
                  <a:pt x="279" y="292"/>
                  <a:pt x="317" y="212"/>
                  <a:pt x="356" y="131"/>
                </a:cubicBezTo>
                <a:cubicBezTo>
                  <a:pt x="395" y="51"/>
                  <a:pt x="415" y="9"/>
                  <a:pt x="416" y="8"/>
                </a:cubicBezTo>
                <a:cubicBezTo>
                  <a:pt x="419" y="2"/>
                  <a:pt x="422" y="0"/>
                  <a:pt x="427" y="0"/>
                </a:cubicBezTo>
                <a:lnTo>
                  <a:pt x="702" y="0"/>
                </a:lnTo>
                <a:lnTo>
                  <a:pt x="702" y="22"/>
                </a:lnTo>
                <a:lnTo>
                  <a:pt x="433" y="22"/>
                </a:lnTo>
                <a:lnTo>
                  <a:pt x="307" y="284"/>
                </a:lnTo>
                <a:lnTo>
                  <a:pt x="175" y="557"/>
                </a:lnTo>
                <a:cubicBezTo>
                  <a:pt x="174" y="559"/>
                  <a:pt x="170" y="561"/>
                  <a:pt x="165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2"/>
                  <a:pt x="49" y="322"/>
                </a:cubicBezTo>
                <a:lnTo>
                  <a:pt x="13" y="34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3352680" y="253332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3623760" y="2518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3489480" y="22798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4668120" y="4921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4748400" y="5001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5016240" y="5218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5016240" y="4921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4901040" y="50612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5494680" y="4921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5574960" y="5001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5842440" y="5218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5842440" y="4921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5727240" y="50612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3985920" y="5302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4065840" y="5382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4333680" y="5590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4333680" y="5302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4218480" y="5432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5741640" y="5302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5821920" y="5382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6060600" y="5590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6060600" y="53020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5945400" y="5432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5524560" y="1972800"/>
            <a:ext cx="1141200" cy="54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15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Gates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1943640" y="2783880"/>
            <a:ext cx="82965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So far: how to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describe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 two-qubit state, and test whether it is entangled.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7" name=""/>
          <p:cNvPicPr/>
          <p:nvPr/>
        </p:nvPicPr>
        <p:blipFill>
          <a:blip r:embed="rId1"/>
          <a:stretch/>
        </p:blipFill>
        <p:spPr>
          <a:xfrm>
            <a:off x="4524480" y="3790800"/>
            <a:ext cx="3142800" cy="97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8" name=""/>
          <p:cNvSpPr txBox="1"/>
          <p:nvPr/>
        </p:nvSpPr>
        <p:spPr>
          <a:xfrm>
            <a:off x="2091240" y="3298320"/>
            <a:ext cx="80110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Now: how to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change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one — and how entanglement actually gets made.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938880" y="759960"/>
            <a:ext cx="73260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 and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1949040" y="759960"/>
            <a:ext cx="468900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 — leave the magnitudes alone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747720" y="1469520"/>
            <a:ext cx="20487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All of these act on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4359960" y="1469520"/>
            <a:ext cx="2459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in the standard basis.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897120" y="1993320"/>
            <a:ext cx="37713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is the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identity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— it does nothing: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2067120" y="2696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2296440" y="26161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2906640" y="2913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3338640" y="2913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4105800" y="2696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4254840" y="26161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1"/>
                <a:ea typeface="KaTeX_Size1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4386960" y="2696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4654800" y="2913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4654800" y="2614680"/>
            <a:ext cx="6627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2600640" y="26161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[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2752560" y="24350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2752560" y="27874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3184920" y="24350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3184920" y="27874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3329280" y="26161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]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4539600" y="2746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5343480" y="2696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5611320" y="2913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5611320" y="2616120"/>
            <a:ext cx="749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1"/>
                <a:ea typeface="KaTeX_Size1"/>
              </a:rPr>
              <a:t>)</a:t>
            </a:r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5496120" y="2746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6463800" y="2696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6731640" y="2913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6731640" y="2616120"/>
            <a:ext cx="6627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6616440" y="2746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7420320" y="2696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7688160" y="2913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7688160" y="2616120"/>
            <a:ext cx="4230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7572960" y="2746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965160" y="3364920"/>
            <a:ext cx="64245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leaves both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magnitudes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unchanged but ﬂips the sign of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7667280" y="3364920"/>
            <a:ext cx="7290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— the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747720" y="3736440"/>
            <a:ext cx="17481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relative phase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1886760" y="4429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2184120" y="43498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2794320" y="46476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3450960" y="46476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4217760" y="4429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4435200" y="43498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1"/>
                <a:ea typeface="KaTeX_Size1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4567320" y="4429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4834800" y="46476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4834800" y="4348440"/>
            <a:ext cx="6627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2488320" y="43498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[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2640600" y="41688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2640600" y="45212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3184920" y="41688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3072960" y="4521240"/>
            <a:ext cx="3301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−1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3441240" y="43498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]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4719960" y="4480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5523840" y="4429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5791320" y="46476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5791320" y="4349880"/>
            <a:ext cx="7491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1"/>
                <a:ea typeface="KaTeX_Size1"/>
              </a:rPr>
              <a:t>)</a:t>
            </a:r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5676480" y="4480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6644160" y="4429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6912000" y="46476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6912000" y="4349880"/>
            <a:ext cx="6627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−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6796800" y="4480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7600680" y="4429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7868520" y="46476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7868520" y="4349880"/>
            <a:ext cx="4230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7753320" y="44802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747720" y="5098320"/>
            <a:ext cx="38437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Probabilities are unaﬀected, since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6410520" y="5098320"/>
            <a:ext cx="28810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The phase only becomes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747720" y="5469840"/>
            <a:ext cx="75852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visible once the qubit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interferes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with another — for instance after a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747720" y="5832000"/>
            <a:ext cx="1253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Hadamard.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747720" y="793800"/>
            <a:ext cx="368280" cy="36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910" b="0" i="1" u="none" strike="noStrike">
                <a:solidFill>
                  <a:srgbClr val="C2185B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2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12" name=""/>
          <p:cNvPicPr/>
          <p:nvPr/>
        </p:nvPicPr>
        <p:blipFill>
          <a:blip r:embed="rId1"/>
          <a:stretch/>
        </p:blipFill>
        <p:spPr>
          <a:xfrm>
            <a:off x="9477360" y="1143000"/>
            <a:ext cx="2285640" cy="242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3" name=""/>
          <p:cNvSpPr txBox="1"/>
          <p:nvPr/>
        </p:nvSpPr>
        <p:spPr>
          <a:xfrm>
            <a:off x="1670760" y="793800"/>
            <a:ext cx="368280" cy="36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910" b="0" i="1" u="none" strike="noStrike">
                <a:solidFill>
                  <a:srgbClr val="C2185B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2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2799360" y="14958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3067200" y="1415880"/>
            <a:ext cx="6627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2952000" y="15465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3755880" y="14958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4023720" y="17042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4023720" y="1415880"/>
            <a:ext cx="4230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3908520" y="15465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747720" y="20196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747720" y="33912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7399440" y="33912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7667280" y="36093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7552080" y="34516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4587480" y="5045040"/>
            <a:ext cx="3852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 −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5019840" y="512496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5287680" y="53427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5287680" y="50450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5562720" y="50450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5172480" y="51757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5367960" y="5032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5867280" y="50450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5947200" y="512496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6215040" y="53427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6215040" y="50450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6099840" y="51757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6295320" y="5032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1082160" y="807480"/>
            <a:ext cx="73260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 and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2109960" y="807480"/>
            <a:ext cx="253620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 — the two NOTs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747720" y="1517040"/>
            <a:ext cx="17370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Both exchange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2813760" y="1517040"/>
            <a:ext cx="550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and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3701520" y="151704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2822040" y="22006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3162960" y="2120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3773160" y="2418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4205520" y="2418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5548680" y="22006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5860080" y="21196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3467160" y="2120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[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3619440" y="19400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3619440" y="22924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4051800" y="19400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4051800" y="22924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4196160" y="2120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]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6694560" y="2418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7126920" y="2418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6164280" y="2120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[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6428520" y="19400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6316560" y="2292480"/>
            <a:ext cx="3301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−1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6973200" y="19400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6973200" y="22924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7117560" y="212076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]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753840" y="2886480"/>
            <a:ext cx="28692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1014120" y="2806920"/>
            <a:ext cx="28692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u="none" strike="noStrike">
                <a:solidFill>
                  <a:srgbClr val="1F2328"/>
                </a:solidFill>
                <a:effectLst/>
                <a:uFillTx/>
                <a:latin typeface="KaTeX_Size1"/>
                <a:ea typeface="KaTeX_Size1"/>
              </a:rPr>
              <a:t>(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1145880" y="2886480"/>
            <a:ext cx="28692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1413000" y="3103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1413000" y="2806920"/>
            <a:ext cx="65736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+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1298160" y="2946600"/>
            <a:ext cx="200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2099880" y="2886480"/>
            <a:ext cx="28692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2366640" y="3103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2366640" y="2806920"/>
            <a:ext cx="74340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r>
              <a:rPr lang="en-US" sz="2260" b="0" u="none" strike="noStrike">
                <a:solidFill>
                  <a:srgbClr val="1F2328"/>
                </a:solidFill>
                <a:effectLst/>
                <a:uFillTx/>
                <a:latin typeface="KaTeX_Size1"/>
                <a:ea typeface="KaTeX_Size1"/>
              </a:rPr>
              <a:t>)</a:t>
            </a:r>
            <a:r>
              <a:rPr lang="en-US" sz="22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=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2251800" y="2946600"/>
            <a:ext cx="200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3216960" y="2886480"/>
            <a:ext cx="28692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3484080" y="3103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3484080" y="2806920"/>
            <a:ext cx="65736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+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3369240" y="2946600"/>
            <a:ext cx="200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4170960" y="2886480"/>
            <a:ext cx="28692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4437720" y="3103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4437720" y="2806920"/>
            <a:ext cx="41904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5348160" y="2886480"/>
            <a:ext cx="28692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5578920" y="2806920"/>
            <a:ext cx="28692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u="none" strike="noStrike">
                <a:solidFill>
                  <a:srgbClr val="1F2328"/>
                </a:solidFill>
                <a:effectLst/>
                <a:uFillTx/>
                <a:latin typeface="KaTeX_Size1"/>
                <a:ea typeface="KaTeX_Size1"/>
              </a:rPr>
              <a:t>(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5710320" y="2886480"/>
            <a:ext cx="28692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5977440" y="3103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5977440" y="2806920"/>
            <a:ext cx="65736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+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4322880" y="2946600"/>
            <a:ext cx="200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5862600" y="2946600"/>
            <a:ext cx="200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6664320" y="2886480"/>
            <a:ext cx="28692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6931440" y="3103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6931440" y="2806920"/>
            <a:ext cx="74340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r>
              <a:rPr lang="en-US" sz="2260" b="0" u="none" strike="noStrike">
                <a:solidFill>
                  <a:srgbClr val="1F2328"/>
                </a:solidFill>
                <a:effectLst/>
                <a:uFillTx/>
                <a:latin typeface="KaTeX_Size1"/>
                <a:ea typeface="KaTeX_Size1"/>
              </a:rPr>
              <a:t>)</a:t>
            </a:r>
            <a:r>
              <a:rPr lang="en-US" sz="22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=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6816240" y="2946600"/>
            <a:ext cx="200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7781400" y="2886480"/>
            <a:ext cx="28692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8048520" y="3103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8048520" y="2806920"/>
            <a:ext cx="65736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−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7933680" y="2946600"/>
            <a:ext cx="200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8735400" y="2886480"/>
            <a:ext cx="28692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9002520" y="3103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9002520" y="2806920"/>
            <a:ext cx="41904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8887320" y="2946600"/>
            <a:ext cx="200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747720" y="3393360"/>
            <a:ext cx="3369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So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1345680" y="3393360"/>
            <a:ext cx="17877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is a pure swap;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3362400" y="3393360"/>
            <a:ext cx="43826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swaps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and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changes the relative phase.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747720" y="4048920"/>
            <a:ext cx="88992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 Pauli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1827720" y="4048920"/>
            <a:ext cx="94068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is usually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3034080" y="4048920"/>
            <a:ext cx="287820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times the matrix above, giving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6779160" y="4048920"/>
            <a:ext cx="22557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The real version is used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747720" y="4534560"/>
            <a:ext cx="830088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here because these slides avoid complex numbers — but only the complex one squares to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9163080" y="4534560"/>
            <a:ext cx="1947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1457280" y="4924080"/>
            <a:ext cx="723960" cy="257760"/>
          </a:xfrm>
          <a:custGeom>
            <a:avLst/>
            <a:gdLst/>
            <a:ahLst/>
            <a:rect l="0" t="0" r="r" b="b"/>
            <a:pathLst>
              <a:path w="2011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1"/>
                  <a:pt x="148" y="0"/>
                  <a:pt x="158" y="0"/>
                </a:cubicBezTo>
                <a:lnTo>
                  <a:pt x="1853" y="0"/>
                </a:lnTo>
                <a:cubicBezTo>
                  <a:pt x="1863" y="0"/>
                  <a:pt x="1873" y="1"/>
                  <a:pt x="1884" y="4"/>
                </a:cubicBezTo>
                <a:cubicBezTo>
                  <a:pt x="1894" y="6"/>
                  <a:pt x="1904" y="9"/>
                  <a:pt x="1913" y="13"/>
                </a:cubicBezTo>
                <a:cubicBezTo>
                  <a:pt x="1923" y="17"/>
                  <a:pt x="1932" y="21"/>
                  <a:pt x="1941" y="27"/>
                </a:cubicBezTo>
                <a:cubicBezTo>
                  <a:pt x="1950" y="33"/>
                  <a:pt x="1958" y="40"/>
                  <a:pt x="1965" y="47"/>
                </a:cubicBezTo>
                <a:cubicBezTo>
                  <a:pt x="1972" y="54"/>
                  <a:pt x="1979" y="62"/>
                  <a:pt x="1985" y="71"/>
                </a:cubicBezTo>
                <a:cubicBezTo>
                  <a:pt x="1990" y="80"/>
                  <a:pt x="1995" y="89"/>
                  <a:pt x="1999" y="98"/>
                </a:cubicBezTo>
                <a:cubicBezTo>
                  <a:pt x="2003" y="108"/>
                  <a:pt x="2006" y="118"/>
                  <a:pt x="2008" y="128"/>
                </a:cubicBezTo>
                <a:cubicBezTo>
                  <a:pt x="2010" y="138"/>
                  <a:pt x="2011" y="149"/>
                  <a:pt x="2011" y="159"/>
                </a:cubicBezTo>
                <a:lnTo>
                  <a:pt x="2011" y="557"/>
                </a:lnTo>
                <a:cubicBezTo>
                  <a:pt x="2011" y="568"/>
                  <a:pt x="2010" y="578"/>
                  <a:pt x="2008" y="588"/>
                </a:cubicBezTo>
                <a:cubicBezTo>
                  <a:pt x="2006" y="598"/>
                  <a:pt x="2003" y="608"/>
                  <a:pt x="1999" y="618"/>
                </a:cubicBezTo>
                <a:cubicBezTo>
                  <a:pt x="1995" y="627"/>
                  <a:pt x="1990" y="637"/>
                  <a:pt x="1985" y="645"/>
                </a:cubicBezTo>
                <a:cubicBezTo>
                  <a:pt x="1979" y="654"/>
                  <a:pt x="1972" y="662"/>
                  <a:pt x="1965" y="669"/>
                </a:cubicBezTo>
                <a:cubicBezTo>
                  <a:pt x="1958" y="677"/>
                  <a:pt x="1950" y="683"/>
                  <a:pt x="1941" y="689"/>
                </a:cubicBezTo>
                <a:cubicBezTo>
                  <a:pt x="1932" y="695"/>
                  <a:pt x="1923" y="700"/>
                  <a:pt x="1913" y="704"/>
                </a:cubicBezTo>
                <a:cubicBezTo>
                  <a:pt x="1904" y="708"/>
                  <a:pt x="1894" y="711"/>
                  <a:pt x="1884" y="713"/>
                </a:cubicBezTo>
                <a:cubicBezTo>
                  <a:pt x="1873" y="715"/>
                  <a:pt x="1863" y="716"/>
                  <a:pt x="1853" y="716"/>
                </a:cubicBezTo>
                <a:lnTo>
                  <a:pt x="158" y="716"/>
                </a:lnTo>
                <a:cubicBezTo>
                  <a:pt x="148" y="716"/>
                  <a:pt x="138" y="715"/>
                  <a:pt x="127" y="713"/>
                </a:cubicBezTo>
                <a:cubicBezTo>
                  <a:pt x="117" y="711"/>
                  <a:pt x="107" y="708"/>
                  <a:pt x="98" y="704"/>
                </a:cubicBezTo>
                <a:cubicBezTo>
                  <a:pt x="88" y="700"/>
                  <a:pt x="79" y="695"/>
                  <a:pt x="70" y="689"/>
                </a:cubicBezTo>
                <a:cubicBezTo>
                  <a:pt x="62" y="683"/>
                  <a:pt x="53" y="677"/>
                  <a:pt x="46" y="669"/>
                </a:cubicBezTo>
                <a:cubicBezTo>
                  <a:pt x="39" y="662"/>
                  <a:pt x="32" y="654"/>
                  <a:pt x="26" y="645"/>
                </a:cubicBezTo>
                <a:cubicBezTo>
                  <a:pt x="21" y="637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8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747720" y="4896720"/>
            <a:ext cx="70992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Qiskit's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1522080" y="4962240"/>
            <a:ext cx="598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qc.y()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 txBox="1"/>
          <p:nvPr/>
        </p:nvSpPr>
        <p:spPr>
          <a:xfrm>
            <a:off x="2185560" y="4896720"/>
            <a:ext cx="233640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applies the complex one.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 txBox="1"/>
          <p:nvPr/>
        </p:nvSpPr>
        <p:spPr>
          <a:xfrm>
            <a:off x="747720" y="5401440"/>
            <a:ext cx="41961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Three spatial axes, so </a:t>
            </a:r>
            <a:r>
              <a:rPr lang="en-US" sz="154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three </a:t>
            </a:r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Paulis — not one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5460840" y="5401440"/>
            <a:ext cx="245664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matrix but three separate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8436240" y="5401440"/>
            <a:ext cx="5457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ones.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747720" y="5763600"/>
            <a:ext cx="768132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 size comes from the number of </a:t>
            </a:r>
            <a:r>
              <a:rPr lang="en-US" sz="154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outcomes</a:t>
            </a:r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measuring along any axis gives two.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747720" y="841320"/>
            <a:ext cx="368280" cy="36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910" b="0" i="1" u="none" strike="noStrike">
                <a:solidFill>
                  <a:srgbClr val="C2185B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2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22" name=""/>
          <p:cNvPicPr/>
          <p:nvPr/>
        </p:nvPicPr>
        <p:blipFill>
          <a:blip r:embed="rId1"/>
          <a:stretch/>
        </p:blipFill>
        <p:spPr>
          <a:xfrm>
            <a:off x="9572760" y="1143000"/>
            <a:ext cx="2190240" cy="47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3" name=""/>
          <p:cNvSpPr txBox="1"/>
          <p:nvPr/>
        </p:nvSpPr>
        <p:spPr>
          <a:xfrm>
            <a:off x="1814040" y="841320"/>
            <a:ext cx="368280" cy="36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910" b="0" i="1" u="none" strike="noStrike">
                <a:solidFill>
                  <a:srgbClr val="C2185B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2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 txBox="1"/>
          <p:nvPr/>
        </p:nvSpPr>
        <p:spPr>
          <a:xfrm>
            <a:off x="2477160" y="1463760"/>
            <a:ext cx="4230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 txBox="1"/>
          <p:nvPr/>
        </p:nvSpPr>
        <p:spPr>
          <a:xfrm>
            <a:off x="3364920" y="1463760"/>
            <a:ext cx="4230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1084680" y="3420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 txBox="1"/>
          <p:nvPr/>
        </p:nvSpPr>
        <p:spPr>
          <a:xfrm>
            <a:off x="3130920" y="34200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 txBox="1"/>
          <p:nvPr/>
        </p:nvSpPr>
        <p:spPr>
          <a:xfrm>
            <a:off x="1638000" y="407052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2768760" y="4005000"/>
            <a:ext cx="2358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−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 txBox="1"/>
          <p:nvPr/>
        </p:nvSpPr>
        <p:spPr>
          <a:xfrm>
            <a:off x="2952360" y="407052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6663960" y="4237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5910120" y="4005000"/>
            <a:ext cx="2358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[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6035040" y="3852720"/>
            <a:ext cx="2358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6053400" y="420408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6389280" y="3852720"/>
            <a:ext cx="2358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−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6572880" y="391824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6462720" y="4138560"/>
            <a:ext cx="2358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6654600" y="4005000"/>
            <a:ext cx="2358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]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9040680" y="455652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4935960" y="5357880"/>
            <a:ext cx="52884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3 × 3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7911360" y="5357880"/>
            <a:ext cx="52884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 × 2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747720" y="1455480"/>
            <a:ext cx="48560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Hadamard — into superposition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2460240" y="2391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H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2802960" y="2311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3622320" y="2609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4472640" y="2609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4711320" y="2310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3107160" y="2311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4"/>
                <a:ea typeface="KaTeX_Size4"/>
              </a:rPr>
              <a:t>[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3588120" y="23806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3588120" y="25138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3319560" y="2349720"/>
            <a:ext cx="262080" cy="201960"/>
          </a:xfrm>
          <a:custGeom>
            <a:avLst/>
            <a:gdLst/>
            <a:ahLst/>
            <a:rect l="0" t="0" r="r" b="b"/>
            <a:pathLst>
              <a:path w="728" h="561">
                <a:moveTo>
                  <a:pt x="13" y="348"/>
                </a:moveTo>
                <a:cubicBezTo>
                  <a:pt x="11" y="348"/>
                  <a:pt x="9" y="346"/>
                  <a:pt x="5" y="343"/>
                </a:cubicBezTo>
                <a:cubicBezTo>
                  <a:pt x="2" y="340"/>
                  <a:pt x="0" y="338"/>
                  <a:pt x="0" y="336"/>
                </a:cubicBezTo>
                <a:cubicBezTo>
                  <a:pt x="0" y="334"/>
                  <a:pt x="0" y="334"/>
                  <a:pt x="0" y="333"/>
                </a:cubicBezTo>
                <a:cubicBezTo>
                  <a:pt x="1" y="332"/>
                  <a:pt x="14" y="322"/>
                  <a:pt x="38" y="303"/>
                </a:cubicBezTo>
                <a:cubicBezTo>
                  <a:pt x="63" y="284"/>
                  <a:pt x="75" y="275"/>
                  <a:pt x="75" y="275"/>
                </a:cubicBezTo>
                <a:cubicBezTo>
                  <a:pt x="76" y="274"/>
                  <a:pt x="77" y="273"/>
                  <a:pt x="78" y="273"/>
                </a:cubicBezTo>
                <a:cubicBezTo>
                  <a:pt x="81" y="273"/>
                  <a:pt x="83" y="275"/>
                  <a:pt x="85" y="279"/>
                </a:cubicBezTo>
                <a:cubicBezTo>
                  <a:pt x="87" y="283"/>
                  <a:pt x="182" y="492"/>
                  <a:pt x="182" y="492"/>
                </a:cubicBezTo>
                <a:cubicBezTo>
                  <a:pt x="182" y="492"/>
                  <a:pt x="202" y="451"/>
                  <a:pt x="240" y="371"/>
                </a:cubicBezTo>
                <a:cubicBezTo>
                  <a:pt x="279" y="292"/>
                  <a:pt x="317" y="212"/>
                  <a:pt x="356" y="131"/>
                </a:cubicBezTo>
                <a:cubicBezTo>
                  <a:pt x="394" y="51"/>
                  <a:pt x="414" y="9"/>
                  <a:pt x="415" y="7"/>
                </a:cubicBezTo>
                <a:cubicBezTo>
                  <a:pt x="418" y="2"/>
                  <a:pt x="422" y="0"/>
                  <a:pt x="427" y="0"/>
                </a:cubicBezTo>
                <a:lnTo>
                  <a:pt x="728" y="0"/>
                </a:lnTo>
                <a:lnTo>
                  <a:pt x="728" y="22"/>
                </a:lnTo>
                <a:lnTo>
                  <a:pt x="433" y="22"/>
                </a:lnTo>
                <a:lnTo>
                  <a:pt x="307" y="284"/>
                </a:lnTo>
                <a:lnTo>
                  <a:pt x="175" y="557"/>
                </a:lnTo>
                <a:cubicBezTo>
                  <a:pt x="174" y="559"/>
                  <a:pt x="170" y="561"/>
                  <a:pt x="165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2"/>
                  <a:pt x="49" y="322"/>
                </a:cubicBezTo>
                <a:lnTo>
                  <a:pt x="13" y="34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3305160" y="2314440"/>
            <a:ext cx="276480" cy="9720"/>
          </a:xfrm>
          <a:custGeom>
            <a:avLst/>
            <a:gdLst/>
            <a:ahLst/>
            <a:rect l="0" t="0" r="r" b="b"/>
            <a:pathLst>
              <a:path w="768" h="27">
                <a:moveTo>
                  <a:pt x="0" y="0"/>
                </a:moveTo>
                <a:lnTo>
                  <a:pt x="768" y="0"/>
                </a:lnTo>
                <a:lnTo>
                  <a:pt x="7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3477600" y="23086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3393720" y="20610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3588120" y="27806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3588120" y="2913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3319560" y="2749680"/>
            <a:ext cx="262080" cy="193680"/>
          </a:xfrm>
          <a:custGeom>
            <a:avLst/>
            <a:gdLst/>
            <a:ahLst/>
            <a:rect l="0" t="0" r="r" b="b"/>
            <a:pathLst>
              <a:path w="728" h="538">
                <a:moveTo>
                  <a:pt x="13" y="349"/>
                </a:moveTo>
                <a:cubicBezTo>
                  <a:pt x="11" y="349"/>
                  <a:pt x="9" y="348"/>
                  <a:pt x="5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0" y="335"/>
                </a:cubicBezTo>
                <a:cubicBezTo>
                  <a:pt x="1" y="333"/>
                  <a:pt x="14" y="323"/>
                  <a:pt x="38" y="304"/>
                </a:cubicBezTo>
                <a:cubicBezTo>
                  <a:pt x="63" y="286"/>
                  <a:pt x="75" y="276"/>
                  <a:pt x="75" y="276"/>
                </a:cubicBezTo>
                <a:cubicBezTo>
                  <a:pt x="76" y="275"/>
                  <a:pt x="77" y="275"/>
                  <a:pt x="78" y="275"/>
                </a:cubicBezTo>
                <a:cubicBezTo>
                  <a:pt x="81" y="275"/>
                  <a:pt x="83" y="277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2" y="492"/>
                  <a:pt x="202" y="452"/>
                  <a:pt x="240" y="373"/>
                </a:cubicBezTo>
                <a:cubicBezTo>
                  <a:pt x="279" y="293"/>
                  <a:pt x="317" y="213"/>
                  <a:pt x="356" y="131"/>
                </a:cubicBezTo>
                <a:cubicBezTo>
                  <a:pt x="394" y="51"/>
                  <a:pt x="414" y="10"/>
                  <a:pt x="415" y="8"/>
                </a:cubicBezTo>
                <a:cubicBezTo>
                  <a:pt x="418" y="2"/>
                  <a:pt x="422" y="0"/>
                  <a:pt x="427" y="0"/>
                </a:cubicBezTo>
                <a:lnTo>
                  <a:pt x="728" y="0"/>
                </a:lnTo>
                <a:lnTo>
                  <a:pt x="728" y="22"/>
                </a:lnTo>
                <a:lnTo>
                  <a:pt x="433" y="22"/>
                </a:lnTo>
                <a:lnTo>
                  <a:pt x="307" y="285"/>
                </a:lnTo>
                <a:lnTo>
                  <a:pt x="184" y="538"/>
                </a:lnTo>
                <a:lnTo>
                  <a:pt x="148" y="538"/>
                </a:lnTo>
                <a:cubicBezTo>
                  <a:pt x="121" y="480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3305160" y="2714400"/>
            <a:ext cx="276480" cy="10080"/>
          </a:xfrm>
          <a:custGeom>
            <a:avLst/>
            <a:gdLst/>
            <a:ahLst/>
            <a:rect l="0" t="0" r="r" b="b"/>
            <a:pathLst>
              <a:path w="768" h="28">
                <a:moveTo>
                  <a:pt x="0" y="0"/>
                </a:moveTo>
                <a:lnTo>
                  <a:pt x="768" y="0"/>
                </a:lnTo>
                <a:lnTo>
                  <a:pt x="7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347760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3393720" y="24609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4326120" y="23806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4326120" y="25138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4062600" y="2349720"/>
            <a:ext cx="252360" cy="201960"/>
          </a:xfrm>
          <a:custGeom>
            <a:avLst/>
            <a:gdLst/>
            <a:ahLst/>
            <a:rect l="0" t="0" r="r" b="b"/>
            <a:pathLst>
              <a:path w="701" h="561">
                <a:moveTo>
                  <a:pt x="12" y="348"/>
                </a:moveTo>
                <a:cubicBezTo>
                  <a:pt x="11" y="348"/>
                  <a:pt x="8" y="346"/>
                  <a:pt x="5" y="343"/>
                </a:cubicBezTo>
                <a:cubicBezTo>
                  <a:pt x="2" y="340"/>
                  <a:pt x="0" y="338"/>
                  <a:pt x="0" y="336"/>
                </a:cubicBezTo>
                <a:cubicBezTo>
                  <a:pt x="0" y="334"/>
                  <a:pt x="0" y="334"/>
                  <a:pt x="0" y="333"/>
                </a:cubicBezTo>
                <a:cubicBezTo>
                  <a:pt x="1" y="332"/>
                  <a:pt x="14" y="322"/>
                  <a:pt x="38" y="303"/>
                </a:cubicBezTo>
                <a:cubicBezTo>
                  <a:pt x="63" y="284"/>
                  <a:pt x="75" y="275"/>
                  <a:pt x="75" y="275"/>
                </a:cubicBezTo>
                <a:cubicBezTo>
                  <a:pt x="76" y="274"/>
                  <a:pt x="77" y="273"/>
                  <a:pt x="78" y="273"/>
                </a:cubicBezTo>
                <a:cubicBezTo>
                  <a:pt x="81" y="273"/>
                  <a:pt x="83" y="275"/>
                  <a:pt x="85" y="279"/>
                </a:cubicBezTo>
                <a:cubicBezTo>
                  <a:pt x="87" y="283"/>
                  <a:pt x="182" y="492"/>
                  <a:pt x="182" y="492"/>
                </a:cubicBezTo>
                <a:cubicBezTo>
                  <a:pt x="182" y="492"/>
                  <a:pt x="201" y="451"/>
                  <a:pt x="240" y="371"/>
                </a:cubicBezTo>
                <a:cubicBezTo>
                  <a:pt x="279" y="292"/>
                  <a:pt x="318" y="212"/>
                  <a:pt x="357" y="131"/>
                </a:cubicBezTo>
                <a:cubicBezTo>
                  <a:pt x="395" y="51"/>
                  <a:pt x="415" y="9"/>
                  <a:pt x="416" y="7"/>
                </a:cubicBezTo>
                <a:cubicBezTo>
                  <a:pt x="419" y="2"/>
                  <a:pt x="423" y="0"/>
                  <a:pt x="427" y="0"/>
                </a:cubicBezTo>
                <a:lnTo>
                  <a:pt x="701" y="0"/>
                </a:lnTo>
                <a:lnTo>
                  <a:pt x="701" y="22"/>
                </a:lnTo>
                <a:lnTo>
                  <a:pt x="434" y="22"/>
                </a:lnTo>
                <a:lnTo>
                  <a:pt x="308" y="284"/>
                </a:lnTo>
                <a:lnTo>
                  <a:pt x="175" y="557"/>
                </a:lnTo>
                <a:cubicBezTo>
                  <a:pt x="173" y="559"/>
                  <a:pt x="170" y="561"/>
                  <a:pt x="164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6" y="558"/>
                  <a:pt x="49" y="322"/>
                  <a:pt x="49" y="322"/>
                </a:cubicBezTo>
                <a:lnTo>
                  <a:pt x="12" y="34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4047840" y="231444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4215600" y="23086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4131720" y="20610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3900960" y="24829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−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4438080" y="27806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4438080" y="29138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4176720" y="2749680"/>
            <a:ext cx="252720" cy="193680"/>
          </a:xfrm>
          <a:custGeom>
            <a:avLst/>
            <a:gdLst/>
            <a:ahLst/>
            <a:rect l="0" t="0" r="r" b="b"/>
            <a:pathLst>
              <a:path w="702" h="538">
                <a:moveTo>
                  <a:pt x="13" y="349"/>
                </a:moveTo>
                <a:cubicBezTo>
                  <a:pt x="11" y="349"/>
                  <a:pt x="9" y="348"/>
                  <a:pt x="5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1" y="335"/>
                </a:cubicBezTo>
                <a:cubicBezTo>
                  <a:pt x="1" y="333"/>
                  <a:pt x="14" y="323"/>
                  <a:pt x="38" y="304"/>
                </a:cubicBezTo>
                <a:cubicBezTo>
                  <a:pt x="63" y="286"/>
                  <a:pt x="75" y="276"/>
                  <a:pt x="76" y="276"/>
                </a:cubicBezTo>
                <a:cubicBezTo>
                  <a:pt x="76" y="275"/>
                  <a:pt x="77" y="275"/>
                  <a:pt x="79" y="275"/>
                </a:cubicBezTo>
                <a:cubicBezTo>
                  <a:pt x="81" y="275"/>
                  <a:pt x="83" y="277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3" y="492"/>
                  <a:pt x="202" y="452"/>
                  <a:pt x="240" y="373"/>
                </a:cubicBezTo>
                <a:cubicBezTo>
                  <a:pt x="279" y="293"/>
                  <a:pt x="317" y="213"/>
                  <a:pt x="356" y="131"/>
                </a:cubicBezTo>
                <a:cubicBezTo>
                  <a:pt x="395" y="51"/>
                  <a:pt x="415" y="10"/>
                  <a:pt x="416" y="8"/>
                </a:cubicBezTo>
                <a:cubicBezTo>
                  <a:pt x="419" y="2"/>
                  <a:pt x="422" y="0"/>
                  <a:pt x="427" y="0"/>
                </a:cubicBezTo>
                <a:lnTo>
                  <a:pt x="702" y="0"/>
                </a:lnTo>
                <a:lnTo>
                  <a:pt x="702" y="22"/>
                </a:lnTo>
                <a:lnTo>
                  <a:pt x="433" y="22"/>
                </a:lnTo>
                <a:lnTo>
                  <a:pt x="307" y="285"/>
                </a:lnTo>
                <a:lnTo>
                  <a:pt x="184" y="538"/>
                </a:lnTo>
                <a:lnTo>
                  <a:pt x="148" y="538"/>
                </a:lnTo>
                <a:cubicBezTo>
                  <a:pt x="121" y="480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4162320" y="2714400"/>
            <a:ext cx="267120" cy="10080"/>
          </a:xfrm>
          <a:custGeom>
            <a:avLst/>
            <a:gdLst/>
            <a:ahLst/>
            <a:rect l="0" t="0" r="r" b="b"/>
            <a:pathLst>
              <a:path w="742" h="28">
                <a:moveTo>
                  <a:pt x="0" y="0"/>
                </a:moveTo>
                <a:lnTo>
                  <a:pt x="742" y="0"/>
                </a:lnTo>
                <a:lnTo>
                  <a:pt x="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4327920" y="27086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4243680" y="24609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4463280" y="2311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4"/>
                <a:ea typeface="KaTeX_Size4"/>
              </a:rPr>
              <a:t>]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5328360" y="2609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5707080" y="2609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6363720" y="2609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7749000" y="2609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9741240" y="2609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5328360" y="27424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5062680" y="2578320"/>
            <a:ext cx="252360" cy="193680"/>
          </a:xfrm>
          <a:custGeom>
            <a:avLst/>
            <a:gdLst/>
            <a:ahLst/>
            <a:rect l="0" t="0" r="r" b="b"/>
            <a:pathLst>
              <a:path w="701" h="538">
                <a:moveTo>
                  <a:pt x="13" y="349"/>
                </a:moveTo>
                <a:cubicBezTo>
                  <a:pt x="11" y="349"/>
                  <a:pt x="9" y="347"/>
                  <a:pt x="5" y="344"/>
                </a:cubicBezTo>
                <a:cubicBezTo>
                  <a:pt x="2" y="341"/>
                  <a:pt x="0" y="339"/>
                  <a:pt x="0" y="337"/>
                </a:cubicBezTo>
                <a:cubicBezTo>
                  <a:pt x="0" y="335"/>
                  <a:pt x="0" y="335"/>
                  <a:pt x="0" y="334"/>
                </a:cubicBezTo>
                <a:cubicBezTo>
                  <a:pt x="1" y="333"/>
                  <a:pt x="14" y="323"/>
                  <a:pt x="38" y="304"/>
                </a:cubicBezTo>
                <a:cubicBezTo>
                  <a:pt x="63" y="285"/>
                  <a:pt x="75" y="276"/>
                  <a:pt x="75" y="276"/>
                </a:cubicBezTo>
                <a:cubicBezTo>
                  <a:pt x="76" y="275"/>
                  <a:pt x="77" y="274"/>
                  <a:pt x="78" y="274"/>
                </a:cubicBezTo>
                <a:cubicBezTo>
                  <a:pt x="81" y="274"/>
                  <a:pt x="83" y="276"/>
                  <a:pt x="85" y="280"/>
                </a:cubicBezTo>
                <a:cubicBezTo>
                  <a:pt x="87" y="284"/>
                  <a:pt x="182" y="492"/>
                  <a:pt x="182" y="492"/>
                </a:cubicBezTo>
                <a:cubicBezTo>
                  <a:pt x="182" y="492"/>
                  <a:pt x="202" y="452"/>
                  <a:pt x="240" y="372"/>
                </a:cubicBezTo>
                <a:cubicBezTo>
                  <a:pt x="278" y="293"/>
                  <a:pt x="318" y="213"/>
                  <a:pt x="357" y="132"/>
                </a:cubicBezTo>
                <a:cubicBezTo>
                  <a:pt x="395" y="51"/>
                  <a:pt x="415" y="9"/>
                  <a:pt x="416" y="7"/>
                </a:cubicBezTo>
                <a:cubicBezTo>
                  <a:pt x="419" y="2"/>
                  <a:pt x="423" y="0"/>
                  <a:pt x="427" y="0"/>
                </a:cubicBezTo>
                <a:lnTo>
                  <a:pt x="701" y="0"/>
                </a:lnTo>
                <a:lnTo>
                  <a:pt x="701" y="22"/>
                </a:lnTo>
                <a:lnTo>
                  <a:pt x="434" y="22"/>
                </a:lnTo>
                <a:lnTo>
                  <a:pt x="308" y="285"/>
                </a:lnTo>
                <a:lnTo>
                  <a:pt x="184" y="538"/>
                </a:lnTo>
                <a:lnTo>
                  <a:pt x="148" y="538"/>
                </a:lnTo>
                <a:cubicBezTo>
                  <a:pt x="121" y="480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5047920" y="254304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5217840" y="25372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5133960" y="2289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5401080" y="2311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[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5553360" y="2139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5553360" y="24829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6097680" y="2139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5985720" y="2482920"/>
            <a:ext cx="3301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−1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6354360" y="2311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]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7130520" y="212436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H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7393320" y="2044800"/>
            <a:ext cx="4230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7130520" y="261036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H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7393320" y="2530440"/>
            <a:ext cx="4230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7809840" y="20448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8426880" y="23425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8452080" y="2044800"/>
            <a:ext cx="13327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1"/>
                <a:ea typeface="KaTeX_Size1"/>
              </a:rPr>
              <a:t>(</a:t>
            </a:r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+ ∣1⟩</a:t>
            </a:r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1"/>
                <a:ea typeface="KaTeX_Size1"/>
              </a:rPr>
              <a:t>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8426880" y="24663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8167680" y="230184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50"/>
                </a:moveTo>
                <a:cubicBezTo>
                  <a:pt x="12" y="350"/>
                  <a:pt x="9" y="348"/>
                  <a:pt x="5" y="345"/>
                </a:cubicBezTo>
                <a:cubicBezTo>
                  <a:pt x="2" y="342"/>
                  <a:pt x="0" y="340"/>
                  <a:pt x="0" y="337"/>
                </a:cubicBezTo>
                <a:cubicBezTo>
                  <a:pt x="0" y="336"/>
                  <a:pt x="0" y="335"/>
                  <a:pt x="1" y="335"/>
                </a:cubicBezTo>
                <a:cubicBezTo>
                  <a:pt x="1" y="334"/>
                  <a:pt x="14" y="323"/>
                  <a:pt x="39" y="305"/>
                </a:cubicBezTo>
                <a:cubicBezTo>
                  <a:pt x="64" y="286"/>
                  <a:pt x="76" y="277"/>
                  <a:pt x="77" y="276"/>
                </a:cubicBezTo>
                <a:cubicBezTo>
                  <a:pt x="77" y="276"/>
                  <a:pt x="78" y="275"/>
                  <a:pt x="80" y="275"/>
                </a:cubicBezTo>
                <a:cubicBezTo>
                  <a:pt x="82" y="275"/>
                  <a:pt x="84" y="277"/>
                  <a:pt x="86" y="281"/>
                </a:cubicBezTo>
                <a:cubicBezTo>
                  <a:pt x="88" y="285"/>
                  <a:pt x="183" y="492"/>
                  <a:pt x="183" y="492"/>
                </a:cubicBezTo>
                <a:cubicBezTo>
                  <a:pt x="184" y="492"/>
                  <a:pt x="203" y="453"/>
                  <a:pt x="241" y="373"/>
                </a:cubicBezTo>
                <a:cubicBezTo>
                  <a:pt x="280" y="294"/>
                  <a:pt x="318" y="214"/>
                  <a:pt x="357" y="133"/>
                </a:cubicBezTo>
                <a:cubicBezTo>
                  <a:pt x="396" y="52"/>
                  <a:pt x="416" y="10"/>
                  <a:pt x="417" y="8"/>
                </a:cubicBezTo>
                <a:cubicBezTo>
                  <a:pt x="420" y="3"/>
                  <a:pt x="423" y="0"/>
                  <a:pt x="428" y="0"/>
                </a:cubicBezTo>
                <a:lnTo>
                  <a:pt x="702" y="0"/>
                </a:lnTo>
                <a:lnTo>
                  <a:pt x="702" y="23"/>
                </a:lnTo>
                <a:lnTo>
                  <a:pt x="434" y="23"/>
                </a:lnTo>
                <a:lnTo>
                  <a:pt x="308" y="285"/>
                </a:lnTo>
                <a:lnTo>
                  <a:pt x="176" y="557"/>
                </a:lnTo>
                <a:cubicBezTo>
                  <a:pt x="175" y="560"/>
                  <a:pt x="171" y="561"/>
                  <a:pt x="166" y="561"/>
                </a:cubicBezTo>
                <a:cubicBezTo>
                  <a:pt x="162" y="561"/>
                  <a:pt x="160" y="561"/>
                  <a:pt x="159" y="560"/>
                </a:cubicBezTo>
                <a:cubicBezTo>
                  <a:pt x="158" y="559"/>
                  <a:pt x="49" y="323"/>
                  <a:pt x="49" y="323"/>
                </a:cubicBezTo>
                <a:lnTo>
                  <a:pt x="13" y="35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8153280" y="227628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8316360" y="2260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8232480" y="20228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7809840" y="25304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8426880" y="28281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8452080" y="2530440"/>
            <a:ext cx="13327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1"/>
                <a:ea typeface="KaTeX_Size1"/>
              </a:rPr>
              <a:t>(</a:t>
            </a:r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− ∣1⟩</a:t>
            </a:r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1"/>
                <a:ea typeface="KaTeX_Size1"/>
              </a:rPr>
              <a:t>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8426880" y="29520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8167680" y="278784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48"/>
                </a:moveTo>
                <a:cubicBezTo>
                  <a:pt x="12" y="348"/>
                  <a:pt x="9" y="346"/>
                  <a:pt x="5" y="344"/>
                </a:cubicBezTo>
                <a:cubicBezTo>
                  <a:pt x="2" y="341"/>
                  <a:pt x="0" y="338"/>
                  <a:pt x="0" y="336"/>
                </a:cubicBezTo>
                <a:cubicBezTo>
                  <a:pt x="0" y="335"/>
                  <a:pt x="0" y="334"/>
                  <a:pt x="1" y="333"/>
                </a:cubicBezTo>
                <a:cubicBezTo>
                  <a:pt x="1" y="332"/>
                  <a:pt x="14" y="322"/>
                  <a:pt x="39" y="303"/>
                </a:cubicBezTo>
                <a:cubicBezTo>
                  <a:pt x="64" y="285"/>
                  <a:pt x="76" y="275"/>
                  <a:pt x="77" y="275"/>
                </a:cubicBezTo>
                <a:cubicBezTo>
                  <a:pt x="77" y="274"/>
                  <a:pt x="78" y="274"/>
                  <a:pt x="80" y="274"/>
                </a:cubicBezTo>
                <a:cubicBezTo>
                  <a:pt x="82" y="274"/>
                  <a:pt x="84" y="275"/>
                  <a:pt x="86" y="279"/>
                </a:cubicBezTo>
                <a:cubicBezTo>
                  <a:pt x="88" y="283"/>
                  <a:pt x="183" y="492"/>
                  <a:pt x="183" y="492"/>
                </a:cubicBezTo>
                <a:cubicBezTo>
                  <a:pt x="184" y="492"/>
                  <a:pt x="203" y="452"/>
                  <a:pt x="241" y="372"/>
                </a:cubicBezTo>
                <a:cubicBezTo>
                  <a:pt x="280" y="292"/>
                  <a:pt x="318" y="212"/>
                  <a:pt x="357" y="131"/>
                </a:cubicBezTo>
                <a:cubicBezTo>
                  <a:pt x="396" y="51"/>
                  <a:pt x="416" y="9"/>
                  <a:pt x="417" y="8"/>
                </a:cubicBezTo>
                <a:cubicBezTo>
                  <a:pt x="420" y="2"/>
                  <a:pt x="423" y="0"/>
                  <a:pt x="428" y="0"/>
                </a:cubicBezTo>
                <a:lnTo>
                  <a:pt x="702" y="0"/>
                </a:lnTo>
                <a:lnTo>
                  <a:pt x="702" y="22"/>
                </a:lnTo>
                <a:lnTo>
                  <a:pt x="434" y="22"/>
                </a:lnTo>
                <a:lnTo>
                  <a:pt x="308" y="284"/>
                </a:lnTo>
                <a:lnTo>
                  <a:pt x="176" y="557"/>
                </a:lnTo>
                <a:cubicBezTo>
                  <a:pt x="175" y="559"/>
                  <a:pt x="171" y="561"/>
                  <a:pt x="166" y="561"/>
                </a:cubicBezTo>
                <a:cubicBezTo>
                  <a:pt x="162" y="561"/>
                  <a:pt x="160" y="560"/>
                  <a:pt x="159" y="559"/>
                </a:cubicBezTo>
                <a:cubicBezTo>
                  <a:pt x="158" y="558"/>
                  <a:pt x="49" y="322"/>
                  <a:pt x="49" y="322"/>
                </a:cubicBezTo>
                <a:lnTo>
                  <a:pt x="13" y="34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8153280" y="2761920"/>
            <a:ext cx="267120" cy="10080"/>
          </a:xfrm>
          <a:custGeom>
            <a:avLst/>
            <a:gdLst/>
            <a:ahLst/>
            <a:rect l="0" t="0" r="r" b="b"/>
            <a:pathLst>
              <a:path w="742" h="28">
                <a:moveTo>
                  <a:pt x="0" y="0"/>
                </a:moveTo>
                <a:lnTo>
                  <a:pt x="742" y="0"/>
                </a:lnTo>
                <a:lnTo>
                  <a:pt x="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8316360" y="2746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14" name=""/>
          <p:cNvPicPr/>
          <p:nvPr/>
        </p:nvPicPr>
        <p:blipFill>
          <a:blip r:embed="rId1"/>
          <a:stretch/>
        </p:blipFill>
        <p:spPr>
          <a:xfrm>
            <a:off x="752400" y="3152880"/>
            <a:ext cx="4571640" cy="19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5" name=""/>
          <p:cNvSpPr txBox="1"/>
          <p:nvPr/>
        </p:nvSpPr>
        <p:spPr>
          <a:xfrm>
            <a:off x="8232480" y="25084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6238800" y="3298320"/>
            <a:ext cx="5205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In a diagram, a one-qubit gate is a square with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17" name=""/>
          <p:cNvPicPr/>
          <p:nvPr/>
        </p:nvPicPr>
        <p:blipFill>
          <a:blip r:embed="rId2"/>
          <a:stretch/>
        </p:blipFill>
        <p:spPr>
          <a:xfrm>
            <a:off x="6238800" y="4152960"/>
            <a:ext cx="2761920" cy="84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8" name=""/>
          <p:cNvSpPr txBox="1"/>
          <p:nvPr/>
        </p:nvSpPr>
        <p:spPr>
          <a:xfrm>
            <a:off x="6238800" y="3650760"/>
            <a:ext cx="14655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its letter in it: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747720" y="731520"/>
            <a:ext cx="43383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Why Hadamard, speciﬁcally?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747720" y="1534680"/>
            <a:ext cx="4755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1561320" y="1534680"/>
            <a:ext cx="2935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is not a choice. Without it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5990760" y="1534680"/>
            <a:ext cx="12398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has length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7875720" y="153468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752400" y="3085920"/>
            <a:ext cx="1762200" cy="495720"/>
          </a:xfrm>
          <a:custGeom>
            <a:avLst/>
            <a:gdLst/>
            <a:ahLst/>
            <a:rect l="0" t="0" r="r" b="b"/>
            <a:pathLst>
              <a:path w="4895" h="1377">
                <a:moveTo>
                  <a:pt x="0" y="0"/>
                </a:moveTo>
                <a:lnTo>
                  <a:pt x="4895" y="0"/>
                </a:lnTo>
                <a:lnTo>
                  <a:pt x="489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2514240" y="3085920"/>
            <a:ext cx="857880" cy="495720"/>
          </a:xfrm>
          <a:custGeom>
            <a:avLst/>
            <a:gdLst/>
            <a:ahLst/>
            <a:rect l="0" t="0" r="r" b="b"/>
            <a:pathLst>
              <a:path w="2383" h="1377">
                <a:moveTo>
                  <a:pt x="0" y="0"/>
                </a:moveTo>
                <a:lnTo>
                  <a:pt x="2383" y="0"/>
                </a:lnTo>
                <a:lnTo>
                  <a:pt x="238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3371760" y="3085920"/>
            <a:ext cx="848160" cy="495720"/>
          </a:xfrm>
          <a:custGeom>
            <a:avLst/>
            <a:gdLst/>
            <a:ahLst/>
            <a:rect l="0" t="0" r="r" b="b"/>
            <a:pathLst>
              <a:path w="2356" h="1377">
                <a:moveTo>
                  <a:pt x="0" y="0"/>
                </a:moveTo>
                <a:lnTo>
                  <a:pt x="2356" y="0"/>
                </a:lnTo>
                <a:lnTo>
                  <a:pt x="235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752400" y="3581280"/>
            <a:ext cx="1762200" cy="505080"/>
          </a:xfrm>
          <a:custGeom>
            <a:avLst/>
            <a:gdLst/>
            <a:ahLst/>
            <a:rect l="0" t="0" r="r" b="b"/>
            <a:pathLst>
              <a:path w="4895" h="1403">
                <a:moveTo>
                  <a:pt x="0" y="0"/>
                </a:moveTo>
                <a:lnTo>
                  <a:pt x="4895" y="0"/>
                </a:lnTo>
                <a:lnTo>
                  <a:pt x="4895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2514240" y="3581280"/>
            <a:ext cx="857880" cy="505080"/>
          </a:xfrm>
          <a:custGeom>
            <a:avLst/>
            <a:gdLst/>
            <a:ahLst/>
            <a:rect l="0" t="0" r="r" b="b"/>
            <a:pathLst>
              <a:path w="2383" h="1403">
                <a:moveTo>
                  <a:pt x="0" y="0"/>
                </a:moveTo>
                <a:lnTo>
                  <a:pt x="2383" y="0"/>
                </a:lnTo>
                <a:lnTo>
                  <a:pt x="238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3371760" y="3581280"/>
            <a:ext cx="848160" cy="505080"/>
          </a:xfrm>
          <a:custGeom>
            <a:avLst/>
            <a:gdLst/>
            <a:ahLst/>
            <a:rect l="0" t="0" r="r" b="b"/>
            <a:pathLst>
              <a:path w="2356" h="1403">
                <a:moveTo>
                  <a:pt x="0" y="0"/>
                </a:moveTo>
                <a:lnTo>
                  <a:pt x="2356" y="0"/>
                </a:lnTo>
                <a:lnTo>
                  <a:pt x="2356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752400" y="4086000"/>
            <a:ext cx="1762200" cy="495720"/>
          </a:xfrm>
          <a:custGeom>
            <a:avLst/>
            <a:gdLst/>
            <a:ahLst/>
            <a:rect l="0" t="0" r="r" b="b"/>
            <a:pathLst>
              <a:path w="4895" h="1377">
                <a:moveTo>
                  <a:pt x="0" y="0"/>
                </a:moveTo>
                <a:lnTo>
                  <a:pt x="4895" y="0"/>
                </a:lnTo>
                <a:lnTo>
                  <a:pt x="489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2514240" y="4086000"/>
            <a:ext cx="857880" cy="495720"/>
          </a:xfrm>
          <a:custGeom>
            <a:avLst/>
            <a:gdLst/>
            <a:ahLst/>
            <a:rect l="0" t="0" r="r" b="b"/>
            <a:pathLst>
              <a:path w="2383" h="1377">
                <a:moveTo>
                  <a:pt x="0" y="0"/>
                </a:moveTo>
                <a:lnTo>
                  <a:pt x="2383" y="0"/>
                </a:lnTo>
                <a:lnTo>
                  <a:pt x="238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3371760" y="4086000"/>
            <a:ext cx="848160" cy="495720"/>
          </a:xfrm>
          <a:custGeom>
            <a:avLst/>
            <a:gdLst/>
            <a:ahLst/>
            <a:rect l="0" t="0" r="r" b="b"/>
            <a:pathLst>
              <a:path w="2356" h="1377">
                <a:moveTo>
                  <a:pt x="0" y="0"/>
                </a:moveTo>
                <a:lnTo>
                  <a:pt x="2356" y="0"/>
                </a:lnTo>
                <a:lnTo>
                  <a:pt x="235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752400" y="4581360"/>
            <a:ext cx="1762200" cy="495720"/>
          </a:xfrm>
          <a:custGeom>
            <a:avLst/>
            <a:gdLst/>
            <a:ahLst/>
            <a:rect l="0" t="0" r="r" b="b"/>
            <a:pathLst>
              <a:path w="4895" h="1377">
                <a:moveTo>
                  <a:pt x="0" y="0"/>
                </a:moveTo>
                <a:lnTo>
                  <a:pt x="4895" y="0"/>
                </a:lnTo>
                <a:lnTo>
                  <a:pt x="489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2514240" y="4581360"/>
            <a:ext cx="857880" cy="495720"/>
          </a:xfrm>
          <a:custGeom>
            <a:avLst/>
            <a:gdLst/>
            <a:ahLst/>
            <a:rect l="0" t="0" r="r" b="b"/>
            <a:pathLst>
              <a:path w="2383" h="1377">
                <a:moveTo>
                  <a:pt x="0" y="0"/>
                </a:moveTo>
                <a:lnTo>
                  <a:pt x="2383" y="0"/>
                </a:lnTo>
                <a:lnTo>
                  <a:pt x="238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3371760" y="4581360"/>
            <a:ext cx="848160" cy="495720"/>
          </a:xfrm>
          <a:custGeom>
            <a:avLst/>
            <a:gdLst/>
            <a:ahLst/>
            <a:rect l="0" t="0" r="r" b="b"/>
            <a:pathLst>
              <a:path w="2356" h="1377">
                <a:moveTo>
                  <a:pt x="0" y="0"/>
                </a:moveTo>
                <a:lnTo>
                  <a:pt x="2356" y="0"/>
                </a:lnTo>
                <a:lnTo>
                  <a:pt x="235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752400" y="308592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752400" y="3085920"/>
            <a:ext cx="1771920" cy="9720"/>
          </a:xfrm>
          <a:custGeom>
            <a:avLst/>
            <a:gdLst/>
            <a:ahLst/>
            <a:rect l="0" t="0" r="r" b="b"/>
            <a:pathLst>
              <a:path w="4922" h="27">
                <a:moveTo>
                  <a:pt x="0" y="0"/>
                </a:moveTo>
                <a:lnTo>
                  <a:pt x="4922" y="0"/>
                </a:lnTo>
                <a:lnTo>
                  <a:pt x="49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2514240" y="308592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2523960" y="308592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3362040" y="308592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3371760" y="308592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4209840" y="308592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752400" y="3581280"/>
            <a:ext cx="1771920" cy="9720"/>
          </a:xfrm>
          <a:custGeom>
            <a:avLst/>
            <a:gdLst/>
            <a:ahLst/>
            <a:rect l="0" t="0" r="r" b="b"/>
            <a:pathLst>
              <a:path w="4922" h="27">
                <a:moveTo>
                  <a:pt x="0" y="0"/>
                </a:moveTo>
                <a:lnTo>
                  <a:pt x="4922" y="0"/>
                </a:lnTo>
                <a:lnTo>
                  <a:pt x="49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2523960" y="358128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3371760" y="358128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752400" y="359064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2514240" y="359064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3362040" y="359064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4209840" y="359064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752400" y="408600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752400" y="4076640"/>
            <a:ext cx="1771920" cy="9720"/>
          </a:xfrm>
          <a:custGeom>
            <a:avLst/>
            <a:gdLst/>
            <a:ahLst/>
            <a:rect l="0" t="0" r="r" b="b"/>
            <a:pathLst>
              <a:path w="4922" h="27">
                <a:moveTo>
                  <a:pt x="0" y="0"/>
                </a:moveTo>
                <a:lnTo>
                  <a:pt x="4922" y="0"/>
                </a:lnTo>
                <a:lnTo>
                  <a:pt x="49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2514240" y="408600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2523960" y="407664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3362040" y="408600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3371760" y="407664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4209840" y="408600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752400" y="459072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752400" y="4581360"/>
            <a:ext cx="1771920" cy="9720"/>
          </a:xfrm>
          <a:custGeom>
            <a:avLst/>
            <a:gdLst/>
            <a:ahLst/>
            <a:rect l="0" t="0" r="r" b="b"/>
            <a:pathLst>
              <a:path w="4922" h="27">
                <a:moveTo>
                  <a:pt x="0" y="0"/>
                </a:moveTo>
                <a:lnTo>
                  <a:pt x="4922" y="0"/>
                </a:lnTo>
                <a:lnTo>
                  <a:pt x="49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2514240" y="459072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2523960" y="458136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3362040" y="459072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3371760" y="458136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4209840" y="459072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752400" y="5076720"/>
            <a:ext cx="1771920" cy="9720"/>
          </a:xfrm>
          <a:custGeom>
            <a:avLst/>
            <a:gdLst/>
            <a:ahLst/>
            <a:rect l="0" t="0" r="r" b="b"/>
            <a:pathLst>
              <a:path w="4922" h="27">
                <a:moveTo>
                  <a:pt x="0" y="0"/>
                </a:moveTo>
                <a:lnTo>
                  <a:pt x="4922" y="0"/>
                </a:lnTo>
                <a:lnTo>
                  <a:pt x="49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2523960" y="507672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3371760" y="507672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747720" y="2079000"/>
            <a:ext cx="77353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so the probabilities would sum to 2. Every gate must preserve length.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747720" y="2583720"/>
            <a:ext cx="42688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Plenty of gates make superposition: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2705760" y="3669840"/>
            <a:ext cx="4723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0.75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3556440" y="3669840"/>
            <a:ext cx="4723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0.25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2705760" y="4165200"/>
            <a:ext cx="4723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0.50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3556440" y="4165200"/>
            <a:ext cx="4723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0.50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2705760" y="4660200"/>
            <a:ext cx="4723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0.25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3556440" y="4660200"/>
            <a:ext cx="4723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0.75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1774080" y="5250960"/>
            <a:ext cx="40528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gives the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same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equal superposition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 txBox="1"/>
          <p:nvPr/>
        </p:nvSpPr>
        <p:spPr>
          <a:xfrm>
            <a:off x="747720" y="5622480"/>
            <a:ext cx="3099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as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 txBox="1"/>
          <p:nvPr/>
        </p:nvSpPr>
        <p:spPr>
          <a:xfrm>
            <a:off x="1320120" y="5622480"/>
            <a:ext cx="12704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does from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 txBox="1"/>
          <p:nvPr/>
        </p:nvSpPr>
        <p:spPr>
          <a:xfrm>
            <a:off x="2923560" y="562248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6238800" y="2964960"/>
            <a:ext cx="10497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But only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 txBox="1"/>
          <p:nvPr/>
        </p:nvSpPr>
        <p:spPr>
          <a:xfrm>
            <a:off x="7552440" y="2964960"/>
            <a:ext cx="16588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undoes itself: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6699240" y="3515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H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 txBox="1"/>
          <p:nvPr/>
        </p:nvSpPr>
        <p:spPr>
          <a:xfrm>
            <a:off x="7157160" y="34354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 txBox="1"/>
          <p:nvPr/>
        </p:nvSpPr>
        <p:spPr>
          <a:xfrm>
            <a:off x="6962040" y="34135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7461360" y="3515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8186760" y="3515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 txBox="1"/>
          <p:nvPr/>
        </p:nvSpPr>
        <p:spPr>
          <a:xfrm>
            <a:off x="8525880" y="37332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8525880" y="34354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8638200" y="3515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π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 txBox="1"/>
          <p:nvPr/>
        </p:nvSpPr>
        <p:spPr>
          <a:xfrm>
            <a:off x="8812800" y="3435480"/>
            <a:ext cx="3589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/2)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 txBox="1"/>
          <p:nvPr/>
        </p:nvSpPr>
        <p:spPr>
          <a:xfrm>
            <a:off x="9408240" y="34354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 txBox="1"/>
          <p:nvPr/>
        </p:nvSpPr>
        <p:spPr>
          <a:xfrm>
            <a:off x="8405640" y="3631320"/>
            <a:ext cx="20124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 txBox="1"/>
          <p:nvPr/>
        </p:nvSpPr>
        <p:spPr>
          <a:xfrm>
            <a:off x="9213120" y="34135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9712440" y="3515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 txBox="1"/>
          <p:nvPr/>
        </p:nvSpPr>
        <p:spPr>
          <a:xfrm>
            <a:off x="10051560" y="37332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 txBox="1"/>
          <p:nvPr/>
        </p:nvSpPr>
        <p:spPr>
          <a:xfrm>
            <a:off x="10051560" y="34354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10163880" y="3515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π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10338480" y="3435480"/>
            <a:ext cx="3268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)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 txBox="1"/>
          <p:nvPr/>
        </p:nvSpPr>
        <p:spPr>
          <a:xfrm>
            <a:off x="9931320" y="3631320"/>
            <a:ext cx="20124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 txBox="1"/>
          <p:nvPr/>
        </p:nvSpPr>
        <p:spPr>
          <a:xfrm>
            <a:off x="10530360" y="34354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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 txBox="1"/>
          <p:nvPr/>
        </p:nvSpPr>
        <p:spPr>
          <a:xfrm>
            <a:off x="10834560" y="3515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 txBox="1"/>
          <p:nvPr/>
        </p:nvSpPr>
        <p:spPr>
          <a:xfrm>
            <a:off x="6238800" y="4022280"/>
            <a:ext cx="16574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They agree on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 txBox="1"/>
          <p:nvPr/>
        </p:nvSpPr>
        <p:spPr>
          <a:xfrm>
            <a:off x="8225280" y="4022280"/>
            <a:ext cx="1568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and diﬀer on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 txBox="1"/>
          <p:nvPr/>
        </p:nvSpPr>
        <p:spPr>
          <a:xfrm>
            <a:off x="10132200" y="4022280"/>
            <a:ext cx="8139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— that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6238800" y="4374720"/>
            <a:ext cx="30322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diﬀerence </a:t>
            </a:r>
            <a:r>
              <a:rPr lang="en-US" sz="1870" b="0" i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is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 involution.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6501600" y="4888800"/>
            <a:ext cx="31168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is a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basis change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between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9840600" y="4888800"/>
            <a:ext cx="550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and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10653120" y="4888800"/>
            <a:ext cx="552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and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 txBox="1"/>
          <p:nvPr/>
        </p:nvSpPr>
        <p:spPr>
          <a:xfrm>
            <a:off x="6238800" y="5260320"/>
            <a:ext cx="45612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swapping bases twice returns you home.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 txBox="1"/>
          <p:nvPr/>
        </p:nvSpPr>
        <p:spPr>
          <a:xfrm>
            <a:off x="747720" y="6192000"/>
            <a:ext cx="66135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Every protocol here leans on that: the Bell circuit, Bob's decoder, BB84's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 txBox="1"/>
          <p:nvPr/>
        </p:nvSpPr>
        <p:spPr>
          <a:xfrm>
            <a:off x="7524360" y="6192000"/>
            <a:ext cx="192312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-basis measurement.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 txBox="1"/>
          <p:nvPr/>
        </p:nvSpPr>
        <p:spPr>
          <a:xfrm>
            <a:off x="1536480" y="1780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1536480" y="19044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1271520" y="173988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49"/>
                </a:moveTo>
                <a:cubicBezTo>
                  <a:pt x="12" y="349"/>
                  <a:pt x="9" y="347"/>
                  <a:pt x="6" y="344"/>
                </a:cubicBezTo>
                <a:cubicBezTo>
                  <a:pt x="2" y="341"/>
                  <a:pt x="0" y="339"/>
                  <a:pt x="0" y="336"/>
                </a:cubicBezTo>
                <a:cubicBezTo>
                  <a:pt x="0" y="335"/>
                  <a:pt x="0" y="334"/>
                  <a:pt x="1" y="334"/>
                </a:cubicBezTo>
                <a:cubicBezTo>
                  <a:pt x="2" y="333"/>
                  <a:pt x="14" y="322"/>
                  <a:pt x="39" y="304"/>
                </a:cubicBezTo>
                <a:cubicBezTo>
                  <a:pt x="63" y="285"/>
                  <a:pt x="76" y="276"/>
                  <a:pt x="76" y="275"/>
                </a:cubicBezTo>
                <a:cubicBezTo>
                  <a:pt x="77" y="275"/>
                  <a:pt x="78" y="274"/>
                  <a:pt x="79" y="274"/>
                </a:cubicBezTo>
                <a:cubicBezTo>
                  <a:pt x="81" y="274"/>
                  <a:pt x="84" y="276"/>
                  <a:pt x="85" y="280"/>
                </a:cubicBezTo>
                <a:cubicBezTo>
                  <a:pt x="87" y="283"/>
                  <a:pt x="182" y="492"/>
                  <a:pt x="182" y="492"/>
                </a:cubicBezTo>
                <a:cubicBezTo>
                  <a:pt x="183" y="492"/>
                  <a:pt x="202" y="452"/>
                  <a:pt x="241" y="372"/>
                </a:cubicBezTo>
                <a:cubicBezTo>
                  <a:pt x="279" y="293"/>
                  <a:pt x="318" y="213"/>
                  <a:pt x="357" y="132"/>
                </a:cubicBezTo>
                <a:cubicBezTo>
                  <a:pt x="396" y="51"/>
                  <a:pt x="416" y="10"/>
                  <a:pt x="417" y="8"/>
                </a:cubicBezTo>
                <a:cubicBezTo>
                  <a:pt x="420" y="3"/>
                  <a:pt x="424" y="0"/>
                  <a:pt x="428" y="0"/>
                </a:cubicBezTo>
                <a:lnTo>
                  <a:pt x="702" y="0"/>
                </a:lnTo>
                <a:lnTo>
                  <a:pt x="702" y="23"/>
                </a:lnTo>
                <a:lnTo>
                  <a:pt x="434" y="23"/>
                </a:lnTo>
                <a:lnTo>
                  <a:pt x="307" y="284"/>
                </a:lnTo>
                <a:lnTo>
                  <a:pt x="176" y="557"/>
                </a:lnTo>
                <a:cubicBezTo>
                  <a:pt x="174" y="560"/>
                  <a:pt x="171" y="561"/>
                  <a:pt x="165" y="561"/>
                </a:cubicBezTo>
                <a:cubicBezTo>
                  <a:pt x="162" y="561"/>
                  <a:pt x="159" y="561"/>
                  <a:pt x="158" y="560"/>
                </a:cubicBezTo>
                <a:cubicBezTo>
                  <a:pt x="157" y="558"/>
                  <a:pt x="50" y="322"/>
                  <a:pt x="50" y="322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1257120" y="171432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1425960" y="17085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1342080" y="14608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4807080" y="1780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5463720" y="1780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5654520" y="1481400"/>
            <a:ext cx="4230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4501080" y="1482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[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4653360" y="13111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4653360" y="1654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5197680" y="13111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 txBox="1"/>
          <p:nvPr/>
        </p:nvSpPr>
        <p:spPr>
          <a:xfrm>
            <a:off x="5085720" y="1654200"/>
            <a:ext cx="3301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−1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 txBox="1"/>
          <p:nvPr/>
        </p:nvSpPr>
        <p:spPr>
          <a:xfrm>
            <a:off x="5454360" y="1482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ize3"/>
                <a:ea typeface="KaTeX_Size3"/>
              </a:rPr>
              <a:t>]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 txBox="1"/>
          <p:nvPr/>
        </p:nvSpPr>
        <p:spPr>
          <a:xfrm>
            <a:off x="7427160" y="1482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 txBox="1"/>
          <p:nvPr/>
        </p:nvSpPr>
        <p:spPr>
          <a:xfrm>
            <a:off x="7232040" y="14702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 txBox="1"/>
          <p:nvPr/>
        </p:nvSpPr>
        <p:spPr>
          <a:xfrm>
            <a:off x="7731360" y="1482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 txBox="1"/>
          <p:nvPr/>
        </p:nvSpPr>
        <p:spPr>
          <a:xfrm>
            <a:off x="2645280" y="31914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P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 txBox="1"/>
          <p:nvPr/>
        </p:nvSpPr>
        <p:spPr>
          <a:xfrm>
            <a:off x="2870280" y="3111480"/>
            <a:ext cx="3384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(0)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 txBox="1"/>
          <p:nvPr/>
        </p:nvSpPr>
        <p:spPr>
          <a:xfrm>
            <a:off x="3495960" y="31914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P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 txBox="1"/>
          <p:nvPr/>
        </p:nvSpPr>
        <p:spPr>
          <a:xfrm>
            <a:off x="3720960" y="3111480"/>
            <a:ext cx="3384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(1)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880920" y="36864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 txBox="1"/>
          <p:nvPr/>
        </p:nvSpPr>
        <p:spPr>
          <a:xfrm>
            <a:off x="1220040" y="3904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 txBox="1"/>
          <p:nvPr/>
        </p:nvSpPr>
        <p:spPr>
          <a:xfrm>
            <a:off x="1220040" y="360684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 txBox="1"/>
          <p:nvPr/>
        </p:nvSpPr>
        <p:spPr>
          <a:xfrm>
            <a:off x="1332360" y="36864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π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 txBox="1"/>
          <p:nvPr/>
        </p:nvSpPr>
        <p:spPr>
          <a:xfrm>
            <a:off x="1506960" y="3606840"/>
            <a:ext cx="7812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/3)∣0⟩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 txBox="1"/>
          <p:nvPr/>
        </p:nvSpPr>
        <p:spPr>
          <a:xfrm>
            <a:off x="1099800" y="3802680"/>
            <a:ext cx="20124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 txBox="1"/>
          <p:nvPr/>
        </p:nvSpPr>
        <p:spPr>
          <a:xfrm>
            <a:off x="880920" y="418176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1220040" y="4399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1220040" y="4102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 txBox="1"/>
          <p:nvPr/>
        </p:nvSpPr>
        <p:spPr>
          <a:xfrm>
            <a:off x="1332360" y="418176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π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1506960" y="4102200"/>
            <a:ext cx="7812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/2)∣0⟩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1099800" y="4298040"/>
            <a:ext cx="20124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880920" y="46868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1220040" y="48952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1220040" y="46069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(2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 txBox="1"/>
          <p:nvPr/>
        </p:nvSpPr>
        <p:spPr>
          <a:xfrm>
            <a:off x="1476360" y="46868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π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 txBox="1"/>
          <p:nvPr/>
        </p:nvSpPr>
        <p:spPr>
          <a:xfrm>
            <a:off x="1650960" y="4606920"/>
            <a:ext cx="7812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/3)∣0⟩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1099800" y="4793400"/>
            <a:ext cx="20124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747720" y="52772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 txBox="1"/>
          <p:nvPr/>
        </p:nvSpPr>
        <p:spPr>
          <a:xfrm>
            <a:off x="1086840" y="54954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1086840" y="519732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 txBox="1"/>
          <p:nvPr/>
        </p:nvSpPr>
        <p:spPr>
          <a:xfrm>
            <a:off x="1198800" y="52772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π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1373400" y="5197320"/>
            <a:ext cx="3589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/2)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966600" y="5383800"/>
            <a:ext cx="20124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 txBox="1"/>
          <p:nvPr/>
        </p:nvSpPr>
        <p:spPr>
          <a:xfrm>
            <a:off x="1057320" y="564876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H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2587320" y="5568840"/>
            <a:ext cx="4230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7289640" y="29912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H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7888680" y="3968640"/>
            <a:ext cx="4230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9795600" y="3968640"/>
            <a:ext cx="4230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6238800" y="4915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H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9623160" y="4915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10391760" y="4915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 txBox="1"/>
          <p:nvPr/>
        </p:nvSpPr>
        <p:spPr>
          <a:xfrm>
            <a:off x="7310160" y="621360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747720" y="740880"/>
            <a:ext cx="64483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Involutions — gates that undo themselves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752400" y="1981080"/>
            <a:ext cx="933840" cy="390960"/>
          </a:xfrm>
          <a:custGeom>
            <a:avLst/>
            <a:gdLst/>
            <a:ahLst/>
            <a:rect l="0" t="0" r="r" b="b"/>
            <a:pathLst>
              <a:path w="2594" h="1086">
                <a:moveTo>
                  <a:pt x="0" y="0"/>
                </a:moveTo>
                <a:lnTo>
                  <a:pt x="2594" y="0"/>
                </a:lnTo>
                <a:lnTo>
                  <a:pt x="2594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1685880" y="1981080"/>
            <a:ext cx="885960" cy="390960"/>
          </a:xfrm>
          <a:custGeom>
            <a:avLst/>
            <a:gdLst/>
            <a:ahLst/>
            <a:rect l="0" t="0" r="r" b="b"/>
            <a:pathLst>
              <a:path w="2461" h="1086">
                <a:moveTo>
                  <a:pt x="0" y="0"/>
                </a:moveTo>
                <a:lnTo>
                  <a:pt x="2461" y="0"/>
                </a:lnTo>
                <a:lnTo>
                  <a:pt x="2461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2571480" y="1981080"/>
            <a:ext cx="2200680" cy="390960"/>
          </a:xfrm>
          <a:custGeom>
            <a:avLst/>
            <a:gdLst/>
            <a:ahLst/>
            <a:rect l="0" t="0" r="r" b="b"/>
            <a:pathLst>
              <a:path w="6113" h="1086">
                <a:moveTo>
                  <a:pt x="0" y="0"/>
                </a:moveTo>
                <a:lnTo>
                  <a:pt x="6113" y="0"/>
                </a:lnTo>
                <a:lnTo>
                  <a:pt x="6113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752400" y="2371680"/>
            <a:ext cx="933840" cy="400320"/>
          </a:xfrm>
          <a:custGeom>
            <a:avLst/>
            <a:gdLst/>
            <a:ahLst/>
            <a:rect l="0" t="0" r="r" b="b"/>
            <a:pathLst>
              <a:path w="2594" h="1112">
                <a:moveTo>
                  <a:pt x="0" y="0"/>
                </a:moveTo>
                <a:lnTo>
                  <a:pt x="2594" y="0"/>
                </a:lnTo>
                <a:lnTo>
                  <a:pt x="2594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1685880" y="2371680"/>
            <a:ext cx="885960" cy="400320"/>
          </a:xfrm>
          <a:custGeom>
            <a:avLst/>
            <a:gdLst/>
            <a:ahLst/>
            <a:rect l="0" t="0" r="r" b="b"/>
            <a:pathLst>
              <a:path w="2461" h="1112">
                <a:moveTo>
                  <a:pt x="0" y="0"/>
                </a:moveTo>
                <a:lnTo>
                  <a:pt x="2461" y="0"/>
                </a:lnTo>
                <a:lnTo>
                  <a:pt x="2461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2571480" y="2371680"/>
            <a:ext cx="2200680" cy="400320"/>
          </a:xfrm>
          <a:custGeom>
            <a:avLst/>
            <a:gdLst/>
            <a:ahLst/>
            <a:rect l="0" t="0" r="r" b="b"/>
            <a:pathLst>
              <a:path w="6113" h="1112">
                <a:moveTo>
                  <a:pt x="0" y="0"/>
                </a:moveTo>
                <a:lnTo>
                  <a:pt x="6113" y="0"/>
                </a:lnTo>
                <a:lnTo>
                  <a:pt x="6113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752400" y="2771640"/>
            <a:ext cx="933840" cy="400320"/>
          </a:xfrm>
          <a:custGeom>
            <a:avLst/>
            <a:gdLst/>
            <a:ahLst/>
            <a:rect l="0" t="0" r="r" b="b"/>
            <a:pathLst>
              <a:path w="2594" h="1112">
                <a:moveTo>
                  <a:pt x="0" y="0"/>
                </a:moveTo>
                <a:lnTo>
                  <a:pt x="2594" y="0"/>
                </a:lnTo>
                <a:lnTo>
                  <a:pt x="2594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1685880" y="2771640"/>
            <a:ext cx="885960" cy="400320"/>
          </a:xfrm>
          <a:custGeom>
            <a:avLst/>
            <a:gdLst/>
            <a:ahLst/>
            <a:rect l="0" t="0" r="r" b="b"/>
            <a:pathLst>
              <a:path w="2461" h="1112">
                <a:moveTo>
                  <a:pt x="0" y="0"/>
                </a:moveTo>
                <a:lnTo>
                  <a:pt x="2461" y="0"/>
                </a:lnTo>
                <a:lnTo>
                  <a:pt x="2461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2571480" y="2771640"/>
            <a:ext cx="2200680" cy="400320"/>
          </a:xfrm>
          <a:custGeom>
            <a:avLst/>
            <a:gdLst/>
            <a:ahLst/>
            <a:rect l="0" t="0" r="r" b="b"/>
            <a:pathLst>
              <a:path w="6113" h="1112">
                <a:moveTo>
                  <a:pt x="0" y="0"/>
                </a:moveTo>
                <a:lnTo>
                  <a:pt x="6113" y="0"/>
                </a:lnTo>
                <a:lnTo>
                  <a:pt x="6113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752400" y="3171600"/>
            <a:ext cx="933840" cy="400320"/>
          </a:xfrm>
          <a:custGeom>
            <a:avLst/>
            <a:gdLst/>
            <a:ahLst/>
            <a:rect l="0" t="0" r="r" b="b"/>
            <a:pathLst>
              <a:path w="2594" h="1112">
                <a:moveTo>
                  <a:pt x="0" y="0"/>
                </a:moveTo>
                <a:lnTo>
                  <a:pt x="2594" y="0"/>
                </a:lnTo>
                <a:lnTo>
                  <a:pt x="2594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1685880" y="3171600"/>
            <a:ext cx="885960" cy="400320"/>
          </a:xfrm>
          <a:custGeom>
            <a:avLst/>
            <a:gdLst/>
            <a:ahLst/>
            <a:rect l="0" t="0" r="r" b="b"/>
            <a:pathLst>
              <a:path w="2461" h="1112">
                <a:moveTo>
                  <a:pt x="0" y="0"/>
                </a:moveTo>
                <a:lnTo>
                  <a:pt x="2461" y="0"/>
                </a:lnTo>
                <a:lnTo>
                  <a:pt x="2461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2571480" y="3171600"/>
            <a:ext cx="2200680" cy="400320"/>
          </a:xfrm>
          <a:custGeom>
            <a:avLst/>
            <a:gdLst/>
            <a:ahLst/>
            <a:rect l="0" t="0" r="r" b="b"/>
            <a:pathLst>
              <a:path w="6113" h="1112">
                <a:moveTo>
                  <a:pt x="0" y="0"/>
                </a:moveTo>
                <a:lnTo>
                  <a:pt x="6113" y="0"/>
                </a:lnTo>
                <a:lnTo>
                  <a:pt x="6113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752400" y="3571560"/>
            <a:ext cx="933840" cy="400680"/>
          </a:xfrm>
          <a:custGeom>
            <a:avLst/>
            <a:gdLst/>
            <a:ahLst/>
            <a:rect l="0" t="0" r="r" b="b"/>
            <a:pathLst>
              <a:path w="2594" h="1113">
                <a:moveTo>
                  <a:pt x="0" y="0"/>
                </a:moveTo>
                <a:lnTo>
                  <a:pt x="2594" y="0"/>
                </a:lnTo>
                <a:lnTo>
                  <a:pt x="2594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1685880" y="3571560"/>
            <a:ext cx="885960" cy="400680"/>
          </a:xfrm>
          <a:custGeom>
            <a:avLst/>
            <a:gdLst/>
            <a:ahLst/>
            <a:rect l="0" t="0" r="r" b="b"/>
            <a:pathLst>
              <a:path w="2461" h="1113">
                <a:moveTo>
                  <a:pt x="0" y="0"/>
                </a:moveTo>
                <a:lnTo>
                  <a:pt x="2461" y="0"/>
                </a:lnTo>
                <a:lnTo>
                  <a:pt x="2461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2571480" y="3571560"/>
            <a:ext cx="2200680" cy="400680"/>
          </a:xfrm>
          <a:custGeom>
            <a:avLst/>
            <a:gdLst/>
            <a:ahLst/>
            <a:rect l="0" t="0" r="r" b="b"/>
            <a:pathLst>
              <a:path w="6113" h="1113">
                <a:moveTo>
                  <a:pt x="0" y="0"/>
                </a:moveTo>
                <a:lnTo>
                  <a:pt x="6113" y="0"/>
                </a:lnTo>
                <a:lnTo>
                  <a:pt x="6113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752400" y="3971880"/>
            <a:ext cx="933840" cy="390600"/>
          </a:xfrm>
          <a:custGeom>
            <a:avLst/>
            <a:gdLst/>
            <a:ahLst/>
            <a:rect l="0" t="0" r="r" b="b"/>
            <a:pathLst>
              <a:path w="2594" h="1085">
                <a:moveTo>
                  <a:pt x="0" y="0"/>
                </a:moveTo>
                <a:lnTo>
                  <a:pt x="2594" y="0"/>
                </a:lnTo>
                <a:lnTo>
                  <a:pt x="2594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1685880" y="3971880"/>
            <a:ext cx="885960" cy="390600"/>
          </a:xfrm>
          <a:custGeom>
            <a:avLst/>
            <a:gdLst/>
            <a:ahLst/>
            <a:rect l="0" t="0" r="r" b="b"/>
            <a:pathLst>
              <a:path w="2461" h="1085">
                <a:moveTo>
                  <a:pt x="0" y="0"/>
                </a:moveTo>
                <a:lnTo>
                  <a:pt x="2461" y="0"/>
                </a:lnTo>
                <a:lnTo>
                  <a:pt x="2461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2571480" y="3971880"/>
            <a:ext cx="2200680" cy="390600"/>
          </a:xfrm>
          <a:custGeom>
            <a:avLst/>
            <a:gdLst/>
            <a:ahLst/>
            <a:rect l="0" t="0" r="r" b="b"/>
            <a:pathLst>
              <a:path w="6113" h="1085">
                <a:moveTo>
                  <a:pt x="0" y="0"/>
                </a:moveTo>
                <a:lnTo>
                  <a:pt x="6113" y="0"/>
                </a:lnTo>
                <a:lnTo>
                  <a:pt x="6113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752400" y="4362120"/>
            <a:ext cx="933840" cy="390960"/>
          </a:xfrm>
          <a:custGeom>
            <a:avLst/>
            <a:gdLst/>
            <a:ahLst/>
            <a:rect l="0" t="0" r="r" b="b"/>
            <a:pathLst>
              <a:path w="2594" h="1086">
                <a:moveTo>
                  <a:pt x="0" y="0"/>
                </a:moveTo>
                <a:lnTo>
                  <a:pt x="2594" y="0"/>
                </a:lnTo>
                <a:lnTo>
                  <a:pt x="2594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1685880" y="4362120"/>
            <a:ext cx="885960" cy="390960"/>
          </a:xfrm>
          <a:custGeom>
            <a:avLst/>
            <a:gdLst/>
            <a:ahLst/>
            <a:rect l="0" t="0" r="r" b="b"/>
            <a:pathLst>
              <a:path w="2461" h="1086">
                <a:moveTo>
                  <a:pt x="0" y="0"/>
                </a:moveTo>
                <a:lnTo>
                  <a:pt x="2461" y="0"/>
                </a:lnTo>
                <a:lnTo>
                  <a:pt x="2461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2571480" y="4362120"/>
            <a:ext cx="2200680" cy="390960"/>
          </a:xfrm>
          <a:custGeom>
            <a:avLst/>
            <a:gdLst/>
            <a:ahLst/>
            <a:rect l="0" t="0" r="r" b="b"/>
            <a:pathLst>
              <a:path w="6113" h="1086">
                <a:moveTo>
                  <a:pt x="0" y="0"/>
                </a:moveTo>
                <a:lnTo>
                  <a:pt x="6113" y="0"/>
                </a:lnTo>
                <a:lnTo>
                  <a:pt x="6113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752400" y="4752720"/>
            <a:ext cx="933840" cy="390960"/>
          </a:xfrm>
          <a:custGeom>
            <a:avLst/>
            <a:gdLst/>
            <a:ahLst/>
            <a:rect l="0" t="0" r="r" b="b"/>
            <a:pathLst>
              <a:path w="2594" h="1086">
                <a:moveTo>
                  <a:pt x="0" y="0"/>
                </a:moveTo>
                <a:lnTo>
                  <a:pt x="2594" y="0"/>
                </a:lnTo>
                <a:lnTo>
                  <a:pt x="2594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1685880" y="4752720"/>
            <a:ext cx="885960" cy="390960"/>
          </a:xfrm>
          <a:custGeom>
            <a:avLst/>
            <a:gdLst/>
            <a:ahLst/>
            <a:rect l="0" t="0" r="r" b="b"/>
            <a:pathLst>
              <a:path w="2461" h="1086">
                <a:moveTo>
                  <a:pt x="0" y="0"/>
                </a:moveTo>
                <a:lnTo>
                  <a:pt x="2461" y="0"/>
                </a:lnTo>
                <a:lnTo>
                  <a:pt x="2461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2571480" y="4752720"/>
            <a:ext cx="2200680" cy="390960"/>
          </a:xfrm>
          <a:custGeom>
            <a:avLst/>
            <a:gdLst/>
            <a:ahLst/>
            <a:rect l="0" t="0" r="r" b="b"/>
            <a:pathLst>
              <a:path w="6113" h="1086">
                <a:moveTo>
                  <a:pt x="0" y="0"/>
                </a:moveTo>
                <a:lnTo>
                  <a:pt x="6113" y="0"/>
                </a:lnTo>
                <a:lnTo>
                  <a:pt x="6113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752400" y="5143320"/>
            <a:ext cx="933840" cy="390960"/>
          </a:xfrm>
          <a:custGeom>
            <a:avLst/>
            <a:gdLst/>
            <a:ahLst/>
            <a:rect l="0" t="0" r="r" b="b"/>
            <a:pathLst>
              <a:path w="2594" h="1086">
                <a:moveTo>
                  <a:pt x="0" y="0"/>
                </a:moveTo>
                <a:lnTo>
                  <a:pt x="2594" y="0"/>
                </a:lnTo>
                <a:lnTo>
                  <a:pt x="2594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1685880" y="5143320"/>
            <a:ext cx="885960" cy="390960"/>
          </a:xfrm>
          <a:custGeom>
            <a:avLst/>
            <a:gdLst/>
            <a:ahLst/>
            <a:rect l="0" t="0" r="r" b="b"/>
            <a:pathLst>
              <a:path w="2461" h="1086">
                <a:moveTo>
                  <a:pt x="0" y="0"/>
                </a:moveTo>
                <a:lnTo>
                  <a:pt x="2461" y="0"/>
                </a:lnTo>
                <a:lnTo>
                  <a:pt x="2461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2571480" y="5143320"/>
            <a:ext cx="2200680" cy="390960"/>
          </a:xfrm>
          <a:custGeom>
            <a:avLst/>
            <a:gdLst/>
            <a:ahLst/>
            <a:rect l="0" t="0" r="r" b="b"/>
            <a:pathLst>
              <a:path w="6113" h="1086">
                <a:moveTo>
                  <a:pt x="0" y="0"/>
                </a:moveTo>
                <a:lnTo>
                  <a:pt x="6113" y="0"/>
                </a:lnTo>
                <a:lnTo>
                  <a:pt x="6113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752400" y="198108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752400" y="198108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1676160" y="198108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1685880" y="198108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2571480" y="198108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2581200" y="198108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4771800" y="198108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752400" y="237168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1685880" y="237168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2581200" y="237168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752400" y="238104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1676160" y="238104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2571480" y="238104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4771800" y="238104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752400" y="2781000"/>
            <a:ext cx="9720" cy="400680"/>
          </a:xfrm>
          <a:custGeom>
            <a:avLst/>
            <a:gdLst/>
            <a:ahLst/>
            <a:rect l="0" t="0" r="r" b="b"/>
            <a:pathLst>
              <a:path w="27" h="1113">
                <a:moveTo>
                  <a:pt x="0" y="0"/>
                </a:moveTo>
                <a:lnTo>
                  <a:pt x="27" y="0"/>
                </a:lnTo>
                <a:lnTo>
                  <a:pt x="27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752400" y="277164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1676160" y="2781000"/>
            <a:ext cx="10080" cy="400680"/>
          </a:xfrm>
          <a:custGeom>
            <a:avLst/>
            <a:gdLst/>
            <a:ahLst/>
            <a:rect l="0" t="0" r="r" b="b"/>
            <a:pathLst>
              <a:path w="28" h="1113">
                <a:moveTo>
                  <a:pt x="0" y="0"/>
                </a:moveTo>
                <a:lnTo>
                  <a:pt x="28" y="0"/>
                </a:lnTo>
                <a:lnTo>
                  <a:pt x="28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1685880" y="277164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2571480" y="2781000"/>
            <a:ext cx="10080" cy="400680"/>
          </a:xfrm>
          <a:custGeom>
            <a:avLst/>
            <a:gdLst/>
            <a:ahLst/>
            <a:rect l="0" t="0" r="r" b="b"/>
            <a:pathLst>
              <a:path w="28" h="1113">
                <a:moveTo>
                  <a:pt x="0" y="0"/>
                </a:moveTo>
                <a:lnTo>
                  <a:pt x="28" y="0"/>
                </a:lnTo>
                <a:lnTo>
                  <a:pt x="28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2581200" y="277164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4771800" y="2781000"/>
            <a:ext cx="10080" cy="400680"/>
          </a:xfrm>
          <a:custGeom>
            <a:avLst/>
            <a:gdLst/>
            <a:ahLst/>
            <a:rect l="0" t="0" r="r" b="b"/>
            <a:pathLst>
              <a:path w="28" h="1113">
                <a:moveTo>
                  <a:pt x="0" y="0"/>
                </a:moveTo>
                <a:lnTo>
                  <a:pt x="28" y="0"/>
                </a:lnTo>
                <a:lnTo>
                  <a:pt x="28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752400" y="318132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752400" y="317160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1676160" y="318132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1685880" y="3171600"/>
            <a:ext cx="895680" cy="10080"/>
          </a:xfrm>
          <a:custGeom>
            <a:avLst/>
            <a:gdLst/>
            <a:ahLst/>
            <a:rect l="0" t="0" r="r" b="b"/>
            <a:pathLst>
              <a:path w="2488" h="28">
                <a:moveTo>
                  <a:pt x="0" y="0"/>
                </a:moveTo>
                <a:lnTo>
                  <a:pt x="2488" y="0"/>
                </a:lnTo>
                <a:lnTo>
                  <a:pt x="24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2571480" y="318132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2581200" y="3171600"/>
            <a:ext cx="2200680" cy="10080"/>
          </a:xfrm>
          <a:custGeom>
            <a:avLst/>
            <a:gdLst/>
            <a:ahLst/>
            <a:rect l="0" t="0" r="r" b="b"/>
            <a:pathLst>
              <a:path w="6113" h="28">
                <a:moveTo>
                  <a:pt x="0" y="0"/>
                </a:moveTo>
                <a:lnTo>
                  <a:pt x="6113" y="0"/>
                </a:lnTo>
                <a:lnTo>
                  <a:pt x="61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4771800" y="318132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752400" y="358128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752400" y="357156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1676160" y="358128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1685880" y="3571560"/>
            <a:ext cx="895680" cy="10080"/>
          </a:xfrm>
          <a:custGeom>
            <a:avLst/>
            <a:gdLst/>
            <a:ahLst/>
            <a:rect l="0" t="0" r="r" b="b"/>
            <a:pathLst>
              <a:path w="2488" h="28">
                <a:moveTo>
                  <a:pt x="0" y="0"/>
                </a:moveTo>
                <a:lnTo>
                  <a:pt x="2488" y="0"/>
                </a:lnTo>
                <a:lnTo>
                  <a:pt x="24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2571480" y="358128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2581200" y="3571560"/>
            <a:ext cx="2200680" cy="10080"/>
          </a:xfrm>
          <a:custGeom>
            <a:avLst/>
            <a:gdLst/>
            <a:ahLst/>
            <a:rect l="0" t="0" r="r" b="b"/>
            <a:pathLst>
              <a:path w="6113" h="28">
                <a:moveTo>
                  <a:pt x="0" y="0"/>
                </a:moveTo>
                <a:lnTo>
                  <a:pt x="6113" y="0"/>
                </a:lnTo>
                <a:lnTo>
                  <a:pt x="61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4771800" y="358128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752400" y="39812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752400" y="397188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1676160" y="3981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1685880" y="397188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2571480" y="3981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2581200" y="397188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4771800" y="3981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752400" y="43621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752400" y="435276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1676160" y="43621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1685880" y="435276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2571480" y="43621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2581200" y="435276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4771800" y="43621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752400" y="47527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752400" y="474336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1676160" y="47527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1685880" y="474336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2571480" y="47527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2581200" y="474336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4771800" y="47527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752400" y="51433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752400" y="513396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1676160" y="51433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1685880" y="513396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2571480" y="51433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2581200" y="513396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4771800" y="51433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752400" y="552420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1685880" y="5524200"/>
            <a:ext cx="895680" cy="10080"/>
          </a:xfrm>
          <a:custGeom>
            <a:avLst/>
            <a:gdLst/>
            <a:ahLst/>
            <a:rect l="0" t="0" r="r" b="b"/>
            <a:pathLst>
              <a:path w="2488" h="28">
                <a:moveTo>
                  <a:pt x="0" y="0"/>
                </a:moveTo>
                <a:lnTo>
                  <a:pt x="2488" y="0"/>
                </a:lnTo>
                <a:lnTo>
                  <a:pt x="24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2581200" y="5524200"/>
            <a:ext cx="2200680" cy="10080"/>
          </a:xfrm>
          <a:custGeom>
            <a:avLst/>
            <a:gdLst/>
            <a:ahLst/>
            <a:rect l="0" t="0" r="r" b="b"/>
            <a:pathLst>
              <a:path w="6113" h="28">
                <a:moveTo>
                  <a:pt x="0" y="0"/>
                </a:moveTo>
                <a:lnTo>
                  <a:pt x="6113" y="0"/>
                </a:lnTo>
                <a:lnTo>
                  <a:pt x="61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 txBox="1"/>
          <p:nvPr/>
        </p:nvSpPr>
        <p:spPr>
          <a:xfrm>
            <a:off x="747720" y="1473480"/>
            <a:ext cx="42019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Applying one twice returns the input: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 txBox="1"/>
          <p:nvPr/>
        </p:nvSpPr>
        <p:spPr>
          <a:xfrm>
            <a:off x="859680" y="2038680"/>
            <a:ext cx="48492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Gate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1791000" y="2038680"/>
            <a:ext cx="68148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Qubits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2682720" y="2038680"/>
            <a:ext cx="12884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What it does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 txBox="1"/>
          <p:nvPr/>
        </p:nvSpPr>
        <p:spPr>
          <a:xfrm>
            <a:off x="2071080" y="2428920"/>
            <a:ext cx="20448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 txBox="1"/>
          <p:nvPr/>
        </p:nvSpPr>
        <p:spPr>
          <a:xfrm>
            <a:off x="2682720" y="2428920"/>
            <a:ext cx="6548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swaps 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 txBox="1"/>
          <p:nvPr/>
        </p:nvSpPr>
        <p:spPr>
          <a:xfrm>
            <a:off x="2071080" y="2829240"/>
            <a:ext cx="20448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 txBox="1"/>
          <p:nvPr/>
        </p:nvSpPr>
        <p:spPr>
          <a:xfrm>
            <a:off x="2682720" y="2829240"/>
            <a:ext cx="186192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swaps, with phases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 txBox="1"/>
          <p:nvPr/>
        </p:nvSpPr>
        <p:spPr>
          <a:xfrm>
            <a:off x="2071080" y="3229200"/>
            <a:ext cx="20448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2682720" y="3229200"/>
            <a:ext cx="112176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sign ﬂip on 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 txBox="1"/>
          <p:nvPr/>
        </p:nvSpPr>
        <p:spPr>
          <a:xfrm>
            <a:off x="2071080" y="3629160"/>
            <a:ext cx="20448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 txBox="1"/>
          <p:nvPr/>
        </p:nvSpPr>
        <p:spPr>
          <a:xfrm>
            <a:off x="2682720" y="3629160"/>
            <a:ext cx="125748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basis change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 txBox="1"/>
          <p:nvPr/>
        </p:nvSpPr>
        <p:spPr>
          <a:xfrm>
            <a:off x="859680" y="4019760"/>
            <a:ext cx="56232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CNOT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 txBox="1"/>
          <p:nvPr/>
        </p:nvSpPr>
        <p:spPr>
          <a:xfrm>
            <a:off x="2071080" y="4019760"/>
            <a:ext cx="20448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2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 txBox="1"/>
          <p:nvPr/>
        </p:nvSpPr>
        <p:spPr>
          <a:xfrm>
            <a:off x="2682720" y="4019760"/>
            <a:ext cx="15984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ﬂip if control is 1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 txBox="1"/>
          <p:nvPr/>
        </p:nvSpPr>
        <p:spPr>
          <a:xfrm>
            <a:off x="859680" y="4410360"/>
            <a:ext cx="56088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SWAP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 txBox="1"/>
          <p:nvPr/>
        </p:nvSpPr>
        <p:spPr>
          <a:xfrm>
            <a:off x="2071080" y="4410360"/>
            <a:ext cx="20448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2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 txBox="1"/>
          <p:nvPr/>
        </p:nvSpPr>
        <p:spPr>
          <a:xfrm>
            <a:off x="2682720" y="4410360"/>
            <a:ext cx="172152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exchange the two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 txBox="1"/>
          <p:nvPr/>
        </p:nvSpPr>
        <p:spPr>
          <a:xfrm>
            <a:off x="859680" y="4800600"/>
            <a:ext cx="6116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Toﬀoli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 txBox="1"/>
          <p:nvPr/>
        </p:nvSpPr>
        <p:spPr>
          <a:xfrm>
            <a:off x="2071080" y="4800600"/>
            <a:ext cx="20448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3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 txBox="1"/>
          <p:nvPr/>
        </p:nvSpPr>
        <p:spPr>
          <a:xfrm>
            <a:off x="2682720" y="4800600"/>
            <a:ext cx="19980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ﬂip if both controls 1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 txBox="1"/>
          <p:nvPr/>
        </p:nvSpPr>
        <p:spPr>
          <a:xfrm>
            <a:off x="859680" y="5191200"/>
            <a:ext cx="7250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Fredkin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 txBox="1"/>
          <p:nvPr/>
        </p:nvSpPr>
        <p:spPr>
          <a:xfrm>
            <a:off x="2071080" y="5191200"/>
            <a:ext cx="20448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3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91" name=""/>
          <p:cNvPicPr/>
          <p:nvPr/>
        </p:nvPicPr>
        <p:blipFill>
          <a:blip r:embed="rId1"/>
          <a:stretch/>
        </p:blipFill>
        <p:spPr>
          <a:xfrm>
            <a:off x="6238800" y="1981080"/>
            <a:ext cx="4285800" cy="172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2" name=""/>
          <p:cNvSpPr txBox="1"/>
          <p:nvPr/>
        </p:nvSpPr>
        <p:spPr>
          <a:xfrm>
            <a:off x="2682720" y="5191200"/>
            <a:ext cx="179712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swap if control is 1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6238800" y="3955320"/>
            <a:ext cx="28407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At the barrier the state is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 txBox="1"/>
          <p:nvPr/>
        </p:nvSpPr>
        <p:spPr>
          <a:xfrm>
            <a:off x="11072520" y="395532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 txBox="1"/>
          <p:nvPr/>
        </p:nvSpPr>
        <p:spPr>
          <a:xfrm>
            <a:off x="6238800" y="4374720"/>
            <a:ext cx="4762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Run the same two gates again and you are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 txBox="1"/>
          <p:nvPr/>
        </p:nvSpPr>
        <p:spPr>
          <a:xfrm>
            <a:off x="6238800" y="4736520"/>
            <a:ext cx="8643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back at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 txBox="1"/>
          <p:nvPr/>
        </p:nvSpPr>
        <p:spPr>
          <a:xfrm>
            <a:off x="7584480" y="473652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 txBox="1"/>
          <p:nvPr/>
        </p:nvSpPr>
        <p:spPr>
          <a:xfrm>
            <a:off x="6238800" y="5287320"/>
            <a:ext cx="479484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That "un-preparing" step is exactly what Bob does in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 txBox="1"/>
          <p:nvPr/>
        </p:nvSpPr>
        <p:spPr>
          <a:xfrm>
            <a:off x="6238800" y="5649120"/>
            <a:ext cx="420840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superdense coding, and Alice in teleportation.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 txBox="1"/>
          <p:nvPr/>
        </p:nvSpPr>
        <p:spPr>
          <a:xfrm>
            <a:off x="6000480" y="17139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5037120" y="1505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U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 txBox="1"/>
          <p:nvPr/>
        </p:nvSpPr>
        <p:spPr>
          <a:xfrm>
            <a:off x="5460480" y="14256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 txBox="1"/>
          <p:nvPr/>
        </p:nvSpPr>
        <p:spPr>
          <a:xfrm>
            <a:off x="5764680" y="1505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4957560" y="1385640"/>
            <a:ext cx="1038600" cy="438480"/>
          </a:xfrm>
          <a:custGeom>
            <a:avLst/>
            <a:gdLst/>
            <a:ahLst/>
            <a:rect l="0" t="0" r="r" b="b"/>
            <a:pathLst>
              <a:path w="2885" h="1218">
                <a:moveTo>
                  <a:pt x="0" y="0"/>
                </a:moveTo>
                <a:lnTo>
                  <a:pt x="2885" y="0"/>
                </a:lnTo>
                <a:lnTo>
                  <a:pt x="2885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 txBox="1"/>
          <p:nvPr/>
        </p:nvSpPr>
        <p:spPr>
          <a:xfrm>
            <a:off x="5265360" y="13942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 txBox="1"/>
          <p:nvPr/>
        </p:nvSpPr>
        <p:spPr>
          <a:xfrm>
            <a:off x="859680" y="245160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 txBox="1"/>
          <p:nvPr/>
        </p:nvSpPr>
        <p:spPr>
          <a:xfrm>
            <a:off x="3333960" y="2383200"/>
            <a:ext cx="116856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↔ ∣1⟩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859680" y="2851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859680" y="32518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 txBox="1"/>
          <p:nvPr/>
        </p:nvSpPr>
        <p:spPr>
          <a:xfrm>
            <a:off x="3798720" y="3183120"/>
            <a:ext cx="32580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 txBox="1"/>
          <p:nvPr/>
        </p:nvSpPr>
        <p:spPr>
          <a:xfrm>
            <a:off x="859680" y="364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H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 txBox="1"/>
          <p:nvPr/>
        </p:nvSpPr>
        <p:spPr>
          <a:xfrm>
            <a:off x="9396360" y="41997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 txBox="1"/>
          <p:nvPr/>
        </p:nvSpPr>
        <p:spPr>
          <a:xfrm>
            <a:off x="9421560" y="3902040"/>
            <a:ext cx="8272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∣00⟩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 txBox="1"/>
          <p:nvPr/>
        </p:nvSpPr>
        <p:spPr>
          <a:xfrm>
            <a:off x="9396360" y="4333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9129600" y="4168800"/>
            <a:ext cx="262080" cy="201960"/>
          </a:xfrm>
          <a:custGeom>
            <a:avLst/>
            <a:gdLst/>
            <a:ahLst/>
            <a:rect l="0" t="0" r="r" b="b"/>
            <a:pathLst>
              <a:path w="728" h="561">
                <a:moveTo>
                  <a:pt x="13" y="348"/>
                </a:moveTo>
                <a:cubicBezTo>
                  <a:pt x="12" y="348"/>
                  <a:pt x="9" y="347"/>
                  <a:pt x="6" y="344"/>
                </a:cubicBezTo>
                <a:cubicBezTo>
                  <a:pt x="3" y="341"/>
                  <a:pt x="0" y="338"/>
                  <a:pt x="0" y="336"/>
                </a:cubicBezTo>
                <a:cubicBezTo>
                  <a:pt x="0" y="335"/>
                  <a:pt x="1" y="334"/>
                  <a:pt x="1" y="334"/>
                </a:cubicBezTo>
                <a:cubicBezTo>
                  <a:pt x="2" y="332"/>
                  <a:pt x="14" y="322"/>
                  <a:pt x="39" y="304"/>
                </a:cubicBezTo>
                <a:cubicBezTo>
                  <a:pt x="64" y="285"/>
                  <a:pt x="76" y="275"/>
                  <a:pt x="76" y="275"/>
                </a:cubicBezTo>
                <a:cubicBezTo>
                  <a:pt x="77" y="274"/>
                  <a:pt x="78" y="274"/>
                  <a:pt x="79" y="274"/>
                </a:cubicBezTo>
                <a:cubicBezTo>
                  <a:pt x="81" y="274"/>
                  <a:pt x="84" y="276"/>
                  <a:pt x="86" y="280"/>
                </a:cubicBezTo>
                <a:cubicBezTo>
                  <a:pt x="87" y="283"/>
                  <a:pt x="182" y="492"/>
                  <a:pt x="182" y="492"/>
                </a:cubicBezTo>
                <a:cubicBezTo>
                  <a:pt x="183" y="492"/>
                  <a:pt x="202" y="452"/>
                  <a:pt x="241" y="372"/>
                </a:cubicBezTo>
                <a:cubicBezTo>
                  <a:pt x="279" y="292"/>
                  <a:pt x="318" y="212"/>
                  <a:pt x="356" y="132"/>
                </a:cubicBezTo>
                <a:cubicBezTo>
                  <a:pt x="395" y="51"/>
                  <a:pt x="416" y="10"/>
                  <a:pt x="417" y="8"/>
                </a:cubicBezTo>
                <a:cubicBezTo>
                  <a:pt x="420" y="3"/>
                  <a:pt x="424" y="0"/>
                  <a:pt x="428" y="0"/>
                </a:cubicBezTo>
                <a:lnTo>
                  <a:pt x="728" y="0"/>
                </a:lnTo>
                <a:lnTo>
                  <a:pt x="728" y="23"/>
                </a:lnTo>
                <a:lnTo>
                  <a:pt x="434" y="23"/>
                </a:lnTo>
                <a:lnTo>
                  <a:pt x="307" y="284"/>
                </a:lnTo>
                <a:lnTo>
                  <a:pt x="176" y="557"/>
                </a:lnTo>
                <a:cubicBezTo>
                  <a:pt x="174" y="560"/>
                  <a:pt x="171" y="561"/>
                  <a:pt x="165" y="561"/>
                </a:cubicBezTo>
                <a:cubicBezTo>
                  <a:pt x="162" y="561"/>
                  <a:pt x="159" y="561"/>
                  <a:pt x="158" y="559"/>
                </a:cubicBezTo>
                <a:cubicBezTo>
                  <a:pt x="157" y="558"/>
                  <a:pt x="50" y="322"/>
                  <a:pt x="50" y="322"/>
                </a:cubicBezTo>
                <a:lnTo>
                  <a:pt x="13" y="34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9115200" y="4133520"/>
            <a:ext cx="276480" cy="10080"/>
          </a:xfrm>
          <a:custGeom>
            <a:avLst/>
            <a:gdLst/>
            <a:ahLst/>
            <a:rect l="0" t="0" r="r" b="b"/>
            <a:pathLst>
              <a:path w="768" h="28">
                <a:moveTo>
                  <a:pt x="0" y="0"/>
                </a:moveTo>
                <a:lnTo>
                  <a:pt x="768" y="0"/>
                </a:lnTo>
                <a:lnTo>
                  <a:pt x="7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9285840" y="4127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9201960" y="38800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10567080" y="41997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 txBox="1"/>
          <p:nvPr/>
        </p:nvSpPr>
        <p:spPr>
          <a:xfrm>
            <a:off x="10591920" y="3902040"/>
            <a:ext cx="5878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∣11⟩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10567080" y="4333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10301400" y="4168800"/>
            <a:ext cx="252360" cy="201960"/>
          </a:xfrm>
          <a:custGeom>
            <a:avLst/>
            <a:gdLst/>
            <a:ahLst/>
            <a:rect l="0" t="0" r="r" b="b"/>
            <a:pathLst>
              <a:path w="701" h="561">
                <a:moveTo>
                  <a:pt x="13" y="348"/>
                </a:moveTo>
                <a:cubicBezTo>
                  <a:pt x="11" y="348"/>
                  <a:pt x="9" y="347"/>
                  <a:pt x="5" y="344"/>
                </a:cubicBezTo>
                <a:cubicBezTo>
                  <a:pt x="2" y="341"/>
                  <a:pt x="0" y="338"/>
                  <a:pt x="0" y="336"/>
                </a:cubicBezTo>
                <a:cubicBezTo>
                  <a:pt x="0" y="335"/>
                  <a:pt x="0" y="334"/>
                  <a:pt x="0" y="334"/>
                </a:cubicBezTo>
                <a:cubicBezTo>
                  <a:pt x="1" y="332"/>
                  <a:pt x="14" y="322"/>
                  <a:pt x="38" y="304"/>
                </a:cubicBezTo>
                <a:cubicBezTo>
                  <a:pt x="63" y="285"/>
                  <a:pt x="75" y="275"/>
                  <a:pt x="75" y="275"/>
                </a:cubicBezTo>
                <a:cubicBezTo>
                  <a:pt x="76" y="274"/>
                  <a:pt x="77" y="274"/>
                  <a:pt x="78" y="274"/>
                </a:cubicBezTo>
                <a:cubicBezTo>
                  <a:pt x="81" y="274"/>
                  <a:pt x="83" y="276"/>
                  <a:pt x="85" y="280"/>
                </a:cubicBezTo>
                <a:cubicBezTo>
                  <a:pt x="87" y="283"/>
                  <a:pt x="182" y="492"/>
                  <a:pt x="182" y="492"/>
                </a:cubicBezTo>
                <a:cubicBezTo>
                  <a:pt x="182" y="492"/>
                  <a:pt x="202" y="452"/>
                  <a:pt x="240" y="372"/>
                </a:cubicBezTo>
                <a:cubicBezTo>
                  <a:pt x="279" y="292"/>
                  <a:pt x="317" y="212"/>
                  <a:pt x="356" y="132"/>
                </a:cubicBezTo>
                <a:cubicBezTo>
                  <a:pt x="394" y="51"/>
                  <a:pt x="414" y="10"/>
                  <a:pt x="415" y="8"/>
                </a:cubicBezTo>
                <a:cubicBezTo>
                  <a:pt x="418" y="3"/>
                  <a:pt x="422" y="0"/>
                  <a:pt x="427" y="0"/>
                </a:cubicBezTo>
                <a:lnTo>
                  <a:pt x="701" y="0"/>
                </a:lnTo>
                <a:lnTo>
                  <a:pt x="701" y="23"/>
                </a:lnTo>
                <a:lnTo>
                  <a:pt x="433" y="23"/>
                </a:lnTo>
                <a:lnTo>
                  <a:pt x="307" y="284"/>
                </a:lnTo>
                <a:lnTo>
                  <a:pt x="175" y="557"/>
                </a:lnTo>
                <a:cubicBezTo>
                  <a:pt x="174" y="560"/>
                  <a:pt x="170" y="561"/>
                  <a:pt x="164" y="561"/>
                </a:cubicBezTo>
                <a:cubicBezTo>
                  <a:pt x="161" y="561"/>
                  <a:pt x="159" y="561"/>
                  <a:pt x="158" y="559"/>
                </a:cubicBezTo>
                <a:cubicBezTo>
                  <a:pt x="157" y="558"/>
                  <a:pt x="49" y="322"/>
                  <a:pt x="49" y="322"/>
                </a:cubicBezTo>
                <a:lnTo>
                  <a:pt x="13" y="34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10286640" y="4133520"/>
            <a:ext cx="267120" cy="10080"/>
          </a:xfrm>
          <a:custGeom>
            <a:avLst/>
            <a:gdLst/>
            <a:ahLst/>
            <a:rect l="0" t="0" r="r" b="b"/>
            <a:pathLst>
              <a:path w="742" h="28">
                <a:moveTo>
                  <a:pt x="0" y="0"/>
                </a:moveTo>
                <a:lnTo>
                  <a:pt x="742" y="0"/>
                </a:lnTo>
                <a:lnTo>
                  <a:pt x="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10456560" y="41277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10372680" y="38800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7103880" y="4683240"/>
            <a:ext cx="5878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∣00⟩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747720" y="883800"/>
            <a:ext cx="507780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CNOT, and making entanglement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32" name=""/>
          <p:cNvPicPr/>
          <p:nvPr/>
        </p:nvPicPr>
        <p:blipFill>
          <a:blip r:embed="rId1"/>
          <a:stretch/>
        </p:blipFill>
        <p:spPr>
          <a:xfrm>
            <a:off x="752400" y="2038320"/>
            <a:ext cx="3619080" cy="261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3" name=""/>
          <p:cNvSpPr/>
          <p:nvPr/>
        </p:nvSpPr>
        <p:spPr>
          <a:xfrm>
            <a:off x="6243480" y="2881080"/>
            <a:ext cx="5200920" cy="1019520"/>
          </a:xfrm>
          <a:custGeom>
            <a:avLst/>
            <a:gdLst/>
            <a:ahLst/>
            <a:rect l="0" t="0" r="r" b="b"/>
            <a:pathLst>
              <a:path w="14447" h="2832">
                <a:moveTo>
                  <a:pt x="0" y="268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14302" y="0"/>
                </a:lnTo>
                <a:cubicBezTo>
                  <a:pt x="14311" y="0"/>
                  <a:pt x="14321" y="1"/>
                  <a:pt x="14330" y="3"/>
                </a:cubicBezTo>
                <a:cubicBezTo>
                  <a:pt x="14339" y="5"/>
                  <a:pt x="14349" y="8"/>
                  <a:pt x="14357" y="11"/>
                </a:cubicBezTo>
                <a:cubicBezTo>
                  <a:pt x="14366" y="15"/>
                  <a:pt x="14375" y="19"/>
                  <a:pt x="14383" y="25"/>
                </a:cubicBezTo>
                <a:cubicBezTo>
                  <a:pt x="14390" y="30"/>
                  <a:pt x="14398" y="36"/>
                  <a:pt x="14405" y="43"/>
                </a:cubicBezTo>
                <a:cubicBezTo>
                  <a:pt x="14411" y="50"/>
                  <a:pt x="14417" y="57"/>
                  <a:pt x="14423" y="65"/>
                </a:cubicBezTo>
                <a:cubicBezTo>
                  <a:pt x="14428" y="73"/>
                  <a:pt x="14432" y="81"/>
                  <a:pt x="14436" y="90"/>
                </a:cubicBezTo>
                <a:cubicBezTo>
                  <a:pt x="14440" y="99"/>
                  <a:pt x="14443" y="108"/>
                  <a:pt x="14444" y="117"/>
                </a:cubicBezTo>
                <a:cubicBezTo>
                  <a:pt x="14446" y="127"/>
                  <a:pt x="14447" y="136"/>
                  <a:pt x="14447" y="146"/>
                </a:cubicBezTo>
                <a:lnTo>
                  <a:pt x="14447" y="2687"/>
                </a:lnTo>
                <a:cubicBezTo>
                  <a:pt x="14447" y="2696"/>
                  <a:pt x="14446" y="2706"/>
                  <a:pt x="14444" y="2715"/>
                </a:cubicBezTo>
                <a:cubicBezTo>
                  <a:pt x="14443" y="2724"/>
                  <a:pt x="14440" y="2734"/>
                  <a:pt x="14436" y="2742"/>
                </a:cubicBezTo>
                <a:cubicBezTo>
                  <a:pt x="14432" y="2751"/>
                  <a:pt x="14428" y="2760"/>
                  <a:pt x="14423" y="2768"/>
                </a:cubicBezTo>
                <a:cubicBezTo>
                  <a:pt x="14417" y="2775"/>
                  <a:pt x="14411" y="2783"/>
                  <a:pt x="14405" y="2790"/>
                </a:cubicBezTo>
                <a:cubicBezTo>
                  <a:pt x="14398" y="2796"/>
                  <a:pt x="14390" y="2802"/>
                  <a:pt x="14383" y="2808"/>
                </a:cubicBezTo>
                <a:cubicBezTo>
                  <a:pt x="14375" y="2813"/>
                  <a:pt x="14366" y="2817"/>
                  <a:pt x="14357" y="2821"/>
                </a:cubicBezTo>
                <a:cubicBezTo>
                  <a:pt x="14349" y="2825"/>
                  <a:pt x="14339" y="2828"/>
                  <a:pt x="14330" y="2829"/>
                </a:cubicBezTo>
                <a:cubicBezTo>
                  <a:pt x="14321" y="2831"/>
                  <a:pt x="14311" y="2832"/>
                  <a:pt x="14302" y="2832"/>
                </a:cubicBezTo>
                <a:lnTo>
                  <a:pt x="145" y="2832"/>
                </a:lnTo>
                <a:cubicBezTo>
                  <a:pt x="136" y="2832"/>
                  <a:pt x="126" y="2831"/>
                  <a:pt x="117" y="2829"/>
                </a:cubicBezTo>
                <a:cubicBezTo>
                  <a:pt x="108" y="2828"/>
                  <a:pt x="99" y="2825"/>
                  <a:pt x="90" y="2821"/>
                </a:cubicBezTo>
                <a:cubicBezTo>
                  <a:pt x="81" y="2817"/>
                  <a:pt x="73" y="2813"/>
                  <a:pt x="65" y="2808"/>
                </a:cubicBezTo>
                <a:cubicBezTo>
                  <a:pt x="57" y="2802"/>
                  <a:pt x="49" y="2796"/>
                  <a:pt x="43" y="2790"/>
                </a:cubicBezTo>
                <a:cubicBezTo>
                  <a:pt x="36" y="2783"/>
                  <a:pt x="30" y="2775"/>
                  <a:pt x="24" y="2768"/>
                </a:cubicBezTo>
                <a:cubicBezTo>
                  <a:pt x="19" y="2760"/>
                  <a:pt x="15" y="2751"/>
                  <a:pt x="11" y="2742"/>
                </a:cubicBezTo>
                <a:cubicBezTo>
                  <a:pt x="7" y="2734"/>
                  <a:pt x="5" y="2724"/>
                  <a:pt x="3" y="2715"/>
                </a:cubicBezTo>
                <a:cubicBezTo>
                  <a:pt x="1" y="2706"/>
                  <a:pt x="0" y="2696"/>
                  <a:pt x="0" y="268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6243480" y="2881080"/>
            <a:ext cx="5200920" cy="1019520"/>
          </a:xfrm>
          <a:custGeom>
            <a:avLst/>
            <a:gdLst/>
            <a:ahLst/>
            <a:rect l="0" t="0" r="r" b="b"/>
            <a:pathLst>
              <a:path w="14447" h="2832">
                <a:moveTo>
                  <a:pt x="0" y="268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14302" y="0"/>
                </a:lnTo>
                <a:cubicBezTo>
                  <a:pt x="14311" y="0"/>
                  <a:pt x="14321" y="1"/>
                  <a:pt x="14330" y="3"/>
                </a:cubicBezTo>
                <a:cubicBezTo>
                  <a:pt x="14339" y="5"/>
                  <a:pt x="14349" y="8"/>
                  <a:pt x="14357" y="11"/>
                </a:cubicBezTo>
                <a:cubicBezTo>
                  <a:pt x="14366" y="15"/>
                  <a:pt x="14375" y="19"/>
                  <a:pt x="14383" y="25"/>
                </a:cubicBezTo>
                <a:cubicBezTo>
                  <a:pt x="14390" y="30"/>
                  <a:pt x="14398" y="36"/>
                  <a:pt x="14405" y="43"/>
                </a:cubicBezTo>
                <a:cubicBezTo>
                  <a:pt x="14411" y="50"/>
                  <a:pt x="14417" y="57"/>
                  <a:pt x="14423" y="65"/>
                </a:cubicBezTo>
                <a:cubicBezTo>
                  <a:pt x="14428" y="73"/>
                  <a:pt x="14432" y="81"/>
                  <a:pt x="14436" y="90"/>
                </a:cubicBezTo>
                <a:cubicBezTo>
                  <a:pt x="14440" y="99"/>
                  <a:pt x="14443" y="108"/>
                  <a:pt x="14444" y="117"/>
                </a:cubicBezTo>
                <a:cubicBezTo>
                  <a:pt x="14446" y="127"/>
                  <a:pt x="14447" y="136"/>
                  <a:pt x="14447" y="146"/>
                </a:cubicBezTo>
                <a:lnTo>
                  <a:pt x="14447" y="2687"/>
                </a:lnTo>
                <a:cubicBezTo>
                  <a:pt x="14447" y="2696"/>
                  <a:pt x="14446" y="2706"/>
                  <a:pt x="14444" y="2715"/>
                </a:cubicBezTo>
                <a:cubicBezTo>
                  <a:pt x="14443" y="2724"/>
                  <a:pt x="14440" y="2734"/>
                  <a:pt x="14436" y="2742"/>
                </a:cubicBezTo>
                <a:cubicBezTo>
                  <a:pt x="14432" y="2751"/>
                  <a:pt x="14428" y="2760"/>
                  <a:pt x="14423" y="2768"/>
                </a:cubicBezTo>
                <a:cubicBezTo>
                  <a:pt x="14417" y="2775"/>
                  <a:pt x="14411" y="2783"/>
                  <a:pt x="14405" y="2790"/>
                </a:cubicBezTo>
                <a:cubicBezTo>
                  <a:pt x="14398" y="2796"/>
                  <a:pt x="14390" y="2802"/>
                  <a:pt x="14383" y="2808"/>
                </a:cubicBezTo>
                <a:cubicBezTo>
                  <a:pt x="14375" y="2813"/>
                  <a:pt x="14366" y="2817"/>
                  <a:pt x="14357" y="2821"/>
                </a:cubicBezTo>
                <a:cubicBezTo>
                  <a:pt x="14349" y="2825"/>
                  <a:pt x="14339" y="2828"/>
                  <a:pt x="14330" y="2829"/>
                </a:cubicBezTo>
                <a:cubicBezTo>
                  <a:pt x="14321" y="2831"/>
                  <a:pt x="14311" y="2832"/>
                  <a:pt x="14302" y="2832"/>
                </a:cubicBezTo>
                <a:lnTo>
                  <a:pt x="145" y="2832"/>
                </a:lnTo>
                <a:cubicBezTo>
                  <a:pt x="136" y="2832"/>
                  <a:pt x="126" y="2831"/>
                  <a:pt x="117" y="2829"/>
                </a:cubicBezTo>
                <a:cubicBezTo>
                  <a:pt x="108" y="2828"/>
                  <a:pt x="99" y="2825"/>
                  <a:pt x="90" y="2821"/>
                </a:cubicBezTo>
                <a:cubicBezTo>
                  <a:pt x="81" y="2817"/>
                  <a:pt x="73" y="2813"/>
                  <a:pt x="65" y="2808"/>
                </a:cubicBezTo>
                <a:cubicBezTo>
                  <a:pt x="57" y="2802"/>
                  <a:pt x="49" y="2796"/>
                  <a:pt x="43" y="2790"/>
                </a:cubicBezTo>
                <a:cubicBezTo>
                  <a:pt x="36" y="2783"/>
                  <a:pt x="30" y="2775"/>
                  <a:pt x="24" y="2768"/>
                </a:cubicBezTo>
                <a:cubicBezTo>
                  <a:pt x="19" y="2760"/>
                  <a:pt x="15" y="2751"/>
                  <a:pt x="11" y="2742"/>
                </a:cubicBezTo>
                <a:cubicBezTo>
                  <a:pt x="7" y="2734"/>
                  <a:pt x="5" y="2724"/>
                  <a:pt x="3" y="2715"/>
                </a:cubicBezTo>
                <a:cubicBezTo>
                  <a:pt x="1" y="2706"/>
                  <a:pt x="0" y="2696"/>
                  <a:pt x="0" y="268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747720" y="1545840"/>
            <a:ext cx="74876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 single-qubit gate can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never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entangle. You need a two-qubit gate.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 txBox="1"/>
          <p:nvPr/>
        </p:nvSpPr>
        <p:spPr>
          <a:xfrm>
            <a:off x="6400800" y="3041280"/>
            <a:ext cx="267660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qc = QuantumCircuit(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6400800" y="3269880"/>
            <a:ext cx="36496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qc.h(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        </a:t>
            </a:r>
            <a:r>
              <a:rPr lang="en-US" sz="16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superposition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 txBox="1"/>
          <p:nvPr/>
        </p:nvSpPr>
        <p:spPr>
          <a:xfrm>
            <a:off x="6400800" y="3508200"/>
            <a:ext cx="30416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qc.cx(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    </a:t>
            </a:r>
            <a:r>
              <a:rPr lang="en-US" sz="16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entangle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3189240" y="4914360"/>
            <a:ext cx="5878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∣00⟩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 txBox="1"/>
          <p:nvPr/>
        </p:nvSpPr>
        <p:spPr>
          <a:xfrm>
            <a:off x="4182120" y="5209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3752640" y="5076720"/>
            <a:ext cx="419400" cy="150480"/>
          </a:xfrm>
          <a:custGeom>
            <a:avLst/>
            <a:gdLst/>
            <a:ahLst/>
            <a:rect l="0" t="0" r="r" b="b"/>
            <a:pathLst>
              <a:path w="1165" h="418">
                <a:moveTo>
                  <a:pt x="0" y="225"/>
                </a:moveTo>
                <a:lnTo>
                  <a:pt x="1089" y="225"/>
                </a:lnTo>
                <a:cubicBezTo>
                  <a:pt x="1051" y="253"/>
                  <a:pt x="1022" y="288"/>
                  <a:pt x="1001" y="328"/>
                </a:cubicBezTo>
                <a:cubicBezTo>
                  <a:pt x="988" y="354"/>
                  <a:pt x="979" y="379"/>
                  <a:pt x="975" y="404"/>
                </a:cubicBezTo>
                <a:cubicBezTo>
                  <a:pt x="975" y="405"/>
                  <a:pt x="975" y="406"/>
                  <a:pt x="974" y="407"/>
                </a:cubicBezTo>
                <a:cubicBezTo>
                  <a:pt x="974" y="408"/>
                  <a:pt x="974" y="409"/>
                  <a:pt x="974" y="410"/>
                </a:cubicBezTo>
                <a:cubicBezTo>
                  <a:pt x="974" y="415"/>
                  <a:pt x="979" y="418"/>
                  <a:pt x="990" y="418"/>
                </a:cubicBezTo>
                <a:cubicBezTo>
                  <a:pt x="996" y="418"/>
                  <a:pt x="1001" y="418"/>
                  <a:pt x="1002" y="416"/>
                </a:cubicBezTo>
                <a:cubicBezTo>
                  <a:pt x="1004" y="415"/>
                  <a:pt x="1006" y="412"/>
                  <a:pt x="1007" y="407"/>
                </a:cubicBezTo>
                <a:cubicBezTo>
                  <a:pt x="1008" y="396"/>
                  <a:pt x="1011" y="386"/>
                  <a:pt x="1016" y="374"/>
                </a:cubicBezTo>
                <a:cubicBezTo>
                  <a:pt x="1027" y="339"/>
                  <a:pt x="1047" y="307"/>
                  <a:pt x="1074" y="278"/>
                </a:cubicBezTo>
                <a:cubicBezTo>
                  <a:pt x="1100" y="251"/>
                  <a:pt x="1131" y="231"/>
                  <a:pt x="1165" y="219"/>
                </a:cubicBezTo>
                <a:lnTo>
                  <a:pt x="1165" y="198"/>
                </a:lnTo>
                <a:cubicBezTo>
                  <a:pt x="1131" y="186"/>
                  <a:pt x="1100" y="166"/>
                  <a:pt x="1074" y="139"/>
                </a:cubicBezTo>
                <a:cubicBezTo>
                  <a:pt x="1047" y="111"/>
                  <a:pt x="1027" y="80"/>
                  <a:pt x="1016" y="44"/>
                </a:cubicBezTo>
                <a:cubicBezTo>
                  <a:pt x="1012" y="33"/>
                  <a:pt x="1009" y="22"/>
                  <a:pt x="1007" y="12"/>
                </a:cubicBezTo>
                <a:cubicBezTo>
                  <a:pt x="1006" y="6"/>
                  <a:pt x="1004" y="3"/>
                  <a:pt x="1002" y="2"/>
                </a:cubicBezTo>
                <a:cubicBezTo>
                  <a:pt x="1001" y="0"/>
                  <a:pt x="996" y="0"/>
                  <a:pt x="990" y="0"/>
                </a:cubicBezTo>
                <a:cubicBezTo>
                  <a:pt x="979" y="0"/>
                  <a:pt x="973" y="3"/>
                  <a:pt x="973" y="9"/>
                </a:cubicBezTo>
                <a:cubicBezTo>
                  <a:pt x="973" y="10"/>
                  <a:pt x="975" y="17"/>
                  <a:pt x="978" y="29"/>
                </a:cubicBezTo>
                <a:cubicBezTo>
                  <a:pt x="995" y="95"/>
                  <a:pt x="1032" y="150"/>
                  <a:pt x="1089" y="193"/>
                </a:cubicBezTo>
                <a:lnTo>
                  <a:pt x="0" y="193"/>
                </a:lnTo>
                <a:lnTo>
                  <a:pt x="0" y="22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3868920" y="4879080"/>
            <a:ext cx="20124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H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4565520" y="5209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4590360" y="4911840"/>
            <a:ext cx="9136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(∣00⟩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4565520" y="53427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4300560" y="517860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48"/>
                </a:moveTo>
                <a:cubicBezTo>
                  <a:pt x="11" y="348"/>
                  <a:pt x="9" y="347"/>
                  <a:pt x="5" y="344"/>
                </a:cubicBezTo>
                <a:cubicBezTo>
                  <a:pt x="2" y="341"/>
                  <a:pt x="0" y="338"/>
                  <a:pt x="0" y="336"/>
                </a:cubicBezTo>
                <a:cubicBezTo>
                  <a:pt x="0" y="335"/>
                  <a:pt x="0" y="334"/>
                  <a:pt x="1" y="333"/>
                </a:cubicBezTo>
                <a:cubicBezTo>
                  <a:pt x="1" y="332"/>
                  <a:pt x="14" y="322"/>
                  <a:pt x="38" y="303"/>
                </a:cubicBezTo>
                <a:cubicBezTo>
                  <a:pt x="63" y="285"/>
                  <a:pt x="75" y="275"/>
                  <a:pt x="76" y="275"/>
                </a:cubicBezTo>
                <a:cubicBezTo>
                  <a:pt x="76" y="274"/>
                  <a:pt x="77" y="274"/>
                  <a:pt x="78" y="274"/>
                </a:cubicBezTo>
                <a:cubicBezTo>
                  <a:pt x="81" y="274"/>
                  <a:pt x="83" y="275"/>
                  <a:pt x="85" y="279"/>
                </a:cubicBezTo>
                <a:cubicBezTo>
                  <a:pt x="87" y="283"/>
                  <a:pt x="182" y="492"/>
                  <a:pt x="182" y="492"/>
                </a:cubicBezTo>
                <a:cubicBezTo>
                  <a:pt x="182" y="492"/>
                  <a:pt x="202" y="451"/>
                  <a:pt x="240" y="372"/>
                </a:cubicBezTo>
                <a:cubicBezTo>
                  <a:pt x="279" y="292"/>
                  <a:pt x="318" y="212"/>
                  <a:pt x="357" y="131"/>
                </a:cubicBezTo>
                <a:cubicBezTo>
                  <a:pt x="396" y="51"/>
                  <a:pt x="415" y="9"/>
                  <a:pt x="417" y="8"/>
                </a:cubicBezTo>
                <a:cubicBezTo>
                  <a:pt x="420" y="2"/>
                  <a:pt x="423" y="0"/>
                  <a:pt x="428" y="0"/>
                </a:cubicBezTo>
                <a:lnTo>
                  <a:pt x="702" y="0"/>
                </a:lnTo>
                <a:lnTo>
                  <a:pt x="702" y="22"/>
                </a:lnTo>
                <a:lnTo>
                  <a:pt x="434" y="22"/>
                </a:lnTo>
                <a:lnTo>
                  <a:pt x="308" y="284"/>
                </a:lnTo>
                <a:lnTo>
                  <a:pt x="175" y="557"/>
                </a:lnTo>
                <a:cubicBezTo>
                  <a:pt x="174" y="559"/>
                  <a:pt x="170" y="561"/>
                  <a:pt x="165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2"/>
                  <a:pt x="49" y="322"/>
                </a:cubicBezTo>
                <a:lnTo>
                  <a:pt x="13" y="34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4286160" y="514332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4455000" y="51375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 txBox="1"/>
          <p:nvPr/>
        </p:nvSpPr>
        <p:spPr>
          <a:xfrm>
            <a:off x="4371120" y="48898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5535360" y="4914360"/>
            <a:ext cx="6742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∣10⟩)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 txBox="1"/>
          <p:nvPr/>
        </p:nvSpPr>
        <p:spPr>
          <a:xfrm>
            <a:off x="7066440" y="5209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6210000" y="5076720"/>
            <a:ext cx="848160" cy="150480"/>
          </a:xfrm>
          <a:custGeom>
            <a:avLst/>
            <a:gdLst/>
            <a:ahLst/>
            <a:rect l="0" t="0" r="r" b="b"/>
            <a:pathLst>
              <a:path w="2356" h="418">
                <a:moveTo>
                  <a:pt x="0" y="225"/>
                </a:moveTo>
                <a:lnTo>
                  <a:pt x="2272" y="225"/>
                </a:lnTo>
                <a:cubicBezTo>
                  <a:pt x="2234" y="253"/>
                  <a:pt x="2205" y="288"/>
                  <a:pt x="2184" y="328"/>
                </a:cubicBezTo>
                <a:cubicBezTo>
                  <a:pt x="2171" y="354"/>
                  <a:pt x="2162" y="379"/>
                  <a:pt x="2158" y="404"/>
                </a:cubicBezTo>
                <a:cubicBezTo>
                  <a:pt x="2158" y="405"/>
                  <a:pt x="2158" y="406"/>
                  <a:pt x="2157" y="407"/>
                </a:cubicBezTo>
                <a:cubicBezTo>
                  <a:pt x="2157" y="408"/>
                  <a:pt x="2157" y="409"/>
                  <a:pt x="2157" y="410"/>
                </a:cubicBezTo>
                <a:cubicBezTo>
                  <a:pt x="2157" y="415"/>
                  <a:pt x="2162" y="418"/>
                  <a:pt x="2173" y="418"/>
                </a:cubicBezTo>
                <a:cubicBezTo>
                  <a:pt x="2179" y="418"/>
                  <a:pt x="2184" y="418"/>
                  <a:pt x="2185" y="416"/>
                </a:cubicBezTo>
                <a:cubicBezTo>
                  <a:pt x="2187" y="415"/>
                  <a:pt x="2189" y="412"/>
                  <a:pt x="2190" y="407"/>
                </a:cubicBezTo>
                <a:cubicBezTo>
                  <a:pt x="2191" y="396"/>
                  <a:pt x="2194" y="386"/>
                  <a:pt x="2199" y="374"/>
                </a:cubicBezTo>
                <a:cubicBezTo>
                  <a:pt x="2210" y="339"/>
                  <a:pt x="2230" y="307"/>
                  <a:pt x="2257" y="278"/>
                </a:cubicBezTo>
                <a:cubicBezTo>
                  <a:pt x="2284" y="250"/>
                  <a:pt x="2316" y="230"/>
                  <a:pt x="2352" y="217"/>
                </a:cubicBezTo>
                <a:cubicBezTo>
                  <a:pt x="2354" y="217"/>
                  <a:pt x="2355" y="216"/>
                  <a:pt x="2356" y="215"/>
                </a:cubicBezTo>
                <a:lnTo>
                  <a:pt x="2356" y="202"/>
                </a:lnTo>
                <a:cubicBezTo>
                  <a:pt x="2355" y="201"/>
                  <a:pt x="2354" y="200"/>
                  <a:pt x="2352" y="200"/>
                </a:cubicBezTo>
                <a:cubicBezTo>
                  <a:pt x="2316" y="188"/>
                  <a:pt x="2284" y="167"/>
                  <a:pt x="2257" y="139"/>
                </a:cubicBezTo>
                <a:cubicBezTo>
                  <a:pt x="2230" y="111"/>
                  <a:pt x="2210" y="80"/>
                  <a:pt x="2199" y="44"/>
                </a:cubicBezTo>
                <a:cubicBezTo>
                  <a:pt x="2195" y="33"/>
                  <a:pt x="2192" y="22"/>
                  <a:pt x="2190" y="12"/>
                </a:cubicBezTo>
                <a:cubicBezTo>
                  <a:pt x="2189" y="6"/>
                  <a:pt x="2187" y="3"/>
                  <a:pt x="2185" y="2"/>
                </a:cubicBezTo>
                <a:cubicBezTo>
                  <a:pt x="2184" y="0"/>
                  <a:pt x="2179" y="0"/>
                  <a:pt x="2173" y="0"/>
                </a:cubicBezTo>
                <a:cubicBezTo>
                  <a:pt x="2162" y="0"/>
                  <a:pt x="2156" y="3"/>
                  <a:pt x="2156" y="9"/>
                </a:cubicBezTo>
                <a:cubicBezTo>
                  <a:pt x="2156" y="10"/>
                  <a:pt x="2158" y="17"/>
                  <a:pt x="2161" y="29"/>
                </a:cubicBezTo>
                <a:cubicBezTo>
                  <a:pt x="2178" y="95"/>
                  <a:pt x="2215" y="150"/>
                  <a:pt x="2272" y="193"/>
                </a:cubicBezTo>
                <a:lnTo>
                  <a:pt x="0" y="193"/>
                </a:lnTo>
                <a:lnTo>
                  <a:pt x="0" y="22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6309000" y="4879080"/>
            <a:ext cx="63396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CNOT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7449840" y="52095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7474680" y="4911840"/>
            <a:ext cx="9136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(∣00⟩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 txBox="1"/>
          <p:nvPr/>
        </p:nvSpPr>
        <p:spPr>
          <a:xfrm>
            <a:off x="7449840" y="53427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7186680" y="5178600"/>
            <a:ext cx="252360" cy="201960"/>
          </a:xfrm>
          <a:custGeom>
            <a:avLst/>
            <a:gdLst/>
            <a:ahLst/>
            <a:rect l="0" t="0" r="r" b="b"/>
            <a:pathLst>
              <a:path w="701" h="561">
                <a:moveTo>
                  <a:pt x="13" y="348"/>
                </a:moveTo>
                <a:cubicBezTo>
                  <a:pt x="11" y="348"/>
                  <a:pt x="9" y="347"/>
                  <a:pt x="5" y="344"/>
                </a:cubicBezTo>
                <a:cubicBezTo>
                  <a:pt x="2" y="341"/>
                  <a:pt x="0" y="338"/>
                  <a:pt x="0" y="336"/>
                </a:cubicBezTo>
                <a:cubicBezTo>
                  <a:pt x="0" y="335"/>
                  <a:pt x="0" y="334"/>
                  <a:pt x="1" y="333"/>
                </a:cubicBezTo>
                <a:cubicBezTo>
                  <a:pt x="1" y="332"/>
                  <a:pt x="14" y="322"/>
                  <a:pt x="38" y="303"/>
                </a:cubicBezTo>
                <a:cubicBezTo>
                  <a:pt x="63" y="285"/>
                  <a:pt x="75" y="275"/>
                  <a:pt x="76" y="275"/>
                </a:cubicBezTo>
                <a:cubicBezTo>
                  <a:pt x="76" y="274"/>
                  <a:pt x="77" y="274"/>
                  <a:pt x="78" y="274"/>
                </a:cubicBezTo>
                <a:cubicBezTo>
                  <a:pt x="81" y="274"/>
                  <a:pt x="83" y="275"/>
                  <a:pt x="85" y="279"/>
                </a:cubicBezTo>
                <a:cubicBezTo>
                  <a:pt x="87" y="283"/>
                  <a:pt x="182" y="492"/>
                  <a:pt x="182" y="492"/>
                </a:cubicBezTo>
                <a:cubicBezTo>
                  <a:pt x="182" y="492"/>
                  <a:pt x="202" y="451"/>
                  <a:pt x="240" y="372"/>
                </a:cubicBezTo>
                <a:cubicBezTo>
                  <a:pt x="279" y="292"/>
                  <a:pt x="317" y="212"/>
                  <a:pt x="356" y="131"/>
                </a:cubicBezTo>
                <a:cubicBezTo>
                  <a:pt x="394" y="51"/>
                  <a:pt x="414" y="9"/>
                  <a:pt x="415" y="8"/>
                </a:cubicBezTo>
                <a:cubicBezTo>
                  <a:pt x="418" y="2"/>
                  <a:pt x="422" y="0"/>
                  <a:pt x="427" y="0"/>
                </a:cubicBezTo>
                <a:lnTo>
                  <a:pt x="701" y="0"/>
                </a:lnTo>
                <a:lnTo>
                  <a:pt x="701" y="22"/>
                </a:lnTo>
                <a:lnTo>
                  <a:pt x="433" y="22"/>
                </a:lnTo>
                <a:lnTo>
                  <a:pt x="307" y="284"/>
                </a:lnTo>
                <a:lnTo>
                  <a:pt x="175" y="557"/>
                </a:lnTo>
                <a:cubicBezTo>
                  <a:pt x="174" y="559"/>
                  <a:pt x="170" y="561"/>
                  <a:pt x="165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2"/>
                  <a:pt x="49" y="322"/>
                </a:cubicBezTo>
                <a:lnTo>
                  <a:pt x="13" y="34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7172280" y="5143320"/>
            <a:ext cx="266760" cy="9720"/>
          </a:xfrm>
          <a:custGeom>
            <a:avLst/>
            <a:gdLst/>
            <a:ahLst/>
            <a:rect l="0" t="0" r="r" b="b"/>
            <a:pathLst>
              <a:path w="741" h="27">
                <a:moveTo>
                  <a:pt x="0" y="0"/>
                </a:moveTo>
                <a:lnTo>
                  <a:pt x="741" y="0"/>
                </a:lnTo>
                <a:lnTo>
                  <a:pt x="7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7339320" y="513756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7255440" y="48898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8419680" y="4911840"/>
            <a:ext cx="6742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∣11⟩)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747720" y="5546160"/>
            <a:ext cx="8013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Test it: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2941920" y="554616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4219200" y="5546160"/>
            <a:ext cx="4456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so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6673680" y="5546160"/>
            <a:ext cx="13942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Entangled.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1532880" y="5572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1750680" y="54928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 txBox="1"/>
          <p:nvPr/>
        </p:nvSpPr>
        <p:spPr>
          <a:xfrm>
            <a:off x="2054880" y="5572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u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2299680" y="54928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2916720" y="57906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2916720" y="59144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2652840" y="5749920"/>
            <a:ext cx="252360" cy="201960"/>
          </a:xfrm>
          <a:custGeom>
            <a:avLst/>
            <a:gdLst/>
            <a:ahLst/>
            <a:rect l="0" t="0" r="r" b="b"/>
            <a:pathLst>
              <a:path w="701" h="561">
                <a:moveTo>
                  <a:pt x="13" y="349"/>
                </a:moveTo>
                <a:cubicBezTo>
                  <a:pt x="11" y="349"/>
                  <a:pt x="9" y="347"/>
                  <a:pt x="5" y="344"/>
                </a:cubicBezTo>
                <a:cubicBezTo>
                  <a:pt x="2" y="341"/>
                  <a:pt x="0" y="338"/>
                  <a:pt x="0" y="336"/>
                </a:cubicBezTo>
                <a:cubicBezTo>
                  <a:pt x="0" y="335"/>
                  <a:pt x="0" y="334"/>
                  <a:pt x="0" y="334"/>
                </a:cubicBezTo>
                <a:cubicBezTo>
                  <a:pt x="1" y="332"/>
                  <a:pt x="14" y="322"/>
                  <a:pt x="38" y="304"/>
                </a:cubicBezTo>
                <a:cubicBezTo>
                  <a:pt x="63" y="285"/>
                  <a:pt x="75" y="276"/>
                  <a:pt x="75" y="275"/>
                </a:cubicBezTo>
                <a:cubicBezTo>
                  <a:pt x="76" y="274"/>
                  <a:pt x="77" y="274"/>
                  <a:pt x="78" y="274"/>
                </a:cubicBezTo>
                <a:cubicBezTo>
                  <a:pt x="81" y="274"/>
                  <a:pt x="83" y="276"/>
                  <a:pt x="85" y="280"/>
                </a:cubicBezTo>
                <a:cubicBezTo>
                  <a:pt x="87" y="283"/>
                  <a:pt x="182" y="491"/>
                  <a:pt x="182" y="491"/>
                </a:cubicBezTo>
                <a:cubicBezTo>
                  <a:pt x="182" y="491"/>
                  <a:pt x="202" y="452"/>
                  <a:pt x="240" y="372"/>
                </a:cubicBezTo>
                <a:cubicBezTo>
                  <a:pt x="279" y="293"/>
                  <a:pt x="317" y="212"/>
                  <a:pt x="356" y="132"/>
                </a:cubicBezTo>
                <a:cubicBezTo>
                  <a:pt x="394" y="51"/>
                  <a:pt x="414" y="10"/>
                  <a:pt x="415" y="8"/>
                </a:cubicBezTo>
                <a:cubicBezTo>
                  <a:pt x="418" y="3"/>
                  <a:pt x="422" y="0"/>
                  <a:pt x="427" y="0"/>
                </a:cubicBezTo>
                <a:lnTo>
                  <a:pt x="701" y="0"/>
                </a:lnTo>
                <a:lnTo>
                  <a:pt x="701" y="23"/>
                </a:lnTo>
                <a:lnTo>
                  <a:pt x="433" y="23"/>
                </a:lnTo>
                <a:lnTo>
                  <a:pt x="307" y="284"/>
                </a:lnTo>
                <a:lnTo>
                  <a:pt x="175" y="557"/>
                </a:lnTo>
                <a:cubicBezTo>
                  <a:pt x="174" y="560"/>
                  <a:pt x="170" y="561"/>
                  <a:pt x="164" y="561"/>
                </a:cubicBezTo>
                <a:cubicBezTo>
                  <a:pt x="161" y="561"/>
                  <a:pt x="159" y="561"/>
                  <a:pt x="158" y="560"/>
                </a:cubicBezTo>
                <a:cubicBezTo>
                  <a:pt x="157" y="558"/>
                  <a:pt x="49" y="322"/>
                  <a:pt x="49" y="322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2638080" y="572436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2806560" y="57088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2722680" y="54709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3067560" y="5572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 txBox="1"/>
          <p:nvPr/>
        </p:nvSpPr>
        <p:spPr>
          <a:xfrm>
            <a:off x="3282840" y="54928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3587040" y="5572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 txBox="1"/>
          <p:nvPr/>
        </p:nvSpPr>
        <p:spPr>
          <a:xfrm>
            <a:off x="3771000" y="5492880"/>
            <a:ext cx="4050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 0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 txBox="1"/>
          <p:nvPr/>
        </p:nvSpPr>
        <p:spPr>
          <a:xfrm>
            <a:off x="4665240" y="5572440"/>
            <a:ext cx="3240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ru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 txBox="1"/>
          <p:nvPr/>
        </p:nvSpPr>
        <p:spPr>
          <a:xfrm>
            <a:off x="5047920" y="54928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 txBox="1"/>
          <p:nvPr/>
        </p:nvSpPr>
        <p:spPr>
          <a:xfrm>
            <a:off x="5497200" y="579060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 txBox="1"/>
          <p:nvPr/>
        </p:nvSpPr>
        <p:spPr>
          <a:xfrm>
            <a:off x="5601960" y="54928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5391000" y="5724360"/>
            <a:ext cx="95400" cy="9720"/>
          </a:xfrm>
          <a:custGeom>
            <a:avLst/>
            <a:gdLst/>
            <a:ahLst/>
            <a:rect l="0" t="0" r="r" b="b"/>
            <a:pathLst>
              <a:path w="265" h="27">
                <a:moveTo>
                  <a:pt x="0" y="0"/>
                </a:moveTo>
                <a:lnTo>
                  <a:pt x="265" y="0"/>
                </a:lnTo>
                <a:lnTo>
                  <a:pt x="2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 txBox="1"/>
          <p:nvPr/>
        </p:nvSpPr>
        <p:spPr>
          <a:xfrm>
            <a:off x="5386680" y="56804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 txBox="1"/>
          <p:nvPr/>
        </p:nvSpPr>
        <p:spPr>
          <a:xfrm>
            <a:off x="5386680" y="54709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 txBox="1"/>
          <p:nvPr/>
        </p:nvSpPr>
        <p:spPr>
          <a:xfrm>
            <a:off x="5601960" y="5492880"/>
            <a:ext cx="6526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 0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 txBox="1"/>
          <p:nvPr/>
        </p:nvSpPr>
        <p:spPr>
          <a:xfrm>
            <a:off x="6434640" y="55724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st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93" name=""/>
          <p:cNvPicPr/>
          <p:nvPr/>
        </p:nvPicPr>
        <p:blipFill>
          <a:blip r:embed="rId1"/>
          <a:stretch/>
        </p:blipFill>
        <p:spPr>
          <a:xfrm>
            <a:off x="752400" y="1619280"/>
            <a:ext cx="3809520" cy="284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4" name=""/>
          <p:cNvSpPr txBox="1"/>
          <p:nvPr/>
        </p:nvSpPr>
        <p:spPr>
          <a:xfrm>
            <a:off x="747720" y="979200"/>
            <a:ext cx="57427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And it shows up in the measurements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6819840" y="2962080"/>
            <a:ext cx="400320" cy="305280"/>
          </a:xfrm>
          <a:custGeom>
            <a:avLst/>
            <a:gdLst/>
            <a:ahLst/>
            <a:rect l="0" t="0" r="r" b="b"/>
            <a:pathLst>
              <a:path w="1112" h="848">
                <a:moveTo>
                  <a:pt x="0" y="68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953" y="0"/>
                </a:lnTo>
                <a:cubicBezTo>
                  <a:pt x="964" y="0"/>
                  <a:pt x="974" y="1"/>
                  <a:pt x="984" y="3"/>
                </a:cubicBezTo>
                <a:cubicBezTo>
                  <a:pt x="994" y="5"/>
                  <a:pt x="1004" y="8"/>
                  <a:pt x="1014" y="12"/>
                </a:cubicBezTo>
                <a:cubicBezTo>
                  <a:pt x="1024" y="16"/>
                  <a:pt x="1033" y="21"/>
                  <a:pt x="1041" y="27"/>
                </a:cubicBezTo>
                <a:cubicBezTo>
                  <a:pt x="1050" y="33"/>
                  <a:pt x="1058" y="39"/>
                  <a:pt x="1065" y="47"/>
                </a:cubicBezTo>
                <a:cubicBezTo>
                  <a:pt x="1073" y="54"/>
                  <a:pt x="1079" y="62"/>
                  <a:pt x="1085" y="71"/>
                </a:cubicBezTo>
                <a:cubicBezTo>
                  <a:pt x="1091" y="79"/>
                  <a:pt x="1096" y="88"/>
                  <a:pt x="1100" y="98"/>
                </a:cubicBezTo>
                <a:cubicBezTo>
                  <a:pt x="1104" y="108"/>
                  <a:pt x="1107" y="118"/>
                  <a:pt x="1109" y="128"/>
                </a:cubicBezTo>
                <a:cubicBezTo>
                  <a:pt x="1111" y="138"/>
                  <a:pt x="1112" y="148"/>
                  <a:pt x="1112" y="159"/>
                </a:cubicBezTo>
                <a:lnTo>
                  <a:pt x="1112" y="689"/>
                </a:lnTo>
                <a:cubicBezTo>
                  <a:pt x="1112" y="699"/>
                  <a:pt x="1111" y="710"/>
                  <a:pt x="1109" y="720"/>
                </a:cubicBezTo>
                <a:cubicBezTo>
                  <a:pt x="1107" y="730"/>
                  <a:pt x="1104" y="740"/>
                  <a:pt x="1100" y="750"/>
                </a:cubicBezTo>
                <a:cubicBezTo>
                  <a:pt x="1096" y="759"/>
                  <a:pt x="1091" y="768"/>
                  <a:pt x="1085" y="777"/>
                </a:cubicBezTo>
                <a:cubicBezTo>
                  <a:pt x="1079" y="786"/>
                  <a:pt x="1073" y="794"/>
                  <a:pt x="1065" y="801"/>
                </a:cubicBezTo>
                <a:cubicBezTo>
                  <a:pt x="1058" y="809"/>
                  <a:pt x="1050" y="815"/>
                  <a:pt x="1041" y="821"/>
                </a:cubicBezTo>
                <a:cubicBezTo>
                  <a:pt x="1033" y="827"/>
                  <a:pt x="1024" y="832"/>
                  <a:pt x="1014" y="836"/>
                </a:cubicBezTo>
                <a:cubicBezTo>
                  <a:pt x="1004" y="840"/>
                  <a:pt x="994" y="843"/>
                  <a:pt x="984" y="845"/>
                </a:cubicBezTo>
                <a:cubicBezTo>
                  <a:pt x="974" y="847"/>
                  <a:pt x="964" y="848"/>
                  <a:pt x="953" y="848"/>
                </a:cubicBezTo>
                <a:lnTo>
                  <a:pt x="158" y="848"/>
                </a:lnTo>
                <a:cubicBezTo>
                  <a:pt x="148" y="848"/>
                  <a:pt x="138" y="847"/>
                  <a:pt x="127" y="845"/>
                </a:cubicBezTo>
                <a:cubicBezTo>
                  <a:pt x="117" y="843"/>
                  <a:pt x="107" y="840"/>
                  <a:pt x="98" y="836"/>
                </a:cubicBezTo>
                <a:cubicBezTo>
                  <a:pt x="88" y="832"/>
                  <a:pt x="79" y="827"/>
                  <a:pt x="70" y="821"/>
                </a:cubicBezTo>
                <a:cubicBezTo>
                  <a:pt x="62" y="815"/>
                  <a:pt x="54" y="809"/>
                  <a:pt x="46" y="801"/>
                </a:cubicBezTo>
                <a:cubicBezTo>
                  <a:pt x="39" y="794"/>
                  <a:pt x="32" y="786"/>
                  <a:pt x="26" y="777"/>
                </a:cubicBezTo>
                <a:cubicBezTo>
                  <a:pt x="21" y="768"/>
                  <a:pt x="16" y="759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 txBox="1"/>
          <p:nvPr/>
        </p:nvSpPr>
        <p:spPr>
          <a:xfrm>
            <a:off x="6238800" y="2917440"/>
            <a:ext cx="577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Only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 txBox="1"/>
          <p:nvPr/>
        </p:nvSpPr>
        <p:spPr>
          <a:xfrm>
            <a:off x="6897960" y="3005640"/>
            <a:ext cx="2440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7772040" y="2962080"/>
            <a:ext cx="410040" cy="305280"/>
          </a:xfrm>
          <a:custGeom>
            <a:avLst/>
            <a:gdLst/>
            <a:ahLst/>
            <a:rect l="0" t="0" r="r" b="b"/>
            <a:pathLst>
              <a:path w="1139" h="848">
                <a:moveTo>
                  <a:pt x="0" y="689"/>
                </a:moveTo>
                <a:lnTo>
                  <a:pt x="0" y="159"/>
                </a:lnTo>
                <a:cubicBezTo>
                  <a:pt x="0" y="148"/>
                  <a:pt x="2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980" y="0"/>
                </a:lnTo>
                <a:cubicBezTo>
                  <a:pt x="991" y="0"/>
                  <a:pt x="1001" y="1"/>
                  <a:pt x="1011" y="3"/>
                </a:cubicBezTo>
                <a:cubicBezTo>
                  <a:pt x="1022" y="5"/>
                  <a:pt x="1032" y="8"/>
                  <a:pt x="1041" y="12"/>
                </a:cubicBezTo>
                <a:cubicBezTo>
                  <a:pt x="1051" y="16"/>
                  <a:pt x="1060" y="21"/>
                  <a:pt x="1069" y="27"/>
                </a:cubicBezTo>
                <a:cubicBezTo>
                  <a:pt x="1077" y="33"/>
                  <a:pt x="1085" y="39"/>
                  <a:pt x="1093" y="47"/>
                </a:cubicBezTo>
                <a:cubicBezTo>
                  <a:pt x="1100" y="54"/>
                  <a:pt x="1107" y="62"/>
                  <a:pt x="1112" y="71"/>
                </a:cubicBezTo>
                <a:cubicBezTo>
                  <a:pt x="1118" y="79"/>
                  <a:pt x="1123" y="88"/>
                  <a:pt x="1127" y="98"/>
                </a:cubicBezTo>
                <a:cubicBezTo>
                  <a:pt x="1131" y="108"/>
                  <a:pt x="1134" y="118"/>
                  <a:pt x="1136" y="128"/>
                </a:cubicBezTo>
                <a:cubicBezTo>
                  <a:pt x="1138" y="138"/>
                  <a:pt x="1139" y="148"/>
                  <a:pt x="1139" y="159"/>
                </a:cubicBezTo>
                <a:lnTo>
                  <a:pt x="1139" y="689"/>
                </a:lnTo>
                <a:cubicBezTo>
                  <a:pt x="1139" y="699"/>
                  <a:pt x="1138" y="710"/>
                  <a:pt x="1136" y="720"/>
                </a:cubicBezTo>
                <a:cubicBezTo>
                  <a:pt x="1134" y="730"/>
                  <a:pt x="1131" y="740"/>
                  <a:pt x="1127" y="750"/>
                </a:cubicBezTo>
                <a:cubicBezTo>
                  <a:pt x="1123" y="759"/>
                  <a:pt x="1118" y="768"/>
                  <a:pt x="1112" y="777"/>
                </a:cubicBezTo>
                <a:cubicBezTo>
                  <a:pt x="1107" y="786"/>
                  <a:pt x="1100" y="794"/>
                  <a:pt x="1093" y="801"/>
                </a:cubicBezTo>
                <a:cubicBezTo>
                  <a:pt x="1085" y="809"/>
                  <a:pt x="1077" y="815"/>
                  <a:pt x="1069" y="821"/>
                </a:cubicBezTo>
                <a:cubicBezTo>
                  <a:pt x="1060" y="827"/>
                  <a:pt x="1051" y="832"/>
                  <a:pt x="1041" y="836"/>
                </a:cubicBezTo>
                <a:cubicBezTo>
                  <a:pt x="1032" y="840"/>
                  <a:pt x="1022" y="843"/>
                  <a:pt x="1011" y="845"/>
                </a:cubicBezTo>
                <a:cubicBezTo>
                  <a:pt x="1001" y="847"/>
                  <a:pt x="991" y="848"/>
                  <a:pt x="980" y="848"/>
                </a:cubicBezTo>
                <a:lnTo>
                  <a:pt x="159" y="848"/>
                </a:lnTo>
                <a:cubicBezTo>
                  <a:pt x="149" y="848"/>
                  <a:pt x="139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9" y="832"/>
                  <a:pt x="80" y="827"/>
                  <a:pt x="71" y="821"/>
                </a:cubicBezTo>
                <a:cubicBezTo>
                  <a:pt x="62" y="815"/>
                  <a:pt x="54" y="809"/>
                  <a:pt x="47" y="801"/>
                </a:cubicBezTo>
                <a:cubicBezTo>
                  <a:pt x="40" y="794"/>
                  <a:pt x="33" y="786"/>
                  <a:pt x="27" y="777"/>
                </a:cubicBezTo>
                <a:cubicBezTo>
                  <a:pt x="21" y="768"/>
                  <a:pt x="17" y="759"/>
                  <a:pt x="13" y="750"/>
                </a:cubicBezTo>
                <a:cubicBezTo>
                  <a:pt x="9" y="740"/>
                  <a:pt x="6" y="730"/>
                  <a:pt x="4" y="720"/>
                </a:cubicBezTo>
                <a:cubicBezTo>
                  <a:pt x="2" y="710"/>
                  <a:pt x="0" y="699"/>
                  <a:pt x="0" y="68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 txBox="1"/>
          <p:nvPr/>
        </p:nvSpPr>
        <p:spPr>
          <a:xfrm>
            <a:off x="7221960" y="2917440"/>
            <a:ext cx="550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and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 txBox="1"/>
          <p:nvPr/>
        </p:nvSpPr>
        <p:spPr>
          <a:xfrm>
            <a:off x="7854120" y="3005640"/>
            <a:ext cx="2440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9029520" y="2962080"/>
            <a:ext cx="410040" cy="305280"/>
          </a:xfrm>
          <a:custGeom>
            <a:avLst/>
            <a:gdLst/>
            <a:ahLst/>
            <a:rect l="0" t="0" r="r" b="b"/>
            <a:pathLst>
              <a:path w="1139" h="848">
                <a:moveTo>
                  <a:pt x="0" y="68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80" y="0"/>
                </a:lnTo>
                <a:cubicBezTo>
                  <a:pt x="990" y="0"/>
                  <a:pt x="1001" y="1"/>
                  <a:pt x="1011" y="3"/>
                </a:cubicBezTo>
                <a:cubicBezTo>
                  <a:pt x="1021" y="5"/>
                  <a:pt x="1031" y="8"/>
                  <a:pt x="1041" y="12"/>
                </a:cubicBezTo>
                <a:cubicBezTo>
                  <a:pt x="1050" y="16"/>
                  <a:pt x="1059" y="21"/>
                  <a:pt x="1068" y="27"/>
                </a:cubicBezTo>
                <a:cubicBezTo>
                  <a:pt x="1077" y="33"/>
                  <a:pt x="1085" y="39"/>
                  <a:pt x="1092" y="47"/>
                </a:cubicBezTo>
                <a:cubicBezTo>
                  <a:pt x="1100" y="54"/>
                  <a:pt x="1106" y="62"/>
                  <a:pt x="1112" y="71"/>
                </a:cubicBezTo>
                <a:cubicBezTo>
                  <a:pt x="1118" y="79"/>
                  <a:pt x="1123" y="88"/>
                  <a:pt x="1127" y="98"/>
                </a:cubicBezTo>
                <a:cubicBezTo>
                  <a:pt x="1131" y="108"/>
                  <a:pt x="1134" y="118"/>
                  <a:pt x="1136" y="128"/>
                </a:cubicBezTo>
                <a:cubicBezTo>
                  <a:pt x="1138" y="138"/>
                  <a:pt x="1139" y="148"/>
                  <a:pt x="1139" y="159"/>
                </a:cubicBezTo>
                <a:lnTo>
                  <a:pt x="1139" y="689"/>
                </a:lnTo>
                <a:cubicBezTo>
                  <a:pt x="1139" y="699"/>
                  <a:pt x="1138" y="710"/>
                  <a:pt x="1136" y="720"/>
                </a:cubicBezTo>
                <a:cubicBezTo>
                  <a:pt x="1134" y="730"/>
                  <a:pt x="1131" y="740"/>
                  <a:pt x="1127" y="750"/>
                </a:cubicBezTo>
                <a:cubicBezTo>
                  <a:pt x="1123" y="759"/>
                  <a:pt x="1118" y="768"/>
                  <a:pt x="1112" y="777"/>
                </a:cubicBezTo>
                <a:cubicBezTo>
                  <a:pt x="1106" y="786"/>
                  <a:pt x="1100" y="794"/>
                  <a:pt x="1092" y="801"/>
                </a:cubicBezTo>
                <a:cubicBezTo>
                  <a:pt x="1085" y="809"/>
                  <a:pt x="1077" y="815"/>
                  <a:pt x="1068" y="821"/>
                </a:cubicBezTo>
                <a:cubicBezTo>
                  <a:pt x="1059" y="827"/>
                  <a:pt x="1050" y="832"/>
                  <a:pt x="1041" y="836"/>
                </a:cubicBezTo>
                <a:cubicBezTo>
                  <a:pt x="1031" y="840"/>
                  <a:pt x="1021" y="843"/>
                  <a:pt x="1011" y="845"/>
                </a:cubicBezTo>
                <a:cubicBezTo>
                  <a:pt x="1001" y="847"/>
                  <a:pt x="990" y="848"/>
                  <a:pt x="980" y="848"/>
                </a:cubicBezTo>
                <a:lnTo>
                  <a:pt x="159" y="848"/>
                </a:lnTo>
                <a:cubicBezTo>
                  <a:pt x="148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8" y="832"/>
                  <a:pt x="79" y="827"/>
                  <a:pt x="71" y="821"/>
                </a:cubicBezTo>
                <a:cubicBezTo>
                  <a:pt x="62" y="815"/>
                  <a:pt x="54" y="809"/>
                  <a:pt x="46" y="801"/>
                </a:cubicBezTo>
                <a:cubicBezTo>
                  <a:pt x="39" y="794"/>
                  <a:pt x="33" y="786"/>
                  <a:pt x="27" y="777"/>
                </a:cubicBezTo>
                <a:cubicBezTo>
                  <a:pt x="21" y="768"/>
                  <a:pt x="16" y="759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8178120" y="2917440"/>
            <a:ext cx="8557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Never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 txBox="1"/>
          <p:nvPr/>
        </p:nvSpPr>
        <p:spPr>
          <a:xfrm>
            <a:off x="9110880" y="3005640"/>
            <a:ext cx="2440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9801000" y="2962080"/>
            <a:ext cx="410040" cy="305280"/>
          </a:xfrm>
          <a:custGeom>
            <a:avLst/>
            <a:gdLst/>
            <a:ahLst/>
            <a:rect l="0" t="0" r="r" b="b"/>
            <a:pathLst>
              <a:path w="1139" h="848">
                <a:moveTo>
                  <a:pt x="0" y="68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80" y="0"/>
                </a:lnTo>
                <a:cubicBezTo>
                  <a:pt x="991" y="0"/>
                  <a:pt x="1001" y="1"/>
                  <a:pt x="1011" y="3"/>
                </a:cubicBezTo>
                <a:cubicBezTo>
                  <a:pt x="1021" y="5"/>
                  <a:pt x="1031" y="8"/>
                  <a:pt x="1041" y="12"/>
                </a:cubicBezTo>
                <a:cubicBezTo>
                  <a:pt x="1050" y="16"/>
                  <a:pt x="1060" y="21"/>
                  <a:pt x="1068" y="27"/>
                </a:cubicBezTo>
                <a:cubicBezTo>
                  <a:pt x="1077" y="33"/>
                  <a:pt x="1085" y="39"/>
                  <a:pt x="1092" y="47"/>
                </a:cubicBezTo>
                <a:cubicBezTo>
                  <a:pt x="1100" y="54"/>
                  <a:pt x="1106" y="62"/>
                  <a:pt x="1112" y="71"/>
                </a:cubicBezTo>
                <a:cubicBezTo>
                  <a:pt x="1118" y="79"/>
                  <a:pt x="1123" y="88"/>
                  <a:pt x="1127" y="98"/>
                </a:cubicBezTo>
                <a:cubicBezTo>
                  <a:pt x="1131" y="108"/>
                  <a:pt x="1134" y="118"/>
                  <a:pt x="1136" y="128"/>
                </a:cubicBezTo>
                <a:cubicBezTo>
                  <a:pt x="1138" y="138"/>
                  <a:pt x="1139" y="148"/>
                  <a:pt x="1139" y="159"/>
                </a:cubicBezTo>
                <a:lnTo>
                  <a:pt x="1139" y="689"/>
                </a:lnTo>
                <a:cubicBezTo>
                  <a:pt x="1139" y="699"/>
                  <a:pt x="1138" y="710"/>
                  <a:pt x="1136" y="720"/>
                </a:cubicBezTo>
                <a:cubicBezTo>
                  <a:pt x="1134" y="730"/>
                  <a:pt x="1131" y="740"/>
                  <a:pt x="1127" y="750"/>
                </a:cubicBezTo>
                <a:cubicBezTo>
                  <a:pt x="1123" y="759"/>
                  <a:pt x="1118" y="768"/>
                  <a:pt x="1112" y="777"/>
                </a:cubicBezTo>
                <a:cubicBezTo>
                  <a:pt x="1106" y="786"/>
                  <a:pt x="1100" y="794"/>
                  <a:pt x="1092" y="801"/>
                </a:cubicBezTo>
                <a:cubicBezTo>
                  <a:pt x="1085" y="809"/>
                  <a:pt x="1077" y="815"/>
                  <a:pt x="1068" y="821"/>
                </a:cubicBezTo>
                <a:cubicBezTo>
                  <a:pt x="1060" y="827"/>
                  <a:pt x="1050" y="832"/>
                  <a:pt x="1041" y="836"/>
                </a:cubicBezTo>
                <a:cubicBezTo>
                  <a:pt x="1031" y="840"/>
                  <a:pt x="1021" y="843"/>
                  <a:pt x="1011" y="845"/>
                </a:cubicBezTo>
                <a:cubicBezTo>
                  <a:pt x="1001" y="847"/>
                  <a:pt x="991" y="848"/>
                  <a:pt x="980" y="848"/>
                </a:cubicBezTo>
                <a:lnTo>
                  <a:pt x="159" y="848"/>
                </a:lnTo>
                <a:cubicBezTo>
                  <a:pt x="148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8" y="832"/>
                  <a:pt x="79" y="827"/>
                  <a:pt x="71" y="821"/>
                </a:cubicBezTo>
                <a:cubicBezTo>
                  <a:pt x="62" y="815"/>
                  <a:pt x="54" y="809"/>
                  <a:pt x="47" y="801"/>
                </a:cubicBezTo>
                <a:cubicBezTo>
                  <a:pt x="39" y="794"/>
                  <a:pt x="33" y="786"/>
                  <a:pt x="27" y="777"/>
                </a:cubicBezTo>
                <a:cubicBezTo>
                  <a:pt x="21" y="768"/>
                  <a:pt x="16" y="759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 txBox="1"/>
          <p:nvPr/>
        </p:nvSpPr>
        <p:spPr>
          <a:xfrm>
            <a:off x="9434880" y="2917440"/>
            <a:ext cx="366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or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9882000" y="3005640"/>
            <a:ext cx="2440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 txBox="1"/>
          <p:nvPr/>
        </p:nvSpPr>
        <p:spPr>
          <a:xfrm>
            <a:off x="10206000" y="291744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 txBox="1"/>
          <p:nvPr/>
        </p:nvSpPr>
        <p:spPr>
          <a:xfrm>
            <a:off x="747720" y="5003280"/>
            <a:ext cx="47836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 two qubits always agree — but neither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 txBox="1"/>
          <p:nvPr/>
        </p:nvSpPr>
        <p:spPr>
          <a:xfrm>
            <a:off x="747720" y="5365080"/>
            <a:ext cx="37782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had a value before measurement.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6238800" y="5003280"/>
            <a:ext cx="48704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This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Bell pair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is the resource every protocol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6238800" y="5365080"/>
            <a:ext cx="18900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below is built on.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 txBox="1"/>
          <p:nvPr/>
        </p:nvSpPr>
        <p:spPr>
          <a:xfrm>
            <a:off x="5161320" y="991440"/>
            <a:ext cx="1874520" cy="54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15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Protocols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 txBox="1"/>
          <p:nvPr/>
        </p:nvSpPr>
        <p:spPr>
          <a:xfrm>
            <a:off x="3347640" y="1802880"/>
            <a:ext cx="55357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We can now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make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 Bell pair. What is it good for?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 txBox="1"/>
          <p:nvPr/>
        </p:nvSpPr>
        <p:spPr>
          <a:xfrm>
            <a:off x="2939400" y="2317320"/>
            <a:ext cx="63273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Two protocols that trade one resource against the other: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 txBox="1"/>
          <p:nvPr/>
        </p:nvSpPr>
        <p:spPr>
          <a:xfrm>
            <a:off x="3385080" y="2822040"/>
            <a:ext cx="54187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Superdense coding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— 2 classical bits for 1 qubit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20" name=""/>
          <p:cNvPicPr/>
          <p:nvPr/>
        </p:nvPicPr>
        <p:blipFill>
          <a:blip r:embed="rId1"/>
          <a:stretch/>
        </p:blipFill>
        <p:spPr>
          <a:xfrm>
            <a:off x="4667400" y="3676680"/>
            <a:ext cx="2856960" cy="20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1" name=""/>
          <p:cNvSpPr txBox="1"/>
          <p:nvPr/>
        </p:nvSpPr>
        <p:spPr>
          <a:xfrm>
            <a:off x="3706920" y="3183840"/>
            <a:ext cx="47876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Teleportation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— 1 qubit for 2 classical bits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752400" y="4924080"/>
            <a:ext cx="2238480" cy="486360"/>
          </a:xfrm>
          <a:custGeom>
            <a:avLst/>
            <a:gdLst/>
            <a:ahLst/>
            <a:rect l="0" t="0" r="r" b="b"/>
            <a:pathLst>
              <a:path w="6218" h="1351">
                <a:moveTo>
                  <a:pt x="0" y="0"/>
                </a:moveTo>
                <a:lnTo>
                  <a:pt x="6218" y="0"/>
                </a:lnTo>
                <a:lnTo>
                  <a:pt x="621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2990520" y="4924080"/>
            <a:ext cx="524520" cy="486360"/>
          </a:xfrm>
          <a:custGeom>
            <a:avLst/>
            <a:gdLst/>
            <a:ahLst/>
            <a:rect l="0" t="0" r="r" b="b"/>
            <a:pathLst>
              <a:path w="1457" h="1351">
                <a:moveTo>
                  <a:pt x="0" y="0"/>
                </a:moveTo>
                <a:lnTo>
                  <a:pt x="1457" y="0"/>
                </a:lnTo>
                <a:lnTo>
                  <a:pt x="145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3514680" y="4924080"/>
            <a:ext cx="533520" cy="486360"/>
          </a:xfrm>
          <a:custGeom>
            <a:avLst/>
            <a:gdLst/>
            <a:ahLst/>
            <a:rect l="0" t="0" r="r" b="b"/>
            <a:pathLst>
              <a:path w="1482" h="1351">
                <a:moveTo>
                  <a:pt x="0" y="0"/>
                </a:moveTo>
                <a:lnTo>
                  <a:pt x="1482" y="0"/>
                </a:lnTo>
                <a:lnTo>
                  <a:pt x="1482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4047840" y="4924080"/>
            <a:ext cx="524160" cy="486360"/>
          </a:xfrm>
          <a:custGeom>
            <a:avLst/>
            <a:gdLst/>
            <a:ahLst/>
            <a:rect l="0" t="0" r="r" b="b"/>
            <a:pathLst>
              <a:path w="1456" h="1351">
                <a:moveTo>
                  <a:pt x="0" y="0"/>
                </a:moveTo>
                <a:lnTo>
                  <a:pt x="1456" y="0"/>
                </a:lnTo>
                <a:lnTo>
                  <a:pt x="1456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4571640" y="4924080"/>
            <a:ext cx="743400" cy="486360"/>
          </a:xfrm>
          <a:custGeom>
            <a:avLst/>
            <a:gdLst/>
            <a:ahLst/>
            <a:rect l="0" t="0" r="r" b="b"/>
            <a:pathLst>
              <a:path w="2065" h="1351">
                <a:moveTo>
                  <a:pt x="0" y="0"/>
                </a:moveTo>
                <a:lnTo>
                  <a:pt x="2065" y="0"/>
                </a:lnTo>
                <a:lnTo>
                  <a:pt x="2065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752400" y="5410080"/>
            <a:ext cx="2238480" cy="495720"/>
          </a:xfrm>
          <a:custGeom>
            <a:avLst/>
            <a:gdLst/>
            <a:ahLst/>
            <a:rect l="0" t="0" r="r" b="b"/>
            <a:pathLst>
              <a:path w="6218" h="1377">
                <a:moveTo>
                  <a:pt x="0" y="0"/>
                </a:moveTo>
                <a:lnTo>
                  <a:pt x="6218" y="0"/>
                </a:lnTo>
                <a:lnTo>
                  <a:pt x="621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2990520" y="5410080"/>
            <a:ext cx="524520" cy="495720"/>
          </a:xfrm>
          <a:custGeom>
            <a:avLst/>
            <a:gdLst/>
            <a:ahLst/>
            <a:rect l="0" t="0" r="r" b="b"/>
            <a:pathLst>
              <a:path w="1457" h="1377">
                <a:moveTo>
                  <a:pt x="0" y="0"/>
                </a:moveTo>
                <a:lnTo>
                  <a:pt x="1457" y="0"/>
                </a:lnTo>
                <a:lnTo>
                  <a:pt x="145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3514680" y="5410080"/>
            <a:ext cx="533520" cy="495720"/>
          </a:xfrm>
          <a:custGeom>
            <a:avLst/>
            <a:gdLst/>
            <a:ahLst/>
            <a:rect l="0" t="0" r="r" b="b"/>
            <a:pathLst>
              <a:path w="1482" h="1377">
                <a:moveTo>
                  <a:pt x="0" y="0"/>
                </a:moveTo>
                <a:lnTo>
                  <a:pt x="1482" y="0"/>
                </a:lnTo>
                <a:lnTo>
                  <a:pt x="148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4047840" y="5410080"/>
            <a:ext cx="524160" cy="495720"/>
          </a:xfrm>
          <a:custGeom>
            <a:avLst/>
            <a:gdLst/>
            <a:ahLst/>
            <a:rect l="0" t="0" r="r" b="b"/>
            <a:pathLst>
              <a:path w="1456" h="1377">
                <a:moveTo>
                  <a:pt x="0" y="0"/>
                </a:moveTo>
                <a:lnTo>
                  <a:pt x="1456" y="0"/>
                </a:lnTo>
                <a:lnTo>
                  <a:pt x="145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4571640" y="5410080"/>
            <a:ext cx="743400" cy="495720"/>
          </a:xfrm>
          <a:custGeom>
            <a:avLst/>
            <a:gdLst/>
            <a:ahLst/>
            <a:rect l="0" t="0" r="r" b="b"/>
            <a:pathLst>
              <a:path w="2065" h="1377">
                <a:moveTo>
                  <a:pt x="0" y="0"/>
                </a:moveTo>
                <a:lnTo>
                  <a:pt x="2065" y="0"/>
                </a:lnTo>
                <a:lnTo>
                  <a:pt x="206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752400" y="49240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752400" y="4924080"/>
            <a:ext cx="2238480" cy="10080"/>
          </a:xfrm>
          <a:custGeom>
            <a:avLst/>
            <a:gdLst/>
            <a:ahLst/>
            <a:rect l="0" t="0" r="r" b="b"/>
            <a:pathLst>
              <a:path w="6218" h="28">
                <a:moveTo>
                  <a:pt x="0" y="0"/>
                </a:moveTo>
                <a:lnTo>
                  <a:pt x="6218" y="0"/>
                </a:lnTo>
                <a:lnTo>
                  <a:pt x="62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2981160" y="49240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2990520" y="492408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3514680" y="49240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3524040" y="4924080"/>
            <a:ext cx="524160" cy="10080"/>
          </a:xfrm>
          <a:custGeom>
            <a:avLst/>
            <a:gdLst/>
            <a:ahLst/>
            <a:rect l="0" t="0" r="r" b="b"/>
            <a:pathLst>
              <a:path w="1456" h="28">
                <a:moveTo>
                  <a:pt x="0" y="0"/>
                </a:moveTo>
                <a:lnTo>
                  <a:pt x="1456" y="0"/>
                </a:lnTo>
                <a:lnTo>
                  <a:pt x="14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4038480" y="49240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4047840" y="492408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4571640" y="492408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4581360" y="4924080"/>
            <a:ext cx="733680" cy="10080"/>
          </a:xfrm>
          <a:custGeom>
            <a:avLst/>
            <a:gdLst/>
            <a:ahLst/>
            <a:rect l="0" t="0" r="r" b="b"/>
            <a:pathLst>
              <a:path w="2038" h="28">
                <a:moveTo>
                  <a:pt x="0" y="0"/>
                </a:moveTo>
                <a:lnTo>
                  <a:pt x="2038" y="0"/>
                </a:lnTo>
                <a:lnTo>
                  <a:pt x="20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5305320" y="49240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752400" y="5400360"/>
            <a:ext cx="2238480" cy="10080"/>
          </a:xfrm>
          <a:custGeom>
            <a:avLst/>
            <a:gdLst/>
            <a:ahLst/>
            <a:rect l="0" t="0" r="r" b="b"/>
            <a:pathLst>
              <a:path w="6218" h="28">
                <a:moveTo>
                  <a:pt x="0" y="0"/>
                </a:moveTo>
                <a:lnTo>
                  <a:pt x="6218" y="0"/>
                </a:lnTo>
                <a:lnTo>
                  <a:pt x="62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2990520" y="540036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3524040" y="5400360"/>
            <a:ext cx="524160" cy="10080"/>
          </a:xfrm>
          <a:custGeom>
            <a:avLst/>
            <a:gdLst/>
            <a:ahLst/>
            <a:rect l="0" t="0" r="r" b="b"/>
            <a:pathLst>
              <a:path w="1456" h="28">
                <a:moveTo>
                  <a:pt x="0" y="0"/>
                </a:moveTo>
                <a:lnTo>
                  <a:pt x="1456" y="0"/>
                </a:lnTo>
                <a:lnTo>
                  <a:pt x="14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4047840" y="540036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/>
          <p:nvPr/>
        </p:nvSpPr>
        <p:spPr>
          <a:xfrm>
            <a:off x="4581360" y="5400360"/>
            <a:ext cx="733680" cy="10080"/>
          </a:xfrm>
          <a:custGeom>
            <a:avLst/>
            <a:gdLst/>
            <a:ahLst/>
            <a:rect l="0" t="0" r="r" b="b"/>
            <a:pathLst>
              <a:path w="2038" h="28">
                <a:moveTo>
                  <a:pt x="0" y="0"/>
                </a:moveTo>
                <a:lnTo>
                  <a:pt x="2038" y="0"/>
                </a:lnTo>
                <a:lnTo>
                  <a:pt x="20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752400" y="54100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2981160" y="54100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3514680" y="54100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4038480" y="54100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4571640" y="54100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>
            <a:off x="5305320" y="54100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752400" y="5895720"/>
            <a:ext cx="2238480" cy="10080"/>
          </a:xfrm>
          <a:custGeom>
            <a:avLst/>
            <a:gdLst/>
            <a:ahLst/>
            <a:rect l="0" t="0" r="r" b="b"/>
            <a:pathLst>
              <a:path w="6218" h="28">
                <a:moveTo>
                  <a:pt x="0" y="0"/>
                </a:moveTo>
                <a:lnTo>
                  <a:pt x="6218" y="0"/>
                </a:lnTo>
                <a:lnTo>
                  <a:pt x="62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2990520" y="589572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3524040" y="5895720"/>
            <a:ext cx="524160" cy="10080"/>
          </a:xfrm>
          <a:custGeom>
            <a:avLst/>
            <a:gdLst/>
            <a:ahLst/>
            <a:rect l="0" t="0" r="r" b="b"/>
            <a:pathLst>
              <a:path w="1456" h="28">
                <a:moveTo>
                  <a:pt x="0" y="0"/>
                </a:moveTo>
                <a:lnTo>
                  <a:pt x="1456" y="0"/>
                </a:lnTo>
                <a:lnTo>
                  <a:pt x="14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/>
          <p:nvPr/>
        </p:nvSpPr>
        <p:spPr>
          <a:xfrm>
            <a:off x="4047840" y="589572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/>
          <p:nvPr/>
        </p:nvSpPr>
        <p:spPr>
          <a:xfrm>
            <a:off x="4581360" y="5895720"/>
            <a:ext cx="733680" cy="10080"/>
          </a:xfrm>
          <a:custGeom>
            <a:avLst/>
            <a:gdLst/>
            <a:ahLst/>
            <a:rect l="0" t="0" r="r" b="b"/>
            <a:pathLst>
              <a:path w="2038" h="28">
                <a:moveTo>
                  <a:pt x="0" y="0"/>
                </a:moveTo>
                <a:lnTo>
                  <a:pt x="2038" y="0"/>
                </a:lnTo>
                <a:lnTo>
                  <a:pt x="20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 txBox="1"/>
          <p:nvPr/>
        </p:nvSpPr>
        <p:spPr>
          <a:xfrm>
            <a:off x="747720" y="731520"/>
            <a:ext cx="28868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Superdense coding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64" name=""/>
          <p:cNvPicPr/>
          <p:nvPr/>
        </p:nvPicPr>
        <p:blipFill>
          <a:blip r:embed="rId1"/>
          <a:stretch/>
        </p:blipFill>
        <p:spPr>
          <a:xfrm>
            <a:off x="752400" y="1886040"/>
            <a:ext cx="5333760" cy="150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5" name=""/>
          <p:cNvSpPr txBox="1"/>
          <p:nvPr/>
        </p:nvSpPr>
        <p:spPr>
          <a:xfrm>
            <a:off x="747720" y="1383840"/>
            <a:ext cx="61801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Send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2 classical bits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by physically transmitting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 qubit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 txBox="1"/>
          <p:nvPr/>
        </p:nvSpPr>
        <p:spPr>
          <a:xfrm>
            <a:off x="747720" y="3641040"/>
            <a:ext cx="48294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Alice owns q0, Bob owns q1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— they share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 txBox="1"/>
          <p:nvPr/>
        </p:nvSpPr>
        <p:spPr>
          <a:xfrm>
            <a:off x="7440840" y="3641040"/>
            <a:ext cx="12052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one each.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 txBox="1"/>
          <p:nvPr/>
        </p:nvSpPr>
        <p:spPr>
          <a:xfrm>
            <a:off x="747720" y="4069800"/>
            <a:ext cx="88844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Alice applies one gate to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her qubit only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sends it to Bob, and he — now holding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 txBox="1"/>
          <p:nvPr/>
        </p:nvSpPr>
        <p:spPr>
          <a:xfrm>
            <a:off x="747720" y="4422240"/>
            <a:ext cx="34257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both — undoes the Bell circuit.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 txBox="1"/>
          <p:nvPr/>
        </p:nvSpPr>
        <p:spPr>
          <a:xfrm>
            <a:off x="880920" y="5003280"/>
            <a:ext cx="19789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Bob ﬁnally reads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 txBox="1"/>
          <p:nvPr/>
        </p:nvSpPr>
        <p:spPr>
          <a:xfrm>
            <a:off x="3114720" y="5003280"/>
            <a:ext cx="272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00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3644640" y="5003280"/>
            <a:ext cx="272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01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 txBox="1"/>
          <p:nvPr/>
        </p:nvSpPr>
        <p:spPr>
          <a:xfrm>
            <a:off x="4174200" y="5003280"/>
            <a:ext cx="272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10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 txBox="1"/>
          <p:nvPr/>
        </p:nvSpPr>
        <p:spPr>
          <a:xfrm>
            <a:off x="4806720" y="5003280"/>
            <a:ext cx="272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11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 txBox="1"/>
          <p:nvPr/>
        </p:nvSpPr>
        <p:spPr>
          <a:xfrm>
            <a:off x="880920" y="5488920"/>
            <a:ext cx="17013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so Alice applies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 txBox="1"/>
          <p:nvPr/>
        </p:nvSpPr>
        <p:spPr>
          <a:xfrm>
            <a:off x="747720" y="6116040"/>
            <a:ext cx="731700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 top row is the </a:t>
            </a:r>
            <a:r>
              <a:rPr lang="en-US" sz="154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message Bob reads after decoding </a:t>
            </a:r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— not the state in ﬂight.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 txBox="1"/>
          <p:nvPr/>
        </p:nvSpPr>
        <p:spPr>
          <a:xfrm>
            <a:off x="5878080" y="38854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5903280" y="3587760"/>
            <a:ext cx="9136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(∣00⟩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 txBox="1"/>
          <p:nvPr/>
        </p:nvSpPr>
        <p:spPr>
          <a:xfrm>
            <a:off x="5878080" y="40190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5614920" y="385452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49"/>
                </a:moveTo>
                <a:cubicBezTo>
                  <a:pt x="12" y="349"/>
                  <a:pt x="9" y="348"/>
                  <a:pt x="6" y="345"/>
                </a:cubicBezTo>
                <a:cubicBezTo>
                  <a:pt x="2" y="342"/>
                  <a:pt x="0" y="339"/>
                  <a:pt x="0" y="337"/>
                </a:cubicBezTo>
                <a:cubicBezTo>
                  <a:pt x="0" y="336"/>
                  <a:pt x="0" y="335"/>
                  <a:pt x="1" y="335"/>
                </a:cubicBezTo>
                <a:cubicBezTo>
                  <a:pt x="2" y="333"/>
                  <a:pt x="14" y="323"/>
                  <a:pt x="39" y="305"/>
                </a:cubicBezTo>
                <a:cubicBezTo>
                  <a:pt x="63" y="286"/>
                  <a:pt x="76" y="276"/>
                  <a:pt x="76" y="276"/>
                </a:cubicBezTo>
                <a:cubicBezTo>
                  <a:pt x="77" y="275"/>
                  <a:pt x="78" y="275"/>
                  <a:pt x="79" y="275"/>
                </a:cubicBezTo>
                <a:cubicBezTo>
                  <a:pt x="81" y="275"/>
                  <a:pt x="84" y="277"/>
                  <a:pt x="85" y="280"/>
                </a:cubicBezTo>
                <a:cubicBezTo>
                  <a:pt x="87" y="284"/>
                  <a:pt x="183" y="492"/>
                  <a:pt x="183" y="492"/>
                </a:cubicBezTo>
                <a:cubicBezTo>
                  <a:pt x="184" y="492"/>
                  <a:pt x="203" y="452"/>
                  <a:pt x="242" y="373"/>
                </a:cubicBezTo>
                <a:cubicBezTo>
                  <a:pt x="280" y="293"/>
                  <a:pt x="319" y="212"/>
                  <a:pt x="357" y="132"/>
                </a:cubicBezTo>
                <a:cubicBezTo>
                  <a:pt x="396" y="51"/>
                  <a:pt x="416" y="10"/>
                  <a:pt x="417" y="8"/>
                </a:cubicBezTo>
                <a:cubicBezTo>
                  <a:pt x="420" y="3"/>
                  <a:pt x="424" y="0"/>
                  <a:pt x="428" y="0"/>
                </a:cubicBezTo>
                <a:lnTo>
                  <a:pt x="702" y="0"/>
                </a:lnTo>
                <a:lnTo>
                  <a:pt x="702" y="22"/>
                </a:lnTo>
                <a:lnTo>
                  <a:pt x="434" y="22"/>
                </a:lnTo>
                <a:lnTo>
                  <a:pt x="308" y="285"/>
                </a:lnTo>
                <a:lnTo>
                  <a:pt x="177" y="557"/>
                </a:lnTo>
                <a:cubicBezTo>
                  <a:pt x="175" y="560"/>
                  <a:pt x="172" y="561"/>
                  <a:pt x="166" y="561"/>
                </a:cubicBezTo>
                <a:cubicBezTo>
                  <a:pt x="163" y="561"/>
                  <a:pt x="160" y="560"/>
                  <a:pt x="159" y="559"/>
                </a:cubicBezTo>
                <a:cubicBezTo>
                  <a:pt x="158" y="558"/>
                  <a:pt x="50" y="323"/>
                  <a:pt x="50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5600520" y="3819240"/>
            <a:ext cx="267120" cy="10080"/>
          </a:xfrm>
          <a:custGeom>
            <a:avLst/>
            <a:gdLst/>
            <a:ahLst/>
            <a:rect l="0" t="0" r="r" b="b"/>
            <a:pathLst>
              <a:path w="742" h="28">
                <a:moveTo>
                  <a:pt x="0" y="0"/>
                </a:moveTo>
                <a:lnTo>
                  <a:pt x="742" y="0"/>
                </a:lnTo>
                <a:lnTo>
                  <a:pt x="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 txBox="1"/>
          <p:nvPr/>
        </p:nvSpPr>
        <p:spPr>
          <a:xfrm>
            <a:off x="5767560" y="38134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 txBox="1"/>
          <p:nvPr/>
        </p:nvSpPr>
        <p:spPr>
          <a:xfrm>
            <a:off x="5683680" y="3565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 txBox="1"/>
          <p:nvPr/>
        </p:nvSpPr>
        <p:spPr>
          <a:xfrm>
            <a:off x="6848280" y="3587760"/>
            <a:ext cx="6742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∣11⟩)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 txBox="1"/>
          <p:nvPr/>
        </p:nvSpPr>
        <p:spPr>
          <a:xfrm>
            <a:off x="3176280" y="55058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3650040" y="55058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 txBox="1"/>
          <p:nvPr/>
        </p:nvSpPr>
        <p:spPr>
          <a:xfrm>
            <a:off x="4201560" y="55058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 txBox="1"/>
          <p:nvPr/>
        </p:nvSpPr>
        <p:spPr>
          <a:xfrm>
            <a:off x="4703760" y="5505840"/>
            <a:ext cx="40536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ZX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757080" y="4433760"/>
            <a:ext cx="10687320" cy="1019520"/>
          </a:xfrm>
          <a:custGeom>
            <a:avLst/>
            <a:gdLst/>
            <a:ahLst/>
            <a:rect l="0" t="0" r="r" b="b"/>
            <a:pathLst>
              <a:path w="29687" h="2832">
                <a:moveTo>
                  <a:pt x="0" y="268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2686"/>
                </a:lnTo>
                <a:cubicBezTo>
                  <a:pt x="29687" y="2696"/>
                  <a:pt x="29686" y="2705"/>
                  <a:pt x="29684" y="2715"/>
                </a:cubicBezTo>
                <a:cubicBezTo>
                  <a:pt x="29683" y="2724"/>
                  <a:pt x="29680" y="2733"/>
                  <a:pt x="29676" y="2742"/>
                </a:cubicBezTo>
                <a:cubicBezTo>
                  <a:pt x="29672" y="2751"/>
                  <a:pt x="29668" y="2759"/>
                  <a:pt x="29663" y="2767"/>
                </a:cubicBezTo>
                <a:cubicBezTo>
                  <a:pt x="29657" y="2775"/>
                  <a:pt x="29651" y="2783"/>
                  <a:pt x="29645" y="2789"/>
                </a:cubicBezTo>
                <a:cubicBezTo>
                  <a:pt x="29638" y="2796"/>
                  <a:pt x="29630" y="2802"/>
                  <a:pt x="29623" y="2807"/>
                </a:cubicBezTo>
                <a:cubicBezTo>
                  <a:pt x="29615" y="2813"/>
                  <a:pt x="29606" y="2817"/>
                  <a:pt x="29597" y="2821"/>
                </a:cubicBezTo>
                <a:cubicBezTo>
                  <a:pt x="29589" y="2824"/>
                  <a:pt x="29579" y="2827"/>
                  <a:pt x="29570" y="2829"/>
                </a:cubicBezTo>
                <a:cubicBezTo>
                  <a:pt x="29561" y="2831"/>
                  <a:pt x="29551" y="2832"/>
                  <a:pt x="29542" y="2832"/>
                </a:cubicBezTo>
                <a:lnTo>
                  <a:pt x="145" y="2832"/>
                </a:lnTo>
                <a:cubicBezTo>
                  <a:pt x="136" y="2832"/>
                  <a:pt x="126" y="2831"/>
                  <a:pt x="117" y="2829"/>
                </a:cubicBezTo>
                <a:cubicBezTo>
                  <a:pt x="108" y="2827"/>
                  <a:pt x="99" y="2824"/>
                  <a:pt x="90" y="2821"/>
                </a:cubicBezTo>
                <a:cubicBezTo>
                  <a:pt x="81" y="2817"/>
                  <a:pt x="73" y="2813"/>
                  <a:pt x="65" y="2807"/>
                </a:cubicBezTo>
                <a:cubicBezTo>
                  <a:pt x="57" y="2802"/>
                  <a:pt x="49" y="2796"/>
                  <a:pt x="43" y="2789"/>
                </a:cubicBezTo>
                <a:cubicBezTo>
                  <a:pt x="36" y="2783"/>
                  <a:pt x="30" y="2775"/>
                  <a:pt x="24" y="2767"/>
                </a:cubicBezTo>
                <a:cubicBezTo>
                  <a:pt x="19" y="2759"/>
                  <a:pt x="15" y="2751"/>
                  <a:pt x="11" y="2742"/>
                </a:cubicBezTo>
                <a:cubicBezTo>
                  <a:pt x="7" y="2733"/>
                  <a:pt x="5" y="2724"/>
                  <a:pt x="3" y="2715"/>
                </a:cubicBezTo>
                <a:cubicBezTo>
                  <a:pt x="1" y="2705"/>
                  <a:pt x="0" y="2696"/>
                  <a:pt x="0" y="26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757080" y="4433760"/>
            <a:ext cx="10687320" cy="1019520"/>
          </a:xfrm>
          <a:custGeom>
            <a:avLst/>
            <a:gdLst/>
            <a:ahLst/>
            <a:rect l="0" t="0" r="r" b="b"/>
            <a:pathLst>
              <a:path w="29687" h="2832">
                <a:moveTo>
                  <a:pt x="0" y="268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2686"/>
                </a:lnTo>
                <a:cubicBezTo>
                  <a:pt x="29687" y="2696"/>
                  <a:pt x="29686" y="2705"/>
                  <a:pt x="29684" y="2715"/>
                </a:cubicBezTo>
                <a:cubicBezTo>
                  <a:pt x="29683" y="2724"/>
                  <a:pt x="29680" y="2733"/>
                  <a:pt x="29676" y="2742"/>
                </a:cubicBezTo>
                <a:cubicBezTo>
                  <a:pt x="29672" y="2751"/>
                  <a:pt x="29668" y="2759"/>
                  <a:pt x="29663" y="2767"/>
                </a:cubicBezTo>
                <a:cubicBezTo>
                  <a:pt x="29657" y="2775"/>
                  <a:pt x="29651" y="2783"/>
                  <a:pt x="29645" y="2789"/>
                </a:cubicBezTo>
                <a:cubicBezTo>
                  <a:pt x="29638" y="2796"/>
                  <a:pt x="29630" y="2802"/>
                  <a:pt x="29623" y="2807"/>
                </a:cubicBezTo>
                <a:cubicBezTo>
                  <a:pt x="29615" y="2813"/>
                  <a:pt x="29606" y="2817"/>
                  <a:pt x="29597" y="2821"/>
                </a:cubicBezTo>
                <a:cubicBezTo>
                  <a:pt x="29589" y="2824"/>
                  <a:pt x="29579" y="2827"/>
                  <a:pt x="29570" y="2829"/>
                </a:cubicBezTo>
                <a:cubicBezTo>
                  <a:pt x="29561" y="2831"/>
                  <a:pt x="29551" y="2832"/>
                  <a:pt x="29542" y="2832"/>
                </a:cubicBezTo>
                <a:lnTo>
                  <a:pt x="145" y="2832"/>
                </a:lnTo>
                <a:cubicBezTo>
                  <a:pt x="136" y="2832"/>
                  <a:pt x="126" y="2831"/>
                  <a:pt x="117" y="2829"/>
                </a:cubicBezTo>
                <a:cubicBezTo>
                  <a:pt x="108" y="2827"/>
                  <a:pt x="99" y="2824"/>
                  <a:pt x="90" y="2821"/>
                </a:cubicBezTo>
                <a:cubicBezTo>
                  <a:pt x="81" y="2817"/>
                  <a:pt x="73" y="2813"/>
                  <a:pt x="65" y="2807"/>
                </a:cubicBezTo>
                <a:cubicBezTo>
                  <a:pt x="57" y="2802"/>
                  <a:pt x="49" y="2796"/>
                  <a:pt x="43" y="2789"/>
                </a:cubicBezTo>
                <a:cubicBezTo>
                  <a:pt x="36" y="2783"/>
                  <a:pt x="30" y="2775"/>
                  <a:pt x="24" y="2767"/>
                </a:cubicBezTo>
                <a:cubicBezTo>
                  <a:pt x="19" y="2759"/>
                  <a:pt x="15" y="2751"/>
                  <a:pt x="11" y="2742"/>
                </a:cubicBezTo>
                <a:cubicBezTo>
                  <a:pt x="7" y="2733"/>
                  <a:pt x="5" y="2724"/>
                  <a:pt x="3" y="2715"/>
                </a:cubicBezTo>
                <a:cubicBezTo>
                  <a:pt x="1" y="2705"/>
                  <a:pt x="0" y="2696"/>
                  <a:pt x="0" y="26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 txBox="1"/>
          <p:nvPr/>
        </p:nvSpPr>
        <p:spPr>
          <a:xfrm>
            <a:off x="747720" y="864720"/>
            <a:ext cx="529488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Superdense coding — why it works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 txBox="1"/>
          <p:nvPr/>
        </p:nvSpPr>
        <p:spPr>
          <a:xfrm>
            <a:off x="3189240" y="1523520"/>
            <a:ext cx="5878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∣00⟩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 txBox="1"/>
          <p:nvPr/>
        </p:nvSpPr>
        <p:spPr>
          <a:xfrm>
            <a:off x="4182120" y="18187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3752640" y="1685880"/>
            <a:ext cx="419400" cy="150480"/>
          </a:xfrm>
          <a:custGeom>
            <a:avLst/>
            <a:gdLst/>
            <a:ahLst/>
            <a:rect l="0" t="0" r="r" b="b"/>
            <a:pathLst>
              <a:path w="1165" h="418">
                <a:moveTo>
                  <a:pt x="0" y="225"/>
                </a:moveTo>
                <a:lnTo>
                  <a:pt x="1089" y="225"/>
                </a:lnTo>
                <a:cubicBezTo>
                  <a:pt x="1051" y="254"/>
                  <a:pt x="1022" y="288"/>
                  <a:pt x="1001" y="328"/>
                </a:cubicBezTo>
                <a:cubicBezTo>
                  <a:pt x="988" y="353"/>
                  <a:pt x="979" y="379"/>
                  <a:pt x="975" y="404"/>
                </a:cubicBezTo>
                <a:cubicBezTo>
                  <a:pt x="975" y="405"/>
                  <a:pt x="975" y="406"/>
                  <a:pt x="974" y="407"/>
                </a:cubicBezTo>
                <a:cubicBezTo>
                  <a:pt x="974" y="408"/>
                  <a:pt x="974" y="409"/>
                  <a:pt x="974" y="409"/>
                </a:cubicBezTo>
                <a:cubicBezTo>
                  <a:pt x="974" y="415"/>
                  <a:pt x="979" y="418"/>
                  <a:pt x="990" y="418"/>
                </a:cubicBezTo>
                <a:cubicBezTo>
                  <a:pt x="996" y="418"/>
                  <a:pt x="1001" y="418"/>
                  <a:pt x="1002" y="416"/>
                </a:cubicBezTo>
                <a:cubicBezTo>
                  <a:pt x="1004" y="415"/>
                  <a:pt x="1006" y="412"/>
                  <a:pt x="1007" y="407"/>
                </a:cubicBezTo>
                <a:cubicBezTo>
                  <a:pt x="1008" y="396"/>
                  <a:pt x="1011" y="385"/>
                  <a:pt x="1016" y="374"/>
                </a:cubicBezTo>
                <a:cubicBezTo>
                  <a:pt x="1027" y="338"/>
                  <a:pt x="1047" y="307"/>
                  <a:pt x="1074" y="279"/>
                </a:cubicBezTo>
                <a:cubicBezTo>
                  <a:pt x="1100" y="252"/>
                  <a:pt x="1131" y="232"/>
                  <a:pt x="1165" y="220"/>
                </a:cubicBezTo>
                <a:lnTo>
                  <a:pt x="1165" y="199"/>
                </a:lnTo>
                <a:cubicBezTo>
                  <a:pt x="1131" y="187"/>
                  <a:pt x="1100" y="167"/>
                  <a:pt x="1074" y="140"/>
                </a:cubicBezTo>
                <a:cubicBezTo>
                  <a:pt x="1047" y="111"/>
                  <a:pt x="1027" y="79"/>
                  <a:pt x="1016" y="44"/>
                </a:cubicBezTo>
                <a:cubicBezTo>
                  <a:pt x="1012" y="32"/>
                  <a:pt x="1009" y="22"/>
                  <a:pt x="1007" y="12"/>
                </a:cubicBezTo>
                <a:cubicBezTo>
                  <a:pt x="1006" y="6"/>
                  <a:pt x="1004" y="3"/>
                  <a:pt x="1002" y="2"/>
                </a:cubicBezTo>
                <a:cubicBezTo>
                  <a:pt x="1001" y="0"/>
                  <a:pt x="996" y="0"/>
                  <a:pt x="990" y="0"/>
                </a:cubicBezTo>
                <a:cubicBezTo>
                  <a:pt x="979" y="0"/>
                  <a:pt x="973" y="3"/>
                  <a:pt x="973" y="8"/>
                </a:cubicBezTo>
                <a:cubicBezTo>
                  <a:pt x="973" y="10"/>
                  <a:pt x="975" y="17"/>
                  <a:pt x="978" y="28"/>
                </a:cubicBezTo>
                <a:cubicBezTo>
                  <a:pt x="995" y="95"/>
                  <a:pt x="1032" y="151"/>
                  <a:pt x="1089" y="193"/>
                </a:cubicBezTo>
                <a:lnTo>
                  <a:pt x="0" y="193"/>
                </a:lnTo>
                <a:lnTo>
                  <a:pt x="0" y="22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 txBox="1"/>
          <p:nvPr/>
        </p:nvSpPr>
        <p:spPr>
          <a:xfrm>
            <a:off x="3868920" y="1488240"/>
            <a:ext cx="20124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H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 txBox="1"/>
          <p:nvPr/>
        </p:nvSpPr>
        <p:spPr>
          <a:xfrm>
            <a:off x="4565520" y="18187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 txBox="1"/>
          <p:nvPr/>
        </p:nvSpPr>
        <p:spPr>
          <a:xfrm>
            <a:off x="4590360" y="1520640"/>
            <a:ext cx="9136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(∣00⟩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 txBox="1"/>
          <p:nvPr/>
        </p:nvSpPr>
        <p:spPr>
          <a:xfrm>
            <a:off x="4565520" y="1951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4300560" y="178776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48"/>
                </a:moveTo>
                <a:cubicBezTo>
                  <a:pt x="11" y="348"/>
                  <a:pt x="9" y="346"/>
                  <a:pt x="5" y="343"/>
                </a:cubicBezTo>
                <a:cubicBezTo>
                  <a:pt x="2" y="340"/>
                  <a:pt x="0" y="338"/>
                  <a:pt x="0" y="336"/>
                </a:cubicBezTo>
                <a:cubicBezTo>
                  <a:pt x="0" y="334"/>
                  <a:pt x="0" y="334"/>
                  <a:pt x="1" y="333"/>
                </a:cubicBezTo>
                <a:cubicBezTo>
                  <a:pt x="1" y="332"/>
                  <a:pt x="14" y="322"/>
                  <a:pt x="38" y="303"/>
                </a:cubicBezTo>
                <a:cubicBezTo>
                  <a:pt x="63" y="284"/>
                  <a:pt x="75" y="275"/>
                  <a:pt x="76" y="275"/>
                </a:cubicBezTo>
                <a:cubicBezTo>
                  <a:pt x="76" y="274"/>
                  <a:pt x="77" y="273"/>
                  <a:pt x="78" y="273"/>
                </a:cubicBezTo>
                <a:cubicBezTo>
                  <a:pt x="81" y="273"/>
                  <a:pt x="83" y="275"/>
                  <a:pt x="85" y="279"/>
                </a:cubicBezTo>
                <a:cubicBezTo>
                  <a:pt x="87" y="283"/>
                  <a:pt x="182" y="492"/>
                  <a:pt x="182" y="492"/>
                </a:cubicBezTo>
                <a:cubicBezTo>
                  <a:pt x="182" y="492"/>
                  <a:pt x="202" y="452"/>
                  <a:pt x="240" y="372"/>
                </a:cubicBezTo>
                <a:cubicBezTo>
                  <a:pt x="279" y="292"/>
                  <a:pt x="318" y="212"/>
                  <a:pt x="357" y="131"/>
                </a:cubicBezTo>
                <a:cubicBezTo>
                  <a:pt x="396" y="51"/>
                  <a:pt x="415" y="9"/>
                  <a:pt x="417" y="7"/>
                </a:cubicBezTo>
                <a:cubicBezTo>
                  <a:pt x="420" y="2"/>
                  <a:pt x="423" y="0"/>
                  <a:pt x="428" y="0"/>
                </a:cubicBezTo>
                <a:lnTo>
                  <a:pt x="702" y="0"/>
                </a:lnTo>
                <a:lnTo>
                  <a:pt x="702" y="22"/>
                </a:lnTo>
                <a:lnTo>
                  <a:pt x="434" y="22"/>
                </a:lnTo>
                <a:lnTo>
                  <a:pt x="308" y="283"/>
                </a:lnTo>
                <a:lnTo>
                  <a:pt x="175" y="557"/>
                </a:lnTo>
                <a:cubicBezTo>
                  <a:pt x="174" y="559"/>
                  <a:pt x="170" y="561"/>
                  <a:pt x="165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2"/>
                  <a:pt x="49" y="322"/>
                </a:cubicBezTo>
                <a:lnTo>
                  <a:pt x="13" y="34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4286160" y="175248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 txBox="1"/>
          <p:nvPr/>
        </p:nvSpPr>
        <p:spPr>
          <a:xfrm>
            <a:off x="4455000" y="17467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 txBox="1"/>
          <p:nvPr/>
        </p:nvSpPr>
        <p:spPr>
          <a:xfrm>
            <a:off x="4371120" y="14990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 txBox="1"/>
          <p:nvPr/>
        </p:nvSpPr>
        <p:spPr>
          <a:xfrm>
            <a:off x="5535360" y="1523520"/>
            <a:ext cx="6742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∣10⟩)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 txBox="1"/>
          <p:nvPr/>
        </p:nvSpPr>
        <p:spPr>
          <a:xfrm>
            <a:off x="7066440" y="18187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6210000" y="1685880"/>
            <a:ext cx="848160" cy="150480"/>
          </a:xfrm>
          <a:custGeom>
            <a:avLst/>
            <a:gdLst/>
            <a:ahLst/>
            <a:rect l="0" t="0" r="r" b="b"/>
            <a:pathLst>
              <a:path w="2356" h="418">
                <a:moveTo>
                  <a:pt x="0" y="225"/>
                </a:moveTo>
                <a:lnTo>
                  <a:pt x="2272" y="225"/>
                </a:lnTo>
                <a:cubicBezTo>
                  <a:pt x="2234" y="254"/>
                  <a:pt x="2205" y="288"/>
                  <a:pt x="2184" y="328"/>
                </a:cubicBezTo>
                <a:cubicBezTo>
                  <a:pt x="2171" y="353"/>
                  <a:pt x="2162" y="379"/>
                  <a:pt x="2158" y="404"/>
                </a:cubicBezTo>
                <a:cubicBezTo>
                  <a:pt x="2158" y="405"/>
                  <a:pt x="2158" y="406"/>
                  <a:pt x="2157" y="407"/>
                </a:cubicBezTo>
                <a:cubicBezTo>
                  <a:pt x="2157" y="408"/>
                  <a:pt x="2157" y="409"/>
                  <a:pt x="2157" y="409"/>
                </a:cubicBezTo>
                <a:cubicBezTo>
                  <a:pt x="2157" y="415"/>
                  <a:pt x="2162" y="418"/>
                  <a:pt x="2173" y="418"/>
                </a:cubicBezTo>
                <a:cubicBezTo>
                  <a:pt x="2179" y="418"/>
                  <a:pt x="2184" y="418"/>
                  <a:pt x="2185" y="416"/>
                </a:cubicBezTo>
                <a:cubicBezTo>
                  <a:pt x="2187" y="415"/>
                  <a:pt x="2189" y="412"/>
                  <a:pt x="2190" y="407"/>
                </a:cubicBezTo>
                <a:cubicBezTo>
                  <a:pt x="2191" y="396"/>
                  <a:pt x="2194" y="385"/>
                  <a:pt x="2199" y="374"/>
                </a:cubicBezTo>
                <a:cubicBezTo>
                  <a:pt x="2210" y="338"/>
                  <a:pt x="2230" y="307"/>
                  <a:pt x="2257" y="279"/>
                </a:cubicBezTo>
                <a:cubicBezTo>
                  <a:pt x="2284" y="251"/>
                  <a:pt x="2316" y="230"/>
                  <a:pt x="2352" y="218"/>
                </a:cubicBezTo>
                <a:cubicBezTo>
                  <a:pt x="2354" y="218"/>
                  <a:pt x="2355" y="217"/>
                  <a:pt x="2356" y="216"/>
                </a:cubicBezTo>
                <a:lnTo>
                  <a:pt x="2356" y="203"/>
                </a:lnTo>
                <a:cubicBezTo>
                  <a:pt x="2355" y="202"/>
                  <a:pt x="2354" y="201"/>
                  <a:pt x="2352" y="201"/>
                </a:cubicBezTo>
                <a:cubicBezTo>
                  <a:pt x="2316" y="188"/>
                  <a:pt x="2284" y="168"/>
                  <a:pt x="2257" y="140"/>
                </a:cubicBezTo>
                <a:cubicBezTo>
                  <a:pt x="2230" y="111"/>
                  <a:pt x="2210" y="79"/>
                  <a:pt x="2199" y="44"/>
                </a:cubicBezTo>
                <a:cubicBezTo>
                  <a:pt x="2195" y="32"/>
                  <a:pt x="2192" y="22"/>
                  <a:pt x="2190" y="12"/>
                </a:cubicBezTo>
                <a:cubicBezTo>
                  <a:pt x="2189" y="6"/>
                  <a:pt x="2187" y="3"/>
                  <a:pt x="2185" y="2"/>
                </a:cubicBezTo>
                <a:cubicBezTo>
                  <a:pt x="2184" y="0"/>
                  <a:pt x="2179" y="0"/>
                  <a:pt x="2173" y="0"/>
                </a:cubicBezTo>
                <a:cubicBezTo>
                  <a:pt x="2162" y="0"/>
                  <a:pt x="2156" y="3"/>
                  <a:pt x="2156" y="8"/>
                </a:cubicBezTo>
                <a:cubicBezTo>
                  <a:pt x="2156" y="10"/>
                  <a:pt x="2158" y="17"/>
                  <a:pt x="2161" y="28"/>
                </a:cubicBezTo>
                <a:cubicBezTo>
                  <a:pt x="2178" y="95"/>
                  <a:pt x="2215" y="151"/>
                  <a:pt x="2272" y="193"/>
                </a:cubicBezTo>
                <a:lnTo>
                  <a:pt x="0" y="193"/>
                </a:lnTo>
                <a:lnTo>
                  <a:pt x="0" y="22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 txBox="1"/>
          <p:nvPr/>
        </p:nvSpPr>
        <p:spPr>
          <a:xfrm>
            <a:off x="6309000" y="1488240"/>
            <a:ext cx="63396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CNOT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 txBox="1"/>
          <p:nvPr/>
        </p:nvSpPr>
        <p:spPr>
          <a:xfrm>
            <a:off x="7449840" y="18187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 txBox="1"/>
          <p:nvPr/>
        </p:nvSpPr>
        <p:spPr>
          <a:xfrm>
            <a:off x="7474680" y="1520640"/>
            <a:ext cx="9136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(∣00⟩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 txBox="1"/>
          <p:nvPr/>
        </p:nvSpPr>
        <p:spPr>
          <a:xfrm>
            <a:off x="7449840" y="1951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7186680" y="1787760"/>
            <a:ext cx="252360" cy="201960"/>
          </a:xfrm>
          <a:custGeom>
            <a:avLst/>
            <a:gdLst/>
            <a:ahLst/>
            <a:rect l="0" t="0" r="r" b="b"/>
            <a:pathLst>
              <a:path w="701" h="561">
                <a:moveTo>
                  <a:pt x="13" y="348"/>
                </a:moveTo>
                <a:cubicBezTo>
                  <a:pt x="11" y="348"/>
                  <a:pt x="9" y="346"/>
                  <a:pt x="5" y="343"/>
                </a:cubicBezTo>
                <a:cubicBezTo>
                  <a:pt x="2" y="340"/>
                  <a:pt x="0" y="338"/>
                  <a:pt x="0" y="336"/>
                </a:cubicBezTo>
                <a:cubicBezTo>
                  <a:pt x="0" y="334"/>
                  <a:pt x="0" y="334"/>
                  <a:pt x="1" y="333"/>
                </a:cubicBezTo>
                <a:cubicBezTo>
                  <a:pt x="1" y="332"/>
                  <a:pt x="14" y="322"/>
                  <a:pt x="38" y="303"/>
                </a:cubicBezTo>
                <a:cubicBezTo>
                  <a:pt x="63" y="284"/>
                  <a:pt x="75" y="275"/>
                  <a:pt x="76" y="275"/>
                </a:cubicBezTo>
                <a:cubicBezTo>
                  <a:pt x="76" y="274"/>
                  <a:pt x="77" y="273"/>
                  <a:pt x="78" y="273"/>
                </a:cubicBezTo>
                <a:cubicBezTo>
                  <a:pt x="81" y="273"/>
                  <a:pt x="83" y="275"/>
                  <a:pt x="85" y="279"/>
                </a:cubicBezTo>
                <a:cubicBezTo>
                  <a:pt x="87" y="283"/>
                  <a:pt x="182" y="492"/>
                  <a:pt x="182" y="492"/>
                </a:cubicBezTo>
                <a:cubicBezTo>
                  <a:pt x="182" y="492"/>
                  <a:pt x="202" y="452"/>
                  <a:pt x="240" y="372"/>
                </a:cubicBezTo>
                <a:cubicBezTo>
                  <a:pt x="279" y="292"/>
                  <a:pt x="317" y="212"/>
                  <a:pt x="356" y="131"/>
                </a:cubicBezTo>
                <a:cubicBezTo>
                  <a:pt x="394" y="51"/>
                  <a:pt x="414" y="9"/>
                  <a:pt x="415" y="7"/>
                </a:cubicBezTo>
                <a:cubicBezTo>
                  <a:pt x="418" y="2"/>
                  <a:pt x="422" y="0"/>
                  <a:pt x="427" y="0"/>
                </a:cubicBezTo>
                <a:lnTo>
                  <a:pt x="701" y="0"/>
                </a:lnTo>
                <a:lnTo>
                  <a:pt x="701" y="22"/>
                </a:lnTo>
                <a:lnTo>
                  <a:pt x="433" y="22"/>
                </a:lnTo>
                <a:lnTo>
                  <a:pt x="307" y="283"/>
                </a:lnTo>
                <a:lnTo>
                  <a:pt x="175" y="557"/>
                </a:lnTo>
                <a:cubicBezTo>
                  <a:pt x="174" y="559"/>
                  <a:pt x="170" y="561"/>
                  <a:pt x="165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2"/>
                  <a:pt x="49" y="322"/>
                </a:cubicBezTo>
                <a:lnTo>
                  <a:pt x="13" y="34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7172280" y="1752480"/>
            <a:ext cx="266760" cy="9720"/>
          </a:xfrm>
          <a:custGeom>
            <a:avLst/>
            <a:gdLst/>
            <a:ahLst/>
            <a:rect l="0" t="0" r="r" b="b"/>
            <a:pathLst>
              <a:path w="741" h="27">
                <a:moveTo>
                  <a:pt x="0" y="0"/>
                </a:moveTo>
                <a:lnTo>
                  <a:pt x="741" y="0"/>
                </a:lnTo>
                <a:lnTo>
                  <a:pt x="7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 txBox="1"/>
          <p:nvPr/>
        </p:nvSpPr>
        <p:spPr>
          <a:xfrm>
            <a:off x="7339320" y="17467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 txBox="1"/>
          <p:nvPr/>
        </p:nvSpPr>
        <p:spPr>
          <a:xfrm>
            <a:off x="7255440" y="14990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 txBox="1"/>
          <p:nvPr/>
        </p:nvSpPr>
        <p:spPr>
          <a:xfrm>
            <a:off x="8419680" y="1520640"/>
            <a:ext cx="6742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∣11⟩)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 txBox="1"/>
          <p:nvPr/>
        </p:nvSpPr>
        <p:spPr>
          <a:xfrm>
            <a:off x="747720" y="2155320"/>
            <a:ext cx="1443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Alice applies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3409920" y="2190600"/>
            <a:ext cx="409680" cy="314640"/>
          </a:xfrm>
          <a:custGeom>
            <a:avLst/>
            <a:gdLst/>
            <a:ahLst/>
            <a:rect l="0" t="0" r="r" b="b"/>
            <a:pathLst>
              <a:path w="1138" h="874">
                <a:moveTo>
                  <a:pt x="0" y="715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980" y="0"/>
                </a:lnTo>
                <a:cubicBezTo>
                  <a:pt x="990" y="0"/>
                  <a:pt x="1000" y="1"/>
                  <a:pt x="1011" y="3"/>
                </a:cubicBezTo>
                <a:cubicBezTo>
                  <a:pt x="1021" y="5"/>
                  <a:pt x="1031" y="8"/>
                  <a:pt x="1040" y="12"/>
                </a:cubicBezTo>
                <a:cubicBezTo>
                  <a:pt x="1050" y="16"/>
                  <a:pt x="1059" y="21"/>
                  <a:pt x="1068" y="27"/>
                </a:cubicBezTo>
                <a:cubicBezTo>
                  <a:pt x="1076" y="32"/>
                  <a:pt x="1084" y="39"/>
                  <a:pt x="1092" y="46"/>
                </a:cubicBezTo>
                <a:cubicBezTo>
                  <a:pt x="1099" y="54"/>
                  <a:pt x="1106" y="62"/>
                  <a:pt x="1112" y="70"/>
                </a:cubicBezTo>
                <a:cubicBezTo>
                  <a:pt x="1117" y="79"/>
                  <a:pt x="1122" y="88"/>
                  <a:pt x="1126" y="98"/>
                </a:cubicBezTo>
                <a:cubicBezTo>
                  <a:pt x="1130" y="108"/>
                  <a:pt x="1133" y="117"/>
                  <a:pt x="1135" y="128"/>
                </a:cubicBezTo>
                <a:cubicBezTo>
                  <a:pt x="1137" y="138"/>
                  <a:pt x="1138" y="148"/>
                  <a:pt x="1138" y="159"/>
                </a:cubicBezTo>
                <a:lnTo>
                  <a:pt x="1138" y="715"/>
                </a:lnTo>
                <a:cubicBezTo>
                  <a:pt x="1138" y="726"/>
                  <a:pt x="1137" y="736"/>
                  <a:pt x="1135" y="746"/>
                </a:cubicBezTo>
                <a:cubicBezTo>
                  <a:pt x="1133" y="756"/>
                  <a:pt x="1130" y="766"/>
                  <a:pt x="1126" y="776"/>
                </a:cubicBezTo>
                <a:cubicBezTo>
                  <a:pt x="1122" y="786"/>
                  <a:pt x="1117" y="795"/>
                  <a:pt x="1112" y="803"/>
                </a:cubicBezTo>
                <a:cubicBezTo>
                  <a:pt x="1106" y="812"/>
                  <a:pt x="1099" y="820"/>
                  <a:pt x="1092" y="828"/>
                </a:cubicBezTo>
                <a:cubicBezTo>
                  <a:pt x="1084" y="835"/>
                  <a:pt x="1076" y="841"/>
                  <a:pt x="1068" y="847"/>
                </a:cubicBezTo>
                <a:cubicBezTo>
                  <a:pt x="1059" y="853"/>
                  <a:pt x="1050" y="858"/>
                  <a:pt x="1040" y="862"/>
                </a:cubicBezTo>
                <a:cubicBezTo>
                  <a:pt x="1031" y="866"/>
                  <a:pt x="1021" y="869"/>
                  <a:pt x="1011" y="871"/>
                </a:cubicBezTo>
                <a:cubicBezTo>
                  <a:pt x="1000" y="873"/>
                  <a:pt x="990" y="874"/>
                  <a:pt x="980" y="874"/>
                </a:cubicBezTo>
                <a:lnTo>
                  <a:pt x="158" y="874"/>
                </a:lnTo>
                <a:cubicBezTo>
                  <a:pt x="148" y="874"/>
                  <a:pt x="138" y="873"/>
                  <a:pt x="127" y="871"/>
                </a:cubicBezTo>
                <a:cubicBezTo>
                  <a:pt x="117" y="869"/>
                  <a:pt x="107" y="866"/>
                  <a:pt x="98" y="862"/>
                </a:cubicBezTo>
                <a:cubicBezTo>
                  <a:pt x="88" y="858"/>
                  <a:pt x="79" y="853"/>
                  <a:pt x="70" y="847"/>
                </a:cubicBezTo>
                <a:cubicBezTo>
                  <a:pt x="61" y="841"/>
                  <a:pt x="53" y="835"/>
                  <a:pt x="46" y="828"/>
                </a:cubicBezTo>
                <a:cubicBezTo>
                  <a:pt x="39" y="820"/>
                  <a:pt x="32" y="812"/>
                  <a:pt x="26" y="803"/>
                </a:cubicBezTo>
                <a:cubicBezTo>
                  <a:pt x="21" y="795"/>
                  <a:pt x="16" y="786"/>
                  <a:pt x="12" y="776"/>
                </a:cubicBezTo>
                <a:cubicBezTo>
                  <a:pt x="8" y="766"/>
                  <a:pt x="5" y="756"/>
                  <a:pt x="3" y="746"/>
                </a:cubicBezTo>
                <a:cubicBezTo>
                  <a:pt x="1" y="736"/>
                  <a:pt x="0" y="726"/>
                  <a:pt x="0" y="71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 txBox="1"/>
          <p:nvPr/>
        </p:nvSpPr>
        <p:spPr>
          <a:xfrm>
            <a:off x="2454120" y="2155320"/>
            <a:ext cx="9568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to send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 txBox="1"/>
          <p:nvPr/>
        </p:nvSpPr>
        <p:spPr>
          <a:xfrm>
            <a:off x="3493080" y="2234160"/>
            <a:ext cx="2440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 txBox="1"/>
          <p:nvPr/>
        </p:nvSpPr>
        <p:spPr>
          <a:xfrm>
            <a:off x="3817080" y="215532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 txBox="1"/>
          <p:nvPr/>
        </p:nvSpPr>
        <p:spPr>
          <a:xfrm>
            <a:off x="5344200" y="29710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4914720" y="2838240"/>
            <a:ext cx="419400" cy="150840"/>
          </a:xfrm>
          <a:custGeom>
            <a:avLst/>
            <a:gdLst/>
            <a:ahLst/>
            <a:rect l="0" t="0" r="r" b="b"/>
            <a:pathLst>
              <a:path w="1165" h="419">
                <a:moveTo>
                  <a:pt x="0" y="225"/>
                </a:moveTo>
                <a:lnTo>
                  <a:pt x="1089" y="225"/>
                </a:lnTo>
                <a:cubicBezTo>
                  <a:pt x="1051" y="254"/>
                  <a:pt x="1022" y="288"/>
                  <a:pt x="1001" y="328"/>
                </a:cubicBezTo>
                <a:cubicBezTo>
                  <a:pt x="988" y="354"/>
                  <a:pt x="979" y="379"/>
                  <a:pt x="975" y="404"/>
                </a:cubicBezTo>
                <a:cubicBezTo>
                  <a:pt x="975" y="405"/>
                  <a:pt x="975" y="406"/>
                  <a:pt x="974" y="407"/>
                </a:cubicBezTo>
                <a:cubicBezTo>
                  <a:pt x="974" y="408"/>
                  <a:pt x="974" y="409"/>
                  <a:pt x="974" y="410"/>
                </a:cubicBezTo>
                <a:cubicBezTo>
                  <a:pt x="974" y="416"/>
                  <a:pt x="979" y="419"/>
                  <a:pt x="990" y="419"/>
                </a:cubicBezTo>
                <a:cubicBezTo>
                  <a:pt x="996" y="419"/>
                  <a:pt x="1001" y="418"/>
                  <a:pt x="1002" y="417"/>
                </a:cubicBezTo>
                <a:cubicBezTo>
                  <a:pt x="1004" y="415"/>
                  <a:pt x="1006" y="412"/>
                  <a:pt x="1007" y="407"/>
                </a:cubicBezTo>
                <a:cubicBezTo>
                  <a:pt x="1008" y="397"/>
                  <a:pt x="1011" y="386"/>
                  <a:pt x="1016" y="375"/>
                </a:cubicBezTo>
                <a:cubicBezTo>
                  <a:pt x="1027" y="339"/>
                  <a:pt x="1047" y="307"/>
                  <a:pt x="1074" y="279"/>
                </a:cubicBezTo>
                <a:cubicBezTo>
                  <a:pt x="1100" y="252"/>
                  <a:pt x="1131" y="231"/>
                  <a:pt x="1165" y="219"/>
                </a:cubicBezTo>
                <a:lnTo>
                  <a:pt x="1165" y="199"/>
                </a:lnTo>
                <a:cubicBezTo>
                  <a:pt x="1131" y="186"/>
                  <a:pt x="1100" y="167"/>
                  <a:pt x="1074" y="140"/>
                </a:cubicBezTo>
                <a:cubicBezTo>
                  <a:pt x="1047" y="112"/>
                  <a:pt x="1027" y="80"/>
                  <a:pt x="1016" y="44"/>
                </a:cubicBezTo>
                <a:cubicBezTo>
                  <a:pt x="1012" y="33"/>
                  <a:pt x="1009" y="22"/>
                  <a:pt x="1007" y="12"/>
                </a:cubicBezTo>
                <a:cubicBezTo>
                  <a:pt x="1006" y="7"/>
                  <a:pt x="1004" y="3"/>
                  <a:pt x="1002" y="2"/>
                </a:cubicBezTo>
                <a:cubicBezTo>
                  <a:pt x="1001" y="1"/>
                  <a:pt x="996" y="0"/>
                  <a:pt x="990" y="0"/>
                </a:cubicBezTo>
                <a:cubicBezTo>
                  <a:pt x="979" y="0"/>
                  <a:pt x="973" y="3"/>
                  <a:pt x="973" y="9"/>
                </a:cubicBezTo>
                <a:cubicBezTo>
                  <a:pt x="973" y="10"/>
                  <a:pt x="975" y="17"/>
                  <a:pt x="978" y="29"/>
                </a:cubicBezTo>
                <a:cubicBezTo>
                  <a:pt x="995" y="96"/>
                  <a:pt x="1032" y="150"/>
                  <a:pt x="1089" y="193"/>
                </a:cubicBezTo>
                <a:lnTo>
                  <a:pt x="0" y="193"/>
                </a:lnTo>
                <a:lnTo>
                  <a:pt x="0" y="22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5031720" y="2640600"/>
            <a:ext cx="20124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 txBox="1"/>
          <p:nvPr/>
        </p:nvSpPr>
        <p:spPr>
          <a:xfrm>
            <a:off x="5727240" y="297108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 txBox="1"/>
          <p:nvPr/>
        </p:nvSpPr>
        <p:spPr>
          <a:xfrm>
            <a:off x="5752440" y="2673360"/>
            <a:ext cx="9136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(∣10⟩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 txBox="1"/>
          <p:nvPr/>
        </p:nvSpPr>
        <p:spPr>
          <a:xfrm>
            <a:off x="5727240" y="31046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5462640" y="2940120"/>
            <a:ext cx="252360" cy="201960"/>
          </a:xfrm>
          <a:custGeom>
            <a:avLst/>
            <a:gdLst/>
            <a:ahLst/>
            <a:rect l="0" t="0" r="r" b="b"/>
            <a:pathLst>
              <a:path w="701" h="561">
                <a:moveTo>
                  <a:pt x="13" y="348"/>
                </a:moveTo>
                <a:cubicBezTo>
                  <a:pt x="11" y="348"/>
                  <a:pt x="9" y="347"/>
                  <a:pt x="5" y="344"/>
                </a:cubicBezTo>
                <a:cubicBezTo>
                  <a:pt x="2" y="341"/>
                  <a:pt x="0" y="338"/>
                  <a:pt x="0" y="336"/>
                </a:cubicBezTo>
                <a:cubicBezTo>
                  <a:pt x="0" y="335"/>
                  <a:pt x="0" y="334"/>
                  <a:pt x="1" y="334"/>
                </a:cubicBezTo>
                <a:cubicBezTo>
                  <a:pt x="1" y="332"/>
                  <a:pt x="14" y="322"/>
                  <a:pt x="38" y="304"/>
                </a:cubicBezTo>
                <a:cubicBezTo>
                  <a:pt x="63" y="285"/>
                  <a:pt x="75" y="275"/>
                  <a:pt x="76" y="275"/>
                </a:cubicBezTo>
                <a:cubicBezTo>
                  <a:pt x="76" y="274"/>
                  <a:pt x="77" y="274"/>
                  <a:pt x="78" y="274"/>
                </a:cubicBezTo>
                <a:cubicBezTo>
                  <a:pt x="81" y="274"/>
                  <a:pt x="83" y="276"/>
                  <a:pt x="85" y="279"/>
                </a:cubicBezTo>
                <a:cubicBezTo>
                  <a:pt x="87" y="283"/>
                  <a:pt x="182" y="491"/>
                  <a:pt x="182" y="491"/>
                </a:cubicBezTo>
                <a:cubicBezTo>
                  <a:pt x="182" y="491"/>
                  <a:pt x="202" y="451"/>
                  <a:pt x="240" y="372"/>
                </a:cubicBezTo>
                <a:cubicBezTo>
                  <a:pt x="279" y="292"/>
                  <a:pt x="317" y="212"/>
                  <a:pt x="356" y="132"/>
                </a:cubicBezTo>
                <a:cubicBezTo>
                  <a:pt x="395" y="51"/>
                  <a:pt x="414" y="10"/>
                  <a:pt x="416" y="8"/>
                </a:cubicBezTo>
                <a:cubicBezTo>
                  <a:pt x="418" y="3"/>
                  <a:pt x="422" y="0"/>
                  <a:pt x="427" y="0"/>
                </a:cubicBezTo>
                <a:lnTo>
                  <a:pt x="701" y="0"/>
                </a:lnTo>
                <a:lnTo>
                  <a:pt x="701" y="22"/>
                </a:lnTo>
                <a:lnTo>
                  <a:pt x="433" y="22"/>
                </a:lnTo>
                <a:lnTo>
                  <a:pt x="307" y="284"/>
                </a:lnTo>
                <a:lnTo>
                  <a:pt x="175" y="557"/>
                </a:lnTo>
                <a:cubicBezTo>
                  <a:pt x="174" y="560"/>
                  <a:pt x="170" y="561"/>
                  <a:pt x="165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2"/>
                  <a:pt x="49" y="322"/>
                </a:cubicBezTo>
                <a:lnTo>
                  <a:pt x="13" y="34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5448240" y="2904840"/>
            <a:ext cx="266760" cy="10080"/>
          </a:xfrm>
          <a:custGeom>
            <a:avLst/>
            <a:gdLst/>
            <a:ahLst/>
            <a:rect l="0" t="0" r="r" b="b"/>
            <a:pathLst>
              <a:path w="741" h="28">
                <a:moveTo>
                  <a:pt x="0" y="0"/>
                </a:moveTo>
                <a:lnTo>
                  <a:pt x="741" y="0"/>
                </a:lnTo>
                <a:lnTo>
                  <a:pt x="7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 txBox="1"/>
          <p:nvPr/>
        </p:nvSpPr>
        <p:spPr>
          <a:xfrm>
            <a:off x="5617080" y="28990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 txBox="1"/>
          <p:nvPr/>
        </p:nvSpPr>
        <p:spPr>
          <a:xfrm>
            <a:off x="5532840" y="26514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6697440" y="2673360"/>
            <a:ext cx="6742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∣01⟩)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 txBox="1"/>
          <p:nvPr/>
        </p:nvSpPr>
        <p:spPr>
          <a:xfrm>
            <a:off x="747720" y="3307680"/>
            <a:ext cx="31633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Bob reverses the Bell circuit: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 txBox="1"/>
          <p:nvPr/>
        </p:nvSpPr>
        <p:spPr>
          <a:xfrm>
            <a:off x="3477240" y="41047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2619360" y="3971880"/>
            <a:ext cx="847800" cy="150480"/>
          </a:xfrm>
          <a:custGeom>
            <a:avLst/>
            <a:gdLst/>
            <a:ahLst/>
            <a:rect l="0" t="0" r="r" b="b"/>
            <a:pathLst>
              <a:path w="2355" h="418">
                <a:moveTo>
                  <a:pt x="0" y="225"/>
                </a:moveTo>
                <a:lnTo>
                  <a:pt x="2271" y="225"/>
                </a:lnTo>
                <a:cubicBezTo>
                  <a:pt x="2234" y="254"/>
                  <a:pt x="2204" y="288"/>
                  <a:pt x="2183" y="328"/>
                </a:cubicBezTo>
                <a:cubicBezTo>
                  <a:pt x="2170" y="353"/>
                  <a:pt x="2161" y="379"/>
                  <a:pt x="2157" y="404"/>
                </a:cubicBezTo>
                <a:cubicBezTo>
                  <a:pt x="2157" y="405"/>
                  <a:pt x="2157" y="406"/>
                  <a:pt x="2157" y="407"/>
                </a:cubicBezTo>
                <a:cubicBezTo>
                  <a:pt x="2156" y="408"/>
                  <a:pt x="2156" y="409"/>
                  <a:pt x="2156" y="409"/>
                </a:cubicBezTo>
                <a:cubicBezTo>
                  <a:pt x="2156" y="415"/>
                  <a:pt x="2162" y="418"/>
                  <a:pt x="2172" y="418"/>
                </a:cubicBezTo>
                <a:cubicBezTo>
                  <a:pt x="2179" y="418"/>
                  <a:pt x="2183" y="418"/>
                  <a:pt x="2185" y="416"/>
                </a:cubicBezTo>
                <a:cubicBezTo>
                  <a:pt x="2187" y="415"/>
                  <a:pt x="2188" y="412"/>
                  <a:pt x="2189" y="407"/>
                </a:cubicBezTo>
                <a:cubicBezTo>
                  <a:pt x="2191" y="396"/>
                  <a:pt x="2194" y="385"/>
                  <a:pt x="2198" y="374"/>
                </a:cubicBezTo>
                <a:cubicBezTo>
                  <a:pt x="2210" y="338"/>
                  <a:pt x="2229" y="307"/>
                  <a:pt x="2256" y="279"/>
                </a:cubicBezTo>
                <a:cubicBezTo>
                  <a:pt x="2283" y="251"/>
                  <a:pt x="2315" y="230"/>
                  <a:pt x="2351" y="218"/>
                </a:cubicBezTo>
                <a:cubicBezTo>
                  <a:pt x="2353" y="218"/>
                  <a:pt x="2354" y="217"/>
                  <a:pt x="2355" y="216"/>
                </a:cubicBezTo>
                <a:lnTo>
                  <a:pt x="2355" y="203"/>
                </a:lnTo>
                <a:cubicBezTo>
                  <a:pt x="2354" y="202"/>
                  <a:pt x="2353" y="201"/>
                  <a:pt x="2351" y="201"/>
                </a:cubicBezTo>
                <a:cubicBezTo>
                  <a:pt x="2315" y="188"/>
                  <a:pt x="2283" y="168"/>
                  <a:pt x="2256" y="140"/>
                </a:cubicBezTo>
                <a:cubicBezTo>
                  <a:pt x="2229" y="112"/>
                  <a:pt x="2210" y="80"/>
                  <a:pt x="2198" y="45"/>
                </a:cubicBezTo>
                <a:cubicBezTo>
                  <a:pt x="2194" y="33"/>
                  <a:pt x="2191" y="23"/>
                  <a:pt x="2189" y="12"/>
                </a:cubicBezTo>
                <a:cubicBezTo>
                  <a:pt x="2188" y="6"/>
                  <a:pt x="2187" y="3"/>
                  <a:pt x="2185" y="2"/>
                </a:cubicBezTo>
                <a:cubicBezTo>
                  <a:pt x="2183" y="0"/>
                  <a:pt x="2179" y="0"/>
                  <a:pt x="2172" y="0"/>
                </a:cubicBezTo>
                <a:cubicBezTo>
                  <a:pt x="2161" y="0"/>
                  <a:pt x="2155" y="3"/>
                  <a:pt x="2155" y="8"/>
                </a:cubicBezTo>
                <a:cubicBezTo>
                  <a:pt x="2155" y="10"/>
                  <a:pt x="2157" y="17"/>
                  <a:pt x="2160" y="29"/>
                </a:cubicBezTo>
                <a:cubicBezTo>
                  <a:pt x="2177" y="96"/>
                  <a:pt x="2214" y="151"/>
                  <a:pt x="2271" y="193"/>
                </a:cubicBezTo>
                <a:lnTo>
                  <a:pt x="0" y="193"/>
                </a:lnTo>
                <a:lnTo>
                  <a:pt x="0" y="22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 txBox="1"/>
          <p:nvPr/>
        </p:nvSpPr>
        <p:spPr>
          <a:xfrm>
            <a:off x="2719800" y="3774240"/>
            <a:ext cx="63396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CNOT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 txBox="1"/>
          <p:nvPr/>
        </p:nvSpPr>
        <p:spPr>
          <a:xfrm>
            <a:off x="3860640" y="41047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 txBox="1"/>
          <p:nvPr/>
        </p:nvSpPr>
        <p:spPr>
          <a:xfrm>
            <a:off x="3885480" y="3806640"/>
            <a:ext cx="9136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(∣11⟩ +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 txBox="1"/>
          <p:nvPr/>
        </p:nvSpPr>
        <p:spPr>
          <a:xfrm>
            <a:off x="3860640" y="4237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3595680" y="4073760"/>
            <a:ext cx="252720" cy="201960"/>
          </a:xfrm>
          <a:custGeom>
            <a:avLst/>
            <a:gdLst/>
            <a:ahLst/>
            <a:rect l="0" t="0" r="r" b="b"/>
            <a:pathLst>
              <a:path w="702" h="561">
                <a:moveTo>
                  <a:pt x="13" y="349"/>
                </a:moveTo>
                <a:cubicBezTo>
                  <a:pt x="12" y="349"/>
                  <a:pt x="9" y="347"/>
                  <a:pt x="5" y="344"/>
                </a:cubicBezTo>
                <a:cubicBezTo>
                  <a:pt x="2" y="341"/>
                  <a:pt x="0" y="339"/>
                  <a:pt x="0" y="337"/>
                </a:cubicBezTo>
                <a:cubicBezTo>
                  <a:pt x="0" y="335"/>
                  <a:pt x="0" y="335"/>
                  <a:pt x="1" y="334"/>
                </a:cubicBezTo>
                <a:cubicBezTo>
                  <a:pt x="1" y="333"/>
                  <a:pt x="14" y="323"/>
                  <a:pt x="39" y="304"/>
                </a:cubicBezTo>
                <a:cubicBezTo>
                  <a:pt x="63" y="285"/>
                  <a:pt x="75" y="276"/>
                  <a:pt x="76" y="276"/>
                </a:cubicBezTo>
                <a:cubicBezTo>
                  <a:pt x="76" y="275"/>
                  <a:pt x="77" y="274"/>
                  <a:pt x="79" y="274"/>
                </a:cubicBezTo>
                <a:cubicBezTo>
                  <a:pt x="81" y="274"/>
                  <a:pt x="83" y="276"/>
                  <a:pt x="85" y="280"/>
                </a:cubicBezTo>
                <a:cubicBezTo>
                  <a:pt x="87" y="284"/>
                  <a:pt x="183" y="492"/>
                  <a:pt x="183" y="492"/>
                </a:cubicBezTo>
                <a:cubicBezTo>
                  <a:pt x="184" y="492"/>
                  <a:pt x="203" y="452"/>
                  <a:pt x="241" y="372"/>
                </a:cubicBezTo>
                <a:cubicBezTo>
                  <a:pt x="280" y="293"/>
                  <a:pt x="318" y="213"/>
                  <a:pt x="357" y="131"/>
                </a:cubicBezTo>
                <a:cubicBezTo>
                  <a:pt x="396" y="51"/>
                  <a:pt x="416" y="9"/>
                  <a:pt x="417" y="7"/>
                </a:cubicBezTo>
                <a:cubicBezTo>
                  <a:pt x="420" y="2"/>
                  <a:pt x="423" y="0"/>
                  <a:pt x="428" y="0"/>
                </a:cubicBezTo>
                <a:lnTo>
                  <a:pt x="702" y="0"/>
                </a:lnTo>
                <a:lnTo>
                  <a:pt x="702" y="22"/>
                </a:lnTo>
                <a:lnTo>
                  <a:pt x="434" y="22"/>
                </a:lnTo>
                <a:lnTo>
                  <a:pt x="308" y="284"/>
                </a:lnTo>
                <a:lnTo>
                  <a:pt x="176" y="557"/>
                </a:lnTo>
                <a:cubicBezTo>
                  <a:pt x="175" y="559"/>
                  <a:pt x="171" y="561"/>
                  <a:pt x="166" y="561"/>
                </a:cubicBezTo>
                <a:cubicBezTo>
                  <a:pt x="161" y="561"/>
                  <a:pt x="159" y="560"/>
                  <a:pt x="158" y="559"/>
                </a:cubicBezTo>
                <a:cubicBezTo>
                  <a:pt x="157" y="558"/>
                  <a:pt x="49" y="323"/>
                  <a:pt x="49" y="323"/>
                </a:cubicBezTo>
                <a:lnTo>
                  <a:pt x="13" y="34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3581280" y="403848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742" y="0"/>
                </a:lnTo>
                <a:lnTo>
                  <a:pt x="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 txBox="1"/>
          <p:nvPr/>
        </p:nvSpPr>
        <p:spPr>
          <a:xfrm>
            <a:off x="3750120" y="40327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 txBox="1"/>
          <p:nvPr/>
        </p:nvSpPr>
        <p:spPr>
          <a:xfrm>
            <a:off x="3666240" y="378504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4830840" y="3809520"/>
            <a:ext cx="6742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∣01⟩)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 txBox="1"/>
          <p:nvPr/>
        </p:nvSpPr>
        <p:spPr>
          <a:xfrm>
            <a:off x="5936040" y="41047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5505120" y="3971880"/>
            <a:ext cx="419760" cy="150480"/>
          </a:xfrm>
          <a:custGeom>
            <a:avLst/>
            <a:gdLst/>
            <a:ahLst/>
            <a:rect l="0" t="0" r="r" b="b"/>
            <a:pathLst>
              <a:path w="1166" h="418">
                <a:moveTo>
                  <a:pt x="0" y="225"/>
                </a:moveTo>
                <a:lnTo>
                  <a:pt x="1090" y="225"/>
                </a:lnTo>
                <a:cubicBezTo>
                  <a:pt x="1052" y="254"/>
                  <a:pt x="1022" y="288"/>
                  <a:pt x="1002" y="328"/>
                </a:cubicBezTo>
                <a:cubicBezTo>
                  <a:pt x="988" y="353"/>
                  <a:pt x="979" y="379"/>
                  <a:pt x="975" y="404"/>
                </a:cubicBezTo>
                <a:cubicBezTo>
                  <a:pt x="975" y="405"/>
                  <a:pt x="975" y="406"/>
                  <a:pt x="975" y="407"/>
                </a:cubicBezTo>
                <a:cubicBezTo>
                  <a:pt x="975" y="408"/>
                  <a:pt x="974" y="409"/>
                  <a:pt x="974" y="409"/>
                </a:cubicBezTo>
                <a:cubicBezTo>
                  <a:pt x="974" y="415"/>
                  <a:pt x="980" y="418"/>
                  <a:pt x="990" y="418"/>
                </a:cubicBezTo>
                <a:cubicBezTo>
                  <a:pt x="997" y="418"/>
                  <a:pt x="1001" y="418"/>
                  <a:pt x="1003" y="416"/>
                </a:cubicBezTo>
                <a:cubicBezTo>
                  <a:pt x="1005" y="415"/>
                  <a:pt x="1006" y="412"/>
                  <a:pt x="1007" y="407"/>
                </a:cubicBezTo>
                <a:cubicBezTo>
                  <a:pt x="1009" y="396"/>
                  <a:pt x="1012" y="385"/>
                  <a:pt x="1016" y="374"/>
                </a:cubicBezTo>
                <a:cubicBezTo>
                  <a:pt x="1028" y="338"/>
                  <a:pt x="1047" y="307"/>
                  <a:pt x="1074" y="279"/>
                </a:cubicBezTo>
                <a:cubicBezTo>
                  <a:pt x="1101" y="252"/>
                  <a:pt x="1131" y="232"/>
                  <a:pt x="1166" y="220"/>
                </a:cubicBezTo>
                <a:lnTo>
                  <a:pt x="1166" y="199"/>
                </a:lnTo>
                <a:cubicBezTo>
                  <a:pt x="1131" y="187"/>
                  <a:pt x="1101" y="167"/>
                  <a:pt x="1074" y="140"/>
                </a:cubicBezTo>
                <a:cubicBezTo>
                  <a:pt x="1047" y="112"/>
                  <a:pt x="1028" y="80"/>
                  <a:pt x="1016" y="45"/>
                </a:cubicBezTo>
                <a:cubicBezTo>
                  <a:pt x="1012" y="33"/>
                  <a:pt x="1009" y="23"/>
                  <a:pt x="1007" y="12"/>
                </a:cubicBezTo>
                <a:cubicBezTo>
                  <a:pt x="1006" y="6"/>
                  <a:pt x="1005" y="3"/>
                  <a:pt x="1003" y="2"/>
                </a:cubicBezTo>
                <a:cubicBezTo>
                  <a:pt x="1001" y="0"/>
                  <a:pt x="997" y="0"/>
                  <a:pt x="990" y="0"/>
                </a:cubicBezTo>
                <a:cubicBezTo>
                  <a:pt x="979" y="0"/>
                  <a:pt x="974" y="3"/>
                  <a:pt x="974" y="8"/>
                </a:cubicBezTo>
                <a:cubicBezTo>
                  <a:pt x="974" y="10"/>
                  <a:pt x="975" y="17"/>
                  <a:pt x="978" y="29"/>
                </a:cubicBezTo>
                <a:cubicBezTo>
                  <a:pt x="995" y="96"/>
                  <a:pt x="1032" y="151"/>
                  <a:pt x="1090" y="193"/>
                </a:cubicBezTo>
                <a:lnTo>
                  <a:pt x="0" y="193"/>
                </a:lnTo>
                <a:lnTo>
                  <a:pt x="0" y="22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 txBox="1"/>
          <p:nvPr/>
        </p:nvSpPr>
        <p:spPr>
          <a:xfrm>
            <a:off x="5622840" y="3774240"/>
            <a:ext cx="20124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H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 txBox="1"/>
          <p:nvPr/>
        </p:nvSpPr>
        <p:spPr>
          <a:xfrm>
            <a:off x="6006240" y="3806640"/>
            <a:ext cx="5878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∣01⟩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 txBox="1"/>
          <p:nvPr/>
        </p:nvSpPr>
        <p:spPr>
          <a:xfrm>
            <a:off x="6774840" y="3806640"/>
            <a:ext cx="320436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SansSerif"/>
                <a:ea typeface="KaTeX_SansSerif"/>
              </a:rPr>
              <a:t>— the two bits he reads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"/>
          <p:cNvSpPr txBox="1"/>
          <p:nvPr/>
        </p:nvSpPr>
        <p:spPr>
          <a:xfrm>
            <a:off x="914400" y="4593960"/>
            <a:ext cx="68122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qc.h(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); qc.cx(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      </a:t>
            </a:r>
            <a:r>
              <a:rPr lang="en-US" sz="16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Bell pair, shared in advance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"/>
          <p:cNvSpPr txBox="1"/>
          <p:nvPr/>
        </p:nvSpPr>
        <p:spPr>
          <a:xfrm>
            <a:off x="914400" y="4822560"/>
            <a:ext cx="79066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qc.x(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                   </a:t>
            </a:r>
            <a:r>
              <a:rPr lang="en-US" sz="16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Alice encodes "01" on her qubit alone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914400" y="5060520"/>
            <a:ext cx="47444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qc.cx(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); qc.h(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      </a:t>
            </a:r>
            <a:r>
              <a:rPr lang="en-US" sz="16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Bob decodes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 txBox="1"/>
          <p:nvPr/>
        </p:nvSpPr>
        <p:spPr>
          <a:xfrm>
            <a:off x="747720" y="5668200"/>
            <a:ext cx="1065240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 four gates map the pair onto four distinguishable Bell states. Entanglement is what lets one qubit carry two bits.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 txBox="1"/>
          <p:nvPr/>
        </p:nvSpPr>
        <p:spPr>
          <a:xfrm>
            <a:off x="2193120" y="218160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752400" y="5705280"/>
            <a:ext cx="1752840" cy="486000"/>
          </a:xfrm>
          <a:custGeom>
            <a:avLst/>
            <a:gdLst/>
            <a:ahLst/>
            <a:rect l="0" t="0" r="r" b="b"/>
            <a:pathLst>
              <a:path w="4869" h="1350">
                <a:moveTo>
                  <a:pt x="0" y="0"/>
                </a:moveTo>
                <a:lnTo>
                  <a:pt x="4869" y="0"/>
                </a:lnTo>
                <a:lnTo>
                  <a:pt x="4869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2504880" y="5705280"/>
            <a:ext cx="533880" cy="486000"/>
          </a:xfrm>
          <a:custGeom>
            <a:avLst/>
            <a:gdLst/>
            <a:ahLst/>
            <a:rect l="0" t="0" r="r" b="b"/>
            <a:pathLst>
              <a:path w="1483" h="1350">
                <a:moveTo>
                  <a:pt x="0" y="0"/>
                </a:moveTo>
                <a:lnTo>
                  <a:pt x="1483" y="0"/>
                </a:lnTo>
                <a:lnTo>
                  <a:pt x="1483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3038400" y="5705280"/>
            <a:ext cx="524160" cy="486000"/>
          </a:xfrm>
          <a:custGeom>
            <a:avLst/>
            <a:gdLst/>
            <a:ahLst/>
            <a:rect l="0" t="0" r="r" b="b"/>
            <a:pathLst>
              <a:path w="1456" h="1350">
                <a:moveTo>
                  <a:pt x="0" y="0"/>
                </a:moveTo>
                <a:lnTo>
                  <a:pt x="1456" y="0"/>
                </a:lnTo>
                <a:lnTo>
                  <a:pt x="1456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3562200" y="5705280"/>
            <a:ext cx="533880" cy="486000"/>
          </a:xfrm>
          <a:custGeom>
            <a:avLst/>
            <a:gdLst/>
            <a:ahLst/>
            <a:rect l="0" t="0" r="r" b="b"/>
            <a:pathLst>
              <a:path w="1483" h="1350">
                <a:moveTo>
                  <a:pt x="0" y="0"/>
                </a:moveTo>
                <a:lnTo>
                  <a:pt x="1483" y="0"/>
                </a:lnTo>
                <a:lnTo>
                  <a:pt x="1483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4095720" y="5705280"/>
            <a:ext cx="533520" cy="486000"/>
          </a:xfrm>
          <a:custGeom>
            <a:avLst/>
            <a:gdLst/>
            <a:ahLst/>
            <a:rect l="0" t="0" r="r" b="b"/>
            <a:pathLst>
              <a:path w="1482" h="1350">
                <a:moveTo>
                  <a:pt x="0" y="0"/>
                </a:moveTo>
                <a:lnTo>
                  <a:pt x="1482" y="0"/>
                </a:lnTo>
                <a:lnTo>
                  <a:pt x="1482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752400" y="6190920"/>
            <a:ext cx="1752840" cy="495720"/>
          </a:xfrm>
          <a:custGeom>
            <a:avLst/>
            <a:gdLst/>
            <a:ahLst/>
            <a:rect l="0" t="0" r="r" b="b"/>
            <a:pathLst>
              <a:path w="4869" h="1377">
                <a:moveTo>
                  <a:pt x="0" y="0"/>
                </a:moveTo>
                <a:lnTo>
                  <a:pt x="4869" y="0"/>
                </a:lnTo>
                <a:lnTo>
                  <a:pt x="4869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2504880" y="6190920"/>
            <a:ext cx="533880" cy="495720"/>
          </a:xfrm>
          <a:custGeom>
            <a:avLst/>
            <a:gdLst/>
            <a:ahLst/>
            <a:rect l="0" t="0" r="r" b="b"/>
            <a:pathLst>
              <a:path w="1483" h="1377">
                <a:moveTo>
                  <a:pt x="0" y="0"/>
                </a:moveTo>
                <a:lnTo>
                  <a:pt x="1483" y="0"/>
                </a:lnTo>
                <a:lnTo>
                  <a:pt x="148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3038400" y="6190920"/>
            <a:ext cx="524160" cy="495720"/>
          </a:xfrm>
          <a:custGeom>
            <a:avLst/>
            <a:gdLst/>
            <a:ahLst/>
            <a:rect l="0" t="0" r="r" b="b"/>
            <a:pathLst>
              <a:path w="1456" h="1377">
                <a:moveTo>
                  <a:pt x="0" y="0"/>
                </a:moveTo>
                <a:lnTo>
                  <a:pt x="1456" y="0"/>
                </a:lnTo>
                <a:lnTo>
                  <a:pt x="145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3562200" y="6190920"/>
            <a:ext cx="533880" cy="495720"/>
          </a:xfrm>
          <a:custGeom>
            <a:avLst/>
            <a:gdLst/>
            <a:ahLst/>
            <a:rect l="0" t="0" r="r" b="b"/>
            <a:pathLst>
              <a:path w="1483" h="1377">
                <a:moveTo>
                  <a:pt x="0" y="0"/>
                </a:moveTo>
                <a:lnTo>
                  <a:pt x="1483" y="0"/>
                </a:lnTo>
                <a:lnTo>
                  <a:pt x="148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4095720" y="6190920"/>
            <a:ext cx="533520" cy="495720"/>
          </a:xfrm>
          <a:custGeom>
            <a:avLst/>
            <a:gdLst/>
            <a:ahLst/>
            <a:rect l="0" t="0" r="r" b="b"/>
            <a:pathLst>
              <a:path w="1482" h="1377">
                <a:moveTo>
                  <a:pt x="0" y="0"/>
                </a:moveTo>
                <a:lnTo>
                  <a:pt x="1482" y="0"/>
                </a:lnTo>
                <a:lnTo>
                  <a:pt x="148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752400" y="57052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752400" y="5705280"/>
            <a:ext cx="1762200" cy="9720"/>
          </a:xfrm>
          <a:custGeom>
            <a:avLst/>
            <a:gdLst/>
            <a:ahLst/>
            <a:rect l="0" t="0" r="r" b="b"/>
            <a:pathLst>
              <a:path w="4895" h="27">
                <a:moveTo>
                  <a:pt x="0" y="0"/>
                </a:moveTo>
                <a:lnTo>
                  <a:pt x="4895" y="0"/>
                </a:lnTo>
                <a:lnTo>
                  <a:pt x="48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2504880" y="57052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2514240" y="5705280"/>
            <a:ext cx="524520" cy="9720"/>
          </a:xfrm>
          <a:custGeom>
            <a:avLst/>
            <a:gdLst/>
            <a:ahLst/>
            <a:rect l="0" t="0" r="r" b="b"/>
            <a:pathLst>
              <a:path w="1457" h="27">
                <a:moveTo>
                  <a:pt x="0" y="0"/>
                </a:moveTo>
                <a:lnTo>
                  <a:pt x="1457" y="0"/>
                </a:lnTo>
                <a:lnTo>
                  <a:pt x="14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3028680" y="570528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3038400" y="5705280"/>
            <a:ext cx="533520" cy="9720"/>
          </a:xfrm>
          <a:custGeom>
            <a:avLst/>
            <a:gdLst/>
            <a:ahLst/>
            <a:rect l="0" t="0" r="r" b="b"/>
            <a:pathLst>
              <a:path w="1482" h="27">
                <a:moveTo>
                  <a:pt x="0" y="0"/>
                </a:moveTo>
                <a:lnTo>
                  <a:pt x="1482" y="0"/>
                </a:lnTo>
                <a:lnTo>
                  <a:pt x="14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3562200" y="57052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3571560" y="570528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4095720" y="57052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4105080" y="5705280"/>
            <a:ext cx="524160" cy="9720"/>
          </a:xfrm>
          <a:custGeom>
            <a:avLst/>
            <a:gdLst/>
            <a:ahLst/>
            <a:rect l="0" t="0" r="r" b="b"/>
            <a:pathLst>
              <a:path w="1456" h="27">
                <a:moveTo>
                  <a:pt x="0" y="0"/>
                </a:moveTo>
                <a:lnTo>
                  <a:pt x="1456" y="0"/>
                </a:lnTo>
                <a:lnTo>
                  <a:pt x="14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4619520" y="57052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752400" y="6181560"/>
            <a:ext cx="1762200" cy="9720"/>
          </a:xfrm>
          <a:custGeom>
            <a:avLst/>
            <a:gdLst/>
            <a:ahLst/>
            <a:rect l="0" t="0" r="r" b="b"/>
            <a:pathLst>
              <a:path w="4895" h="27">
                <a:moveTo>
                  <a:pt x="0" y="0"/>
                </a:moveTo>
                <a:lnTo>
                  <a:pt x="4895" y="0"/>
                </a:lnTo>
                <a:lnTo>
                  <a:pt x="48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2514240" y="6181560"/>
            <a:ext cx="524520" cy="9720"/>
          </a:xfrm>
          <a:custGeom>
            <a:avLst/>
            <a:gdLst/>
            <a:ahLst/>
            <a:rect l="0" t="0" r="r" b="b"/>
            <a:pathLst>
              <a:path w="1457" h="27">
                <a:moveTo>
                  <a:pt x="0" y="0"/>
                </a:moveTo>
                <a:lnTo>
                  <a:pt x="1457" y="0"/>
                </a:lnTo>
                <a:lnTo>
                  <a:pt x="14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3038400" y="6181560"/>
            <a:ext cx="533520" cy="9720"/>
          </a:xfrm>
          <a:custGeom>
            <a:avLst/>
            <a:gdLst/>
            <a:ahLst/>
            <a:rect l="0" t="0" r="r" b="b"/>
            <a:pathLst>
              <a:path w="1482" h="27">
                <a:moveTo>
                  <a:pt x="0" y="0"/>
                </a:moveTo>
                <a:lnTo>
                  <a:pt x="1482" y="0"/>
                </a:lnTo>
                <a:lnTo>
                  <a:pt x="14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3571560" y="618156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4105080" y="6181560"/>
            <a:ext cx="524160" cy="9720"/>
          </a:xfrm>
          <a:custGeom>
            <a:avLst/>
            <a:gdLst/>
            <a:ahLst/>
            <a:rect l="0" t="0" r="r" b="b"/>
            <a:pathLst>
              <a:path w="1456" h="27">
                <a:moveTo>
                  <a:pt x="0" y="0"/>
                </a:moveTo>
                <a:lnTo>
                  <a:pt x="1456" y="0"/>
                </a:lnTo>
                <a:lnTo>
                  <a:pt x="14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752400" y="619092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2504880" y="619092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3028680" y="6190920"/>
            <a:ext cx="10080" cy="505440"/>
          </a:xfrm>
          <a:custGeom>
            <a:avLst/>
            <a:gdLst/>
            <a:ahLst/>
            <a:rect l="0" t="0" r="r" b="b"/>
            <a:pathLst>
              <a:path w="28" h="1404">
                <a:moveTo>
                  <a:pt x="0" y="0"/>
                </a:moveTo>
                <a:lnTo>
                  <a:pt x="28" y="0"/>
                </a:lnTo>
                <a:lnTo>
                  <a:pt x="28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3562200" y="619092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4095720" y="619092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4619520" y="619092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752400" y="6686280"/>
            <a:ext cx="1762200" cy="10080"/>
          </a:xfrm>
          <a:custGeom>
            <a:avLst/>
            <a:gdLst/>
            <a:ahLst/>
            <a:rect l="0" t="0" r="r" b="b"/>
            <a:pathLst>
              <a:path w="4895" h="28">
                <a:moveTo>
                  <a:pt x="0" y="0"/>
                </a:moveTo>
                <a:lnTo>
                  <a:pt x="4895" y="0"/>
                </a:lnTo>
                <a:lnTo>
                  <a:pt x="48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2514240" y="6686280"/>
            <a:ext cx="524520" cy="10080"/>
          </a:xfrm>
          <a:custGeom>
            <a:avLst/>
            <a:gdLst/>
            <a:ahLst/>
            <a:rect l="0" t="0" r="r" b="b"/>
            <a:pathLst>
              <a:path w="1457" h="28">
                <a:moveTo>
                  <a:pt x="0" y="0"/>
                </a:moveTo>
                <a:lnTo>
                  <a:pt x="1457" y="0"/>
                </a:lnTo>
                <a:lnTo>
                  <a:pt x="14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3038400" y="6686280"/>
            <a:ext cx="533520" cy="10080"/>
          </a:xfrm>
          <a:custGeom>
            <a:avLst/>
            <a:gdLst/>
            <a:ahLst/>
            <a:rect l="0" t="0" r="r" b="b"/>
            <a:pathLst>
              <a:path w="1482" h="28">
                <a:moveTo>
                  <a:pt x="0" y="0"/>
                </a:moveTo>
                <a:lnTo>
                  <a:pt x="1482" y="0"/>
                </a:lnTo>
                <a:lnTo>
                  <a:pt x="14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3571560" y="668628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4105080" y="6686280"/>
            <a:ext cx="524160" cy="10080"/>
          </a:xfrm>
          <a:custGeom>
            <a:avLst/>
            <a:gdLst/>
            <a:ahLst/>
            <a:rect l="0" t="0" r="r" b="b"/>
            <a:pathLst>
              <a:path w="1456" h="28">
                <a:moveTo>
                  <a:pt x="0" y="0"/>
                </a:moveTo>
                <a:lnTo>
                  <a:pt x="1456" y="0"/>
                </a:lnTo>
                <a:lnTo>
                  <a:pt x="14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"/>
          <p:cNvSpPr txBox="1"/>
          <p:nvPr/>
        </p:nvSpPr>
        <p:spPr>
          <a:xfrm>
            <a:off x="747720" y="731520"/>
            <a:ext cx="35607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Quantum teleportation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99" name=""/>
          <p:cNvPicPr/>
          <p:nvPr/>
        </p:nvPicPr>
        <p:blipFill>
          <a:blip r:embed="rId1"/>
          <a:stretch/>
        </p:blipFill>
        <p:spPr>
          <a:xfrm>
            <a:off x="752400" y="1886040"/>
            <a:ext cx="7524360" cy="23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0" name=""/>
          <p:cNvSpPr txBox="1"/>
          <p:nvPr/>
        </p:nvSpPr>
        <p:spPr>
          <a:xfrm>
            <a:off x="747720" y="1383840"/>
            <a:ext cx="77364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Move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 qubit's state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using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2 classical bits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The exact opposite trade.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2066760" y="4524120"/>
            <a:ext cx="524160" cy="305280"/>
          </a:xfrm>
          <a:custGeom>
            <a:avLst/>
            <a:gdLst/>
            <a:ahLst/>
            <a:rect l="0" t="0" r="r" b="b"/>
            <a:pathLst>
              <a:path w="1456" h="848">
                <a:moveTo>
                  <a:pt x="0" y="689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297" y="0"/>
                </a:lnTo>
                <a:cubicBezTo>
                  <a:pt x="1308" y="0"/>
                  <a:pt x="1318" y="1"/>
                  <a:pt x="1328" y="3"/>
                </a:cubicBezTo>
                <a:cubicBezTo>
                  <a:pt x="1339" y="5"/>
                  <a:pt x="1349" y="8"/>
                  <a:pt x="1358" y="12"/>
                </a:cubicBezTo>
                <a:cubicBezTo>
                  <a:pt x="1368" y="16"/>
                  <a:pt x="1377" y="21"/>
                  <a:pt x="1386" y="27"/>
                </a:cubicBezTo>
                <a:cubicBezTo>
                  <a:pt x="1394" y="33"/>
                  <a:pt x="1402" y="39"/>
                  <a:pt x="1410" y="47"/>
                </a:cubicBezTo>
                <a:cubicBezTo>
                  <a:pt x="1417" y="54"/>
                  <a:pt x="1424" y="62"/>
                  <a:pt x="1429" y="71"/>
                </a:cubicBezTo>
                <a:cubicBezTo>
                  <a:pt x="1435" y="79"/>
                  <a:pt x="1440" y="89"/>
                  <a:pt x="1444" y="98"/>
                </a:cubicBezTo>
                <a:cubicBezTo>
                  <a:pt x="1448" y="108"/>
                  <a:pt x="1451" y="118"/>
                  <a:pt x="1453" y="128"/>
                </a:cubicBezTo>
                <a:cubicBezTo>
                  <a:pt x="1455" y="138"/>
                  <a:pt x="1456" y="149"/>
                  <a:pt x="1456" y="159"/>
                </a:cubicBezTo>
                <a:lnTo>
                  <a:pt x="1456" y="689"/>
                </a:lnTo>
                <a:cubicBezTo>
                  <a:pt x="1456" y="700"/>
                  <a:pt x="1455" y="710"/>
                  <a:pt x="1453" y="720"/>
                </a:cubicBezTo>
                <a:cubicBezTo>
                  <a:pt x="1451" y="730"/>
                  <a:pt x="1448" y="740"/>
                  <a:pt x="1444" y="750"/>
                </a:cubicBezTo>
                <a:cubicBezTo>
                  <a:pt x="1440" y="760"/>
                  <a:pt x="1435" y="769"/>
                  <a:pt x="1429" y="777"/>
                </a:cubicBezTo>
                <a:cubicBezTo>
                  <a:pt x="1424" y="786"/>
                  <a:pt x="1417" y="794"/>
                  <a:pt x="1410" y="801"/>
                </a:cubicBezTo>
                <a:cubicBezTo>
                  <a:pt x="1402" y="809"/>
                  <a:pt x="1394" y="815"/>
                  <a:pt x="1386" y="821"/>
                </a:cubicBezTo>
                <a:cubicBezTo>
                  <a:pt x="1377" y="827"/>
                  <a:pt x="1368" y="832"/>
                  <a:pt x="1358" y="836"/>
                </a:cubicBezTo>
                <a:cubicBezTo>
                  <a:pt x="1349" y="840"/>
                  <a:pt x="1339" y="843"/>
                  <a:pt x="1328" y="845"/>
                </a:cubicBezTo>
                <a:cubicBezTo>
                  <a:pt x="1318" y="847"/>
                  <a:pt x="1308" y="848"/>
                  <a:pt x="1297" y="848"/>
                </a:cubicBezTo>
                <a:lnTo>
                  <a:pt x="159" y="848"/>
                </a:lnTo>
                <a:cubicBezTo>
                  <a:pt x="148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8" y="832"/>
                  <a:pt x="79" y="827"/>
                  <a:pt x="71" y="821"/>
                </a:cubicBezTo>
                <a:cubicBezTo>
                  <a:pt x="62" y="815"/>
                  <a:pt x="54" y="809"/>
                  <a:pt x="46" y="801"/>
                </a:cubicBezTo>
                <a:cubicBezTo>
                  <a:pt x="39" y="794"/>
                  <a:pt x="33" y="786"/>
                  <a:pt x="27" y="777"/>
                </a:cubicBezTo>
                <a:cubicBezTo>
                  <a:pt x="21" y="769"/>
                  <a:pt x="16" y="760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700"/>
                  <a:pt x="0" y="68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 txBox="1"/>
          <p:nvPr/>
        </p:nvSpPr>
        <p:spPr>
          <a:xfrm>
            <a:off x="747720" y="4479480"/>
            <a:ext cx="13215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Alice owns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"/>
          <p:cNvSpPr txBox="1"/>
          <p:nvPr/>
        </p:nvSpPr>
        <p:spPr>
          <a:xfrm>
            <a:off x="2146680" y="4567680"/>
            <a:ext cx="3657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1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psi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3162240" y="4524120"/>
            <a:ext cx="771840" cy="305280"/>
          </a:xfrm>
          <a:custGeom>
            <a:avLst/>
            <a:gdLst/>
            <a:ahLst/>
            <a:rect l="0" t="0" r="r" b="b"/>
            <a:pathLst>
              <a:path w="2144" h="848">
                <a:moveTo>
                  <a:pt x="0" y="689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985" y="0"/>
                </a:lnTo>
                <a:cubicBezTo>
                  <a:pt x="1995" y="0"/>
                  <a:pt x="2006" y="1"/>
                  <a:pt x="2016" y="3"/>
                </a:cubicBezTo>
                <a:cubicBezTo>
                  <a:pt x="2026" y="5"/>
                  <a:pt x="2036" y="8"/>
                  <a:pt x="2046" y="12"/>
                </a:cubicBezTo>
                <a:cubicBezTo>
                  <a:pt x="2055" y="16"/>
                  <a:pt x="2065" y="21"/>
                  <a:pt x="2073" y="27"/>
                </a:cubicBezTo>
                <a:cubicBezTo>
                  <a:pt x="2082" y="33"/>
                  <a:pt x="2090" y="39"/>
                  <a:pt x="2097" y="47"/>
                </a:cubicBezTo>
                <a:cubicBezTo>
                  <a:pt x="2105" y="54"/>
                  <a:pt x="2111" y="62"/>
                  <a:pt x="2117" y="71"/>
                </a:cubicBezTo>
                <a:cubicBezTo>
                  <a:pt x="2123" y="79"/>
                  <a:pt x="2128" y="89"/>
                  <a:pt x="2132" y="98"/>
                </a:cubicBezTo>
                <a:cubicBezTo>
                  <a:pt x="2136" y="108"/>
                  <a:pt x="2139" y="118"/>
                  <a:pt x="2141" y="128"/>
                </a:cubicBezTo>
                <a:cubicBezTo>
                  <a:pt x="2143" y="138"/>
                  <a:pt x="2144" y="149"/>
                  <a:pt x="2144" y="159"/>
                </a:cubicBezTo>
                <a:lnTo>
                  <a:pt x="2144" y="689"/>
                </a:lnTo>
                <a:cubicBezTo>
                  <a:pt x="2144" y="700"/>
                  <a:pt x="2143" y="710"/>
                  <a:pt x="2141" y="720"/>
                </a:cubicBezTo>
                <a:cubicBezTo>
                  <a:pt x="2139" y="730"/>
                  <a:pt x="2136" y="740"/>
                  <a:pt x="2132" y="750"/>
                </a:cubicBezTo>
                <a:cubicBezTo>
                  <a:pt x="2128" y="760"/>
                  <a:pt x="2123" y="769"/>
                  <a:pt x="2117" y="777"/>
                </a:cubicBezTo>
                <a:cubicBezTo>
                  <a:pt x="2111" y="786"/>
                  <a:pt x="2105" y="794"/>
                  <a:pt x="2097" y="801"/>
                </a:cubicBezTo>
                <a:cubicBezTo>
                  <a:pt x="2090" y="809"/>
                  <a:pt x="2082" y="815"/>
                  <a:pt x="2073" y="821"/>
                </a:cubicBezTo>
                <a:cubicBezTo>
                  <a:pt x="2065" y="827"/>
                  <a:pt x="2055" y="832"/>
                  <a:pt x="2046" y="836"/>
                </a:cubicBezTo>
                <a:cubicBezTo>
                  <a:pt x="2036" y="840"/>
                  <a:pt x="2026" y="843"/>
                  <a:pt x="2016" y="845"/>
                </a:cubicBezTo>
                <a:cubicBezTo>
                  <a:pt x="2006" y="847"/>
                  <a:pt x="1995" y="848"/>
                  <a:pt x="1985" y="848"/>
                </a:cubicBezTo>
                <a:lnTo>
                  <a:pt x="158" y="848"/>
                </a:lnTo>
                <a:cubicBezTo>
                  <a:pt x="148" y="848"/>
                  <a:pt x="138" y="847"/>
                  <a:pt x="127" y="845"/>
                </a:cubicBezTo>
                <a:cubicBezTo>
                  <a:pt x="117" y="843"/>
                  <a:pt x="107" y="840"/>
                  <a:pt x="98" y="836"/>
                </a:cubicBezTo>
                <a:cubicBezTo>
                  <a:pt x="88" y="832"/>
                  <a:pt x="79" y="827"/>
                  <a:pt x="70" y="821"/>
                </a:cubicBezTo>
                <a:cubicBezTo>
                  <a:pt x="62" y="815"/>
                  <a:pt x="54" y="809"/>
                  <a:pt x="46" y="801"/>
                </a:cubicBezTo>
                <a:cubicBezTo>
                  <a:pt x="39" y="794"/>
                  <a:pt x="32" y="786"/>
                  <a:pt x="26" y="777"/>
                </a:cubicBezTo>
                <a:cubicBezTo>
                  <a:pt x="21" y="769"/>
                  <a:pt x="16" y="760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700"/>
                  <a:pt x="0" y="68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"/>
          <p:cNvSpPr txBox="1"/>
          <p:nvPr/>
        </p:nvSpPr>
        <p:spPr>
          <a:xfrm>
            <a:off x="2592360" y="4479480"/>
            <a:ext cx="5716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and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"/>
          <p:cNvSpPr txBox="1"/>
          <p:nvPr/>
        </p:nvSpPr>
        <p:spPr>
          <a:xfrm>
            <a:off x="3245040" y="4567680"/>
            <a:ext cx="6087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1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alice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5267160" y="4524120"/>
            <a:ext cx="524160" cy="305280"/>
          </a:xfrm>
          <a:custGeom>
            <a:avLst/>
            <a:gdLst/>
            <a:ahLst/>
            <a:rect l="0" t="0" r="r" b="b"/>
            <a:pathLst>
              <a:path w="1456" h="848">
                <a:moveTo>
                  <a:pt x="0" y="689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297" y="0"/>
                </a:lnTo>
                <a:cubicBezTo>
                  <a:pt x="1308" y="0"/>
                  <a:pt x="1318" y="1"/>
                  <a:pt x="1328" y="3"/>
                </a:cubicBezTo>
                <a:cubicBezTo>
                  <a:pt x="1339" y="5"/>
                  <a:pt x="1349" y="8"/>
                  <a:pt x="1358" y="12"/>
                </a:cubicBezTo>
                <a:cubicBezTo>
                  <a:pt x="1368" y="16"/>
                  <a:pt x="1377" y="21"/>
                  <a:pt x="1386" y="27"/>
                </a:cubicBezTo>
                <a:cubicBezTo>
                  <a:pt x="1394" y="33"/>
                  <a:pt x="1402" y="39"/>
                  <a:pt x="1410" y="47"/>
                </a:cubicBezTo>
                <a:cubicBezTo>
                  <a:pt x="1417" y="54"/>
                  <a:pt x="1424" y="62"/>
                  <a:pt x="1429" y="71"/>
                </a:cubicBezTo>
                <a:cubicBezTo>
                  <a:pt x="1435" y="79"/>
                  <a:pt x="1440" y="89"/>
                  <a:pt x="1444" y="98"/>
                </a:cubicBezTo>
                <a:cubicBezTo>
                  <a:pt x="1448" y="108"/>
                  <a:pt x="1451" y="118"/>
                  <a:pt x="1453" y="128"/>
                </a:cubicBezTo>
                <a:cubicBezTo>
                  <a:pt x="1455" y="138"/>
                  <a:pt x="1456" y="149"/>
                  <a:pt x="1456" y="159"/>
                </a:cubicBezTo>
                <a:lnTo>
                  <a:pt x="1456" y="689"/>
                </a:lnTo>
                <a:cubicBezTo>
                  <a:pt x="1456" y="700"/>
                  <a:pt x="1455" y="710"/>
                  <a:pt x="1453" y="720"/>
                </a:cubicBezTo>
                <a:cubicBezTo>
                  <a:pt x="1451" y="730"/>
                  <a:pt x="1448" y="740"/>
                  <a:pt x="1444" y="750"/>
                </a:cubicBezTo>
                <a:cubicBezTo>
                  <a:pt x="1440" y="760"/>
                  <a:pt x="1435" y="769"/>
                  <a:pt x="1429" y="777"/>
                </a:cubicBezTo>
                <a:cubicBezTo>
                  <a:pt x="1424" y="786"/>
                  <a:pt x="1417" y="794"/>
                  <a:pt x="1410" y="801"/>
                </a:cubicBezTo>
                <a:cubicBezTo>
                  <a:pt x="1402" y="809"/>
                  <a:pt x="1394" y="815"/>
                  <a:pt x="1386" y="821"/>
                </a:cubicBezTo>
                <a:cubicBezTo>
                  <a:pt x="1377" y="827"/>
                  <a:pt x="1368" y="832"/>
                  <a:pt x="1358" y="836"/>
                </a:cubicBezTo>
                <a:cubicBezTo>
                  <a:pt x="1349" y="840"/>
                  <a:pt x="1339" y="843"/>
                  <a:pt x="1328" y="845"/>
                </a:cubicBezTo>
                <a:cubicBezTo>
                  <a:pt x="1318" y="847"/>
                  <a:pt x="1308" y="848"/>
                  <a:pt x="1297" y="848"/>
                </a:cubicBezTo>
                <a:lnTo>
                  <a:pt x="159" y="848"/>
                </a:lnTo>
                <a:cubicBezTo>
                  <a:pt x="148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8" y="832"/>
                  <a:pt x="79" y="827"/>
                  <a:pt x="71" y="821"/>
                </a:cubicBezTo>
                <a:cubicBezTo>
                  <a:pt x="62" y="815"/>
                  <a:pt x="54" y="809"/>
                  <a:pt x="46" y="801"/>
                </a:cubicBezTo>
                <a:cubicBezTo>
                  <a:pt x="39" y="794"/>
                  <a:pt x="33" y="786"/>
                  <a:pt x="27" y="777"/>
                </a:cubicBezTo>
                <a:cubicBezTo>
                  <a:pt x="21" y="769"/>
                  <a:pt x="16" y="760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700"/>
                  <a:pt x="0" y="68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 txBox="1"/>
          <p:nvPr/>
        </p:nvSpPr>
        <p:spPr>
          <a:xfrm>
            <a:off x="3933360" y="4479480"/>
            <a:ext cx="13366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; Bob owns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 txBox="1"/>
          <p:nvPr/>
        </p:nvSpPr>
        <p:spPr>
          <a:xfrm>
            <a:off x="5348160" y="4567680"/>
            <a:ext cx="3657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1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bob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 txBox="1"/>
          <p:nvPr/>
        </p:nvSpPr>
        <p:spPr>
          <a:xfrm>
            <a:off x="5793480" y="4479480"/>
            <a:ext cx="37447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She entangles her state with her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 txBox="1"/>
          <p:nvPr/>
        </p:nvSpPr>
        <p:spPr>
          <a:xfrm>
            <a:off x="747720" y="4851000"/>
            <a:ext cx="8714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half of the pair, measures both of hers, and sends two classical bits — nothing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"/>
          <p:cNvSpPr txBox="1"/>
          <p:nvPr/>
        </p:nvSpPr>
        <p:spPr>
          <a:xfrm>
            <a:off x="747720" y="5203440"/>
            <a:ext cx="45529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quantum crosses. Bob corrects his qubit.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"/>
          <p:cNvSpPr txBox="1"/>
          <p:nvPr/>
        </p:nvSpPr>
        <p:spPr>
          <a:xfrm>
            <a:off x="880920" y="5784120"/>
            <a:ext cx="1500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Bob receives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"/>
          <p:cNvSpPr txBox="1"/>
          <p:nvPr/>
        </p:nvSpPr>
        <p:spPr>
          <a:xfrm>
            <a:off x="2635560" y="5784120"/>
            <a:ext cx="272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00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"/>
          <p:cNvSpPr txBox="1"/>
          <p:nvPr/>
        </p:nvSpPr>
        <p:spPr>
          <a:xfrm>
            <a:off x="3165120" y="5784120"/>
            <a:ext cx="272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01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"/>
          <p:cNvSpPr txBox="1"/>
          <p:nvPr/>
        </p:nvSpPr>
        <p:spPr>
          <a:xfrm>
            <a:off x="3695040" y="5784120"/>
            <a:ext cx="272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10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"/>
          <p:cNvSpPr txBox="1"/>
          <p:nvPr/>
        </p:nvSpPr>
        <p:spPr>
          <a:xfrm>
            <a:off x="4224600" y="5784120"/>
            <a:ext cx="272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11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 txBox="1"/>
          <p:nvPr/>
        </p:nvSpPr>
        <p:spPr>
          <a:xfrm>
            <a:off x="880920" y="6270120"/>
            <a:ext cx="13035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Bob applies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"/>
          <p:cNvSpPr txBox="1"/>
          <p:nvPr/>
        </p:nvSpPr>
        <p:spPr>
          <a:xfrm>
            <a:off x="2697120" y="628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"/>
          <p:cNvSpPr txBox="1"/>
          <p:nvPr/>
        </p:nvSpPr>
        <p:spPr>
          <a:xfrm>
            <a:off x="3170880" y="628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"/>
          <p:cNvSpPr txBox="1"/>
          <p:nvPr/>
        </p:nvSpPr>
        <p:spPr>
          <a:xfrm>
            <a:off x="3722400" y="628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"/>
          <p:cNvSpPr txBox="1"/>
          <p:nvPr/>
        </p:nvSpPr>
        <p:spPr>
          <a:xfrm>
            <a:off x="4245120" y="628704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757080" y="3500280"/>
            <a:ext cx="10687320" cy="1714680"/>
          </a:xfrm>
          <a:custGeom>
            <a:avLst/>
            <a:gdLst/>
            <a:ahLst/>
            <a:rect l="0" t="0" r="r" b="b"/>
            <a:pathLst>
              <a:path w="29687" h="4763">
                <a:moveTo>
                  <a:pt x="0" y="4618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618"/>
                </a:lnTo>
                <a:cubicBezTo>
                  <a:pt x="29687" y="4627"/>
                  <a:pt x="29686" y="4637"/>
                  <a:pt x="29684" y="4646"/>
                </a:cubicBezTo>
                <a:cubicBezTo>
                  <a:pt x="29683" y="4656"/>
                  <a:pt x="29680" y="4665"/>
                  <a:pt x="29676" y="4674"/>
                </a:cubicBezTo>
                <a:cubicBezTo>
                  <a:pt x="29672" y="4682"/>
                  <a:pt x="29668" y="4691"/>
                  <a:pt x="29663" y="4699"/>
                </a:cubicBezTo>
                <a:cubicBezTo>
                  <a:pt x="29657" y="4707"/>
                  <a:pt x="29651" y="4714"/>
                  <a:pt x="29645" y="4721"/>
                </a:cubicBezTo>
                <a:cubicBezTo>
                  <a:pt x="29638" y="4728"/>
                  <a:pt x="29630" y="4734"/>
                  <a:pt x="29623" y="4739"/>
                </a:cubicBezTo>
                <a:cubicBezTo>
                  <a:pt x="29615" y="4744"/>
                  <a:pt x="29606" y="4749"/>
                  <a:pt x="29597" y="4752"/>
                </a:cubicBezTo>
                <a:cubicBezTo>
                  <a:pt x="29589" y="4756"/>
                  <a:pt x="29579" y="4759"/>
                  <a:pt x="29570" y="4761"/>
                </a:cubicBezTo>
                <a:cubicBezTo>
                  <a:pt x="29561" y="4763"/>
                  <a:pt x="29551" y="4763"/>
                  <a:pt x="29542" y="4763"/>
                </a:cubicBezTo>
                <a:lnTo>
                  <a:pt x="145" y="4763"/>
                </a:lnTo>
                <a:cubicBezTo>
                  <a:pt x="136" y="4763"/>
                  <a:pt x="126" y="4763"/>
                  <a:pt x="117" y="4761"/>
                </a:cubicBezTo>
                <a:cubicBezTo>
                  <a:pt x="108" y="4759"/>
                  <a:pt x="99" y="4756"/>
                  <a:pt x="90" y="4752"/>
                </a:cubicBezTo>
                <a:cubicBezTo>
                  <a:pt x="81" y="4749"/>
                  <a:pt x="73" y="4744"/>
                  <a:pt x="65" y="4739"/>
                </a:cubicBezTo>
                <a:cubicBezTo>
                  <a:pt x="57" y="4734"/>
                  <a:pt x="49" y="4728"/>
                  <a:pt x="43" y="4721"/>
                </a:cubicBezTo>
                <a:cubicBezTo>
                  <a:pt x="36" y="4714"/>
                  <a:pt x="30" y="4707"/>
                  <a:pt x="24" y="4699"/>
                </a:cubicBezTo>
                <a:cubicBezTo>
                  <a:pt x="19" y="4691"/>
                  <a:pt x="15" y="4682"/>
                  <a:pt x="11" y="4674"/>
                </a:cubicBezTo>
                <a:cubicBezTo>
                  <a:pt x="7" y="4665"/>
                  <a:pt x="5" y="4656"/>
                  <a:pt x="3" y="4646"/>
                </a:cubicBezTo>
                <a:cubicBezTo>
                  <a:pt x="1" y="4637"/>
                  <a:pt x="0" y="4627"/>
                  <a:pt x="0" y="4618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757080" y="3500280"/>
            <a:ext cx="10687320" cy="1714680"/>
          </a:xfrm>
          <a:custGeom>
            <a:avLst/>
            <a:gdLst/>
            <a:ahLst/>
            <a:rect l="0" t="0" r="r" b="b"/>
            <a:pathLst>
              <a:path w="29687" h="4763">
                <a:moveTo>
                  <a:pt x="0" y="4618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618"/>
                </a:lnTo>
                <a:cubicBezTo>
                  <a:pt x="29687" y="4627"/>
                  <a:pt x="29686" y="4637"/>
                  <a:pt x="29684" y="4646"/>
                </a:cubicBezTo>
                <a:cubicBezTo>
                  <a:pt x="29683" y="4656"/>
                  <a:pt x="29680" y="4665"/>
                  <a:pt x="29676" y="4674"/>
                </a:cubicBezTo>
                <a:cubicBezTo>
                  <a:pt x="29672" y="4682"/>
                  <a:pt x="29668" y="4691"/>
                  <a:pt x="29663" y="4699"/>
                </a:cubicBezTo>
                <a:cubicBezTo>
                  <a:pt x="29657" y="4707"/>
                  <a:pt x="29651" y="4714"/>
                  <a:pt x="29645" y="4721"/>
                </a:cubicBezTo>
                <a:cubicBezTo>
                  <a:pt x="29638" y="4728"/>
                  <a:pt x="29630" y="4734"/>
                  <a:pt x="29623" y="4739"/>
                </a:cubicBezTo>
                <a:cubicBezTo>
                  <a:pt x="29615" y="4744"/>
                  <a:pt x="29606" y="4749"/>
                  <a:pt x="29597" y="4752"/>
                </a:cubicBezTo>
                <a:cubicBezTo>
                  <a:pt x="29589" y="4756"/>
                  <a:pt x="29579" y="4759"/>
                  <a:pt x="29570" y="4761"/>
                </a:cubicBezTo>
                <a:cubicBezTo>
                  <a:pt x="29561" y="4763"/>
                  <a:pt x="29551" y="4763"/>
                  <a:pt x="29542" y="4763"/>
                </a:cubicBezTo>
                <a:lnTo>
                  <a:pt x="145" y="4763"/>
                </a:lnTo>
                <a:cubicBezTo>
                  <a:pt x="136" y="4763"/>
                  <a:pt x="126" y="4763"/>
                  <a:pt x="117" y="4761"/>
                </a:cubicBezTo>
                <a:cubicBezTo>
                  <a:pt x="108" y="4759"/>
                  <a:pt x="99" y="4756"/>
                  <a:pt x="90" y="4752"/>
                </a:cubicBezTo>
                <a:cubicBezTo>
                  <a:pt x="81" y="4749"/>
                  <a:pt x="73" y="4744"/>
                  <a:pt x="65" y="4739"/>
                </a:cubicBezTo>
                <a:cubicBezTo>
                  <a:pt x="57" y="4734"/>
                  <a:pt x="49" y="4728"/>
                  <a:pt x="43" y="4721"/>
                </a:cubicBezTo>
                <a:cubicBezTo>
                  <a:pt x="36" y="4714"/>
                  <a:pt x="30" y="4707"/>
                  <a:pt x="24" y="4699"/>
                </a:cubicBezTo>
                <a:cubicBezTo>
                  <a:pt x="19" y="4691"/>
                  <a:pt x="15" y="4682"/>
                  <a:pt x="11" y="4674"/>
                </a:cubicBezTo>
                <a:cubicBezTo>
                  <a:pt x="7" y="4665"/>
                  <a:pt x="5" y="4656"/>
                  <a:pt x="3" y="4646"/>
                </a:cubicBezTo>
                <a:cubicBezTo>
                  <a:pt x="1" y="4637"/>
                  <a:pt x="0" y="4627"/>
                  <a:pt x="0" y="461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 txBox="1"/>
          <p:nvPr/>
        </p:nvSpPr>
        <p:spPr>
          <a:xfrm>
            <a:off x="747720" y="1112400"/>
            <a:ext cx="396000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Teleportation — the catch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 txBox="1"/>
          <p:nvPr/>
        </p:nvSpPr>
        <p:spPr>
          <a:xfrm>
            <a:off x="747720" y="1774440"/>
            <a:ext cx="79466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 state is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not copied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— no-cloning forbids that. Alice's measurement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"/>
          <p:cNvSpPr txBox="1"/>
          <p:nvPr/>
        </p:nvSpPr>
        <p:spPr>
          <a:xfrm>
            <a:off x="747720" y="2126520"/>
            <a:ext cx="54176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destroys her copy at the moment Bob's appears.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"/>
          <p:cNvSpPr txBox="1"/>
          <p:nvPr/>
        </p:nvSpPr>
        <p:spPr>
          <a:xfrm>
            <a:off x="747720" y="2640960"/>
            <a:ext cx="80758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Nothing travels faster than light either: without the 2 classical bits, Bob's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 txBox="1"/>
          <p:nvPr/>
        </p:nvSpPr>
        <p:spPr>
          <a:xfrm>
            <a:off x="747720" y="2993400"/>
            <a:ext cx="7066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qubit is useless. Each of his four possible states is equally likely.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 txBox="1"/>
          <p:nvPr/>
        </p:nvSpPr>
        <p:spPr>
          <a:xfrm>
            <a:off x="914400" y="3660480"/>
            <a:ext cx="60825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qc.ry(theta, psi)              </a:t>
            </a:r>
            <a:r>
              <a:rPr lang="en-US" sz="16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the state to send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"/>
          <p:cNvSpPr txBox="1"/>
          <p:nvPr/>
        </p:nvSpPr>
        <p:spPr>
          <a:xfrm>
            <a:off x="914400" y="3889080"/>
            <a:ext cx="59608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qc.h(a); qc.cx(a, b)           </a:t>
            </a:r>
            <a:r>
              <a:rPr lang="en-US" sz="16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shared Bell pair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"/>
          <p:cNvSpPr txBox="1"/>
          <p:nvPr/>
        </p:nvSpPr>
        <p:spPr>
          <a:xfrm>
            <a:off x="914400" y="4127040"/>
            <a:ext cx="72986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qc.cx(psi, a); qc.h(psi)       </a:t>
            </a:r>
            <a:r>
              <a:rPr lang="en-US" sz="16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Alice: reverse Bell circuit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"/>
          <p:cNvSpPr txBox="1"/>
          <p:nvPr/>
        </p:nvSpPr>
        <p:spPr>
          <a:xfrm>
            <a:off x="914400" y="4355640"/>
            <a:ext cx="51094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qc.measure(psi, c[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]); qc.measure(a, c[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 txBox="1"/>
          <p:nvPr/>
        </p:nvSpPr>
        <p:spPr>
          <a:xfrm>
            <a:off x="914400" y="4593960"/>
            <a:ext cx="64472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with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qc.if_test((c[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], 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)): qc.x(b)    </a:t>
            </a:r>
            <a:r>
              <a:rPr lang="en-US" sz="16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Bob corrects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"/>
          <p:cNvSpPr txBox="1"/>
          <p:nvPr/>
        </p:nvSpPr>
        <p:spPr>
          <a:xfrm>
            <a:off x="914400" y="4822560"/>
            <a:ext cx="42580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with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qc.if_test((c[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], </a:t>
            </a:r>
            <a:r>
              <a:rPr lang="en-US" sz="16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)): qc.z(b)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1723680" y="5457600"/>
            <a:ext cx="1724400" cy="257400"/>
          </a:xfrm>
          <a:custGeom>
            <a:avLst/>
            <a:gdLst/>
            <a:ahLst/>
            <a:rect l="0" t="0" r="r" b="b"/>
            <a:pathLst>
              <a:path w="4790" h="715">
                <a:moveTo>
                  <a:pt x="0" y="557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632" y="0"/>
                </a:lnTo>
                <a:cubicBezTo>
                  <a:pt x="4642" y="0"/>
                  <a:pt x="4652" y="1"/>
                  <a:pt x="4663" y="3"/>
                </a:cubicBezTo>
                <a:cubicBezTo>
                  <a:pt x="4673" y="5"/>
                  <a:pt x="4683" y="8"/>
                  <a:pt x="4692" y="12"/>
                </a:cubicBezTo>
                <a:cubicBezTo>
                  <a:pt x="4702" y="16"/>
                  <a:pt x="4711" y="21"/>
                  <a:pt x="4720" y="27"/>
                </a:cubicBezTo>
                <a:cubicBezTo>
                  <a:pt x="4729" y="33"/>
                  <a:pt x="4737" y="39"/>
                  <a:pt x="4744" y="47"/>
                </a:cubicBezTo>
                <a:cubicBezTo>
                  <a:pt x="4751" y="54"/>
                  <a:pt x="4758" y="62"/>
                  <a:pt x="4764" y="71"/>
                </a:cubicBezTo>
                <a:cubicBezTo>
                  <a:pt x="4769" y="79"/>
                  <a:pt x="4774" y="88"/>
                  <a:pt x="4778" y="98"/>
                </a:cubicBezTo>
                <a:cubicBezTo>
                  <a:pt x="4782" y="108"/>
                  <a:pt x="4785" y="118"/>
                  <a:pt x="4787" y="128"/>
                </a:cubicBezTo>
                <a:cubicBezTo>
                  <a:pt x="4789" y="138"/>
                  <a:pt x="4790" y="148"/>
                  <a:pt x="4790" y="159"/>
                </a:cubicBezTo>
                <a:lnTo>
                  <a:pt x="4790" y="557"/>
                </a:lnTo>
                <a:cubicBezTo>
                  <a:pt x="4790" y="567"/>
                  <a:pt x="4789" y="577"/>
                  <a:pt x="4787" y="588"/>
                </a:cubicBezTo>
                <a:cubicBezTo>
                  <a:pt x="4785" y="598"/>
                  <a:pt x="4782" y="608"/>
                  <a:pt x="4778" y="617"/>
                </a:cubicBezTo>
                <a:cubicBezTo>
                  <a:pt x="4774" y="627"/>
                  <a:pt x="4769" y="636"/>
                  <a:pt x="4764" y="645"/>
                </a:cubicBezTo>
                <a:cubicBezTo>
                  <a:pt x="4758" y="654"/>
                  <a:pt x="4751" y="662"/>
                  <a:pt x="4744" y="669"/>
                </a:cubicBezTo>
                <a:cubicBezTo>
                  <a:pt x="4737" y="676"/>
                  <a:pt x="4729" y="683"/>
                  <a:pt x="4720" y="689"/>
                </a:cubicBezTo>
                <a:cubicBezTo>
                  <a:pt x="4711" y="695"/>
                  <a:pt x="4702" y="699"/>
                  <a:pt x="4692" y="703"/>
                </a:cubicBezTo>
                <a:cubicBezTo>
                  <a:pt x="4683" y="707"/>
                  <a:pt x="4673" y="710"/>
                  <a:pt x="4663" y="712"/>
                </a:cubicBezTo>
                <a:cubicBezTo>
                  <a:pt x="4652" y="714"/>
                  <a:pt x="4642" y="715"/>
                  <a:pt x="4632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5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6"/>
                  <a:pt x="17" y="627"/>
                  <a:pt x="13" y="617"/>
                </a:cubicBezTo>
                <a:cubicBezTo>
                  <a:pt x="9" y="608"/>
                  <a:pt x="6" y="598"/>
                  <a:pt x="4" y="588"/>
                </a:cubicBezTo>
                <a:cubicBezTo>
                  <a:pt x="1" y="577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"/>
          <p:cNvSpPr txBox="1"/>
          <p:nvPr/>
        </p:nvSpPr>
        <p:spPr>
          <a:xfrm>
            <a:off x="747720" y="5430240"/>
            <a:ext cx="97848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Veriﬁed in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2" name=""/>
          <p:cNvSpPr txBox="1"/>
          <p:nvPr/>
        </p:nvSpPr>
        <p:spPr>
          <a:xfrm>
            <a:off x="1788840" y="5495760"/>
            <a:ext cx="15955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teleportation.py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 txBox="1"/>
          <p:nvPr/>
        </p:nvSpPr>
        <p:spPr>
          <a:xfrm>
            <a:off x="3447360" y="5430240"/>
            <a:ext cx="1947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 txBox="1"/>
          <p:nvPr/>
        </p:nvSpPr>
        <p:spPr>
          <a:xfrm>
            <a:off x="3826080" y="5430240"/>
            <a:ext cx="1947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 txBox="1"/>
          <p:nvPr/>
        </p:nvSpPr>
        <p:spPr>
          <a:xfrm>
            <a:off x="4205160" y="5430240"/>
            <a:ext cx="1947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 txBox="1"/>
          <p:nvPr/>
        </p:nvSpPr>
        <p:spPr>
          <a:xfrm>
            <a:off x="4649760" y="5430240"/>
            <a:ext cx="4521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and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 txBox="1"/>
          <p:nvPr/>
        </p:nvSpPr>
        <p:spPr>
          <a:xfrm>
            <a:off x="6218640" y="5430240"/>
            <a:ext cx="244620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all arrive in 100% of shots.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 txBox="1"/>
          <p:nvPr/>
        </p:nvSpPr>
        <p:spPr>
          <a:xfrm>
            <a:off x="3550320" y="5386320"/>
            <a:ext cx="115992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 ∣1⟩ ∣+⟩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"/>
          <p:cNvSpPr txBox="1"/>
          <p:nvPr/>
        </p:nvSpPr>
        <p:spPr>
          <a:xfrm>
            <a:off x="5101560" y="545184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 txBox="1"/>
          <p:nvPr/>
        </p:nvSpPr>
        <p:spPr>
          <a:xfrm>
            <a:off x="5379840" y="561924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 txBox="1"/>
          <p:nvPr/>
        </p:nvSpPr>
        <p:spPr>
          <a:xfrm>
            <a:off x="5379840" y="5386320"/>
            <a:ext cx="2358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"/>
          <p:cNvSpPr txBox="1"/>
          <p:nvPr/>
        </p:nvSpPr>
        <p:spPr>
          <a:xfrm>
            <a:off x="5471640" y="545184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π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 txBox="1"/>
          <p:nvPr/>
        </p:nvSpPr>
        <p:spPr>
          <a:xfrm>
            <a:off x="5614560" y="5386320"/>
            <a:ext cx="64008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/3)∣0⟩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"/>
          <p:cNvSpPr txBox="1"/>
          <p:nvPr/>
        </p:nvSpPr>
        <p:spPr>
          <a:xfrm>
            <a:off x="5280840" y="55364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 txBox="1"/>
          <p:nvPr/>
        </p:nvSpPr>
        <p:spPr>
          <a:xfrm>
            <a:off x="4500720" y="2144160"/>
            <a:ext cx="3193200" cy="54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15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Key distribution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 txBox="1"/>
          <p:nvPr/>
        </p:nvSpPr>
        <p:spPr>
          <a:xfrm>
            <a:off x="2184840" y="2964960"/>
            <a:ext cx="78152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Those two moved information between people who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trust each other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 txBox="1"/>
          <p:nvPr/>
        </p:nvSpPr>
        <p:spPr>
          <a:xfrm>
            <a:off x="1835640" y="3469680"/>
            <a:ext cx="85215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Now: two protocols where somebody is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listening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— and the physics says so.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 txBox="1"/>
          <p:nvPr/>
        </p:nvSpPr>
        <p:spPr>
          <a:xfrm>
            <a:off x="3141720" y="3984120"/>
            <a:ext cx="58996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BB84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— two conjugate bases, no entanglement at all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 txBox="1"/>
          <p:nvPr/>
        </p:nvSpPr>
        <p:spPr>
          <a:xfrm>
            <a:off x="3729600" y="4336560"/>
            <a:ext cx="47257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E91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— entanglement, and a Bell inequality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 txBox="1"/>
          <p:nvPr/>
        </p:nvSpPr>
        <p:spPr>
          <a:xfrm>
            <a:off x="747720" y="731520"/>
            <a:ext cx="53139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BB84 — detecting an eavesdropper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 txBox="1"/>
          <p:nvPr/>
        </p:nvSpPr>
        <p:spPr>
          <a:xfrm>
            <a:off x="747720" y="1383840"/>
            <a:ext cx="91702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Not encryption. It produces a shared random key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and tells you if anyone looked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"/>
          <p:cNvSpPr txBox="1"/>
          <p:nvPr/>
        </p:nvSpPr>
        <p:spPr>
          <a:xfrm>
            <a:off x="2438640" y="1745640"/>
            <a:ext cx="550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and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71" name=""/>
          <p:cNvPicPr/>
          <p:nvPr/>
        </p:nvPicPr>
        <p:blipFill>
          <a:blip r:embed="rId1"/>
          <a:stretch/>
        </p:blipFill>
        <p:spPr>
          <a:xfrm>
            <a:off x="752400" y="2257560"/>
            <a:ext cx="4095360" cy="127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2" name=""/>
          <p:cNvSpPr txBox="1"/>
          <p:nvPr/>
        </p:nvSpPr>
        <p:spPr>
          <a:xfrm>
            <a:off x="4884840" y="1745640"/>
            <a:ext cx="62031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are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conjugate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— certain in one, a coin ﬂip in the other.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3" name=""/>
          <p:cNvSpPr/>
          <p:nvPr/>
        </p:nvSpPr>
        <p:spPr>
          <a:xfrm>
            <a:off x="4066920" y="4009680"/>
            <a:ext cx="1019520" cy="315000"/>
          </a:xfrm>
          <a:custGeom>
            <a:avLst/>
            <a:gdLst/>
            <a:ahLst/>
            <a:rect l="0" t="0" r="r" b="b"/>
            <a:pathLst>
              <a:path w="2832" h="875">
                <a:moveTo>
                  <a:pt x="0" y="71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9" y="0"/>
                  <a:pt x="159" y="0"/>
                </a:cubicBezTo>
                <a:lnTo>
                  <a:pt x="2673" y="0"/>
                </a:lnTo>
                <a:cubicBezTo>
                  <a:pt x="2684" y="0"/>
                  <a:pt x="2694" y="1"/>
                  <a:pt x="2704" y="4"/>
                </a:cubicBezTo>
                <a:cubicBezTo>
                  <a:pt x="2715" y="6"/>
                  <a:pt x="2725" y="9"/>
                  <a:pt x="2734" y="13"/>
                </a:cubicBezTo>
                <a:cubicBezTo>
                  <a:pt x="2744" y="17"/>
                  <a:pt x="2753" y="21"/>
                  <a:pt x="2762" y="27"/>
                </a:cubicBezTo>
                <a:cubicBezTo>
                  <a:pt x="2770" y="33"/>
                  <a:pt x="2778" y="40"/>
                  <a:pt x="2786" y="47"/>
                </a:cubicBezTo>
                <a:cubicBezTo>
                  <a:pt x="2793" y="54"/>
                  <a:pt x="2800" y="62"/>
                  <a:pt x="2805" y="71"/>
                </a:cubicBezTo>
                <a:cubicBezTo>
                  <a:pt x="2811" y="80"/>
                  <a:pt x="2816" y="89"/>
                  <a:pt x="2820" y="98"/>
                </a:cubicBezTo>
                <a:cubicBezTo>
                  <a:pt x="2824" y="108"/>
                  <a:pt x="2827" y="118"/>
                  <a:pt x="2829" y="128"/>
                </a:cubicBezTo>
                <a:cubicBezTo>
                  <a:pt x="2831" y="138"/>
                  <a:pt x="2832" y="149"/>
                  <a:pt x="2832" y="159"/>
                </a:cubicBezTo>
                <a:lnTo>
                  <a:pt x="2832" y="716"/>
                </a:lnTo>
                <a:cubicBezTo>
                  <a:pt x="2832" y="726"/>
                  <a:pt x="2831" y="737"/>
                  <a:pt x="2829" y="747"/>
                </a:cubicBezTo>
                <a:cubicBezTo>
                  <a:pt x="2827" y="757"/>
                  <a:pt x="2824" y="767"/>
                  <a:pt x="2820" y="777"/>
                </a:cubicBezTo>
                <a:cubicBezTo>
                  <a:pt x="2816" y="786"/>
                  <a:pt x="2811" y="795"/>
                  <a:pt x="2805" y="804"/>
                </a:cubicBezTo>
                <a:cubicBezTo>
                  <a:pt x="2800" y="813"/>
                  <a:pt x="2793" y="821"/>
                  <a:pt x="2786" y="828"/>
                </a:cubicBezTo>
                <a:cubicBezTo>
                  <a:pt x="2778" y="835"/>
                  <a:pt x="2770" y="842"/>
                  <a:pt x="2762" y="848"/>
                </a:cubicBezTo>
                <a:cubicBezTo>
                  <a:pt x="2753" y="854"/>
                  <a:pt x="2744" y="859"/>
                  <a:pt x="2734" y="862"/>
                </a:cubicBezTo>
                <a:cubicBezTo>
                  <a:pt x="2725" y="866"/>
                  <a:pt x="2715" y="869"/>
                  <a:pt x="2704" y="872"/>
                </a:cubicBezTo>
                <a:cubicBezTo>
                  <a:pt x="2694" y="874"/>
                  <a:pt x="2684" y="875"/>
                  <a:pt x="2673" y="875"/>
                </a:cubicBezTo>
                <a:lnTo>
                  <a:pt x="159" y="875"/>
                </a:lnTo>
                <a:cubicBezTo>
                  <a:pt x="149" y="875"/>
                  <a:pt x="138" y="874"/>
                  <a:pt x="128" y="872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9" y="859"/>
                  <a:pt x="79" y="854"/>
                  <a:pt x="71" y="848"/>
                </a:cubicBezTo>
                <a:cubicBezTo>
                  <a:pt x="62" y="842"/>
                  <a:pt x="54" y="835"/>
                  <a:pt x="47" y="828"/>
                </a:cubicBezTo>
                <a:cubicBezTo>
                  <a:pt x="39" y="821"/>
                  <a:pt x="33" y="813"/>
                  <a:pt x="27" y="804"/>
                </a:cubicBezTo>
                <a:cubicBezTo>
                  <a:pt x="21" y="795"/>
                  <a:pt x="16" y="786"/>
                  <a:pt x="12" y="777"/>
                </a:cubicBezTo>
                <a:cubicBezTo>
                  <a:pt x="8" y="767"/>
                  <a:pt x="5" y="757"/>
                  <a:pt x="3" y="747"/>
                </a:cubicBezTo>
                <a:cubicBezTo>
                  <a:pt x="1" y="737"/>
                  <a:pt x="0" y="726"/>
                  <a:pt x="0" y="71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"/>
          <p:cNvSpPr txBox="1"/>
          <p:nvPr/>
        </p:nvSpPr>
        <p:spPr>
          <a:xfrm>
            <a:off x="747720" y="3974400"/>
            <a:ext cx="33177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One qubit, changing hands.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"/>
          <p:cNvSpPr txBox="1"/>
          <p:nvPr/>
        </p:nvSpPr>
        <p:spPr>
          <a:xfrm>
            <a:off x="4151160" y="4053240"/>
            <a:ext cx="85212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channel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"/>
          <p:cNvSpPr txBox="1"/>
          <p:nvPr/>
        </p:nvSpPr>
        <p:spPr>
          <a:xfrm>
            <a:off x="5082480" y="397440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is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990360" y="4971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5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"/>
          <p:cNvSpPr/>
          <p:nvPr/>
        </p:nvSpPr>
        <p:spPr>
          <a:xfrm>
            <a:off x="1228680" y="4895640"/>
            <a:ext cx="276480" cy="305280"/>
          </a:xfrm>
          <a:custGeom>
            <a:avLst/>
            <a:gdLst/>
            <a:ahLst/>
            <a:rect l="0" t="0" r="r" b="b"/>
            <a:pathLst>
              <a:path w="768" h="848">
                <a:moveTo>
                  <a:pt x="0" y="68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40" y="54"/>
                  <a:pt x="47" y="47"/>
                </a:cubicBezTo>
                <a:cubicBezTo>
                  <a:pt x="54" y="39"/>
                  <a:pt x="63" y="33"/>
                  <a:pt x="71" y="27"/>
                </a:cubicBezTo>
                <a:cubicBezTo>
                  <a:pt x="80" y="21"/>
                  <a:pt x="89" y="16"/>
                  <a:pt x="99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609" y="0"/>
                </a:lnTo>
                <a:cubicBezTo>
                  <a:pt x="620" y="0"/>
                  <a:pt x="630" y="1"/>
                  <a:pt x="640" y="3"/>
                </a:cubicBezTo>
                <a:cubicBezTo>
                  <a:pt x="650" y="5"/>
                  <a:pt x="660" y="8"/>
                  <a:pt x="670" y="12"/>
                </a:cubicBezTo>
                <a:cubicBezTo>
                  <a:pt x="680" y="16"/>
                  <a:pt x="689" y="21"/>
                  <a:pt x="697" y="27"/>
                </a:cubicBezTo>
                <a:cubicBezTo>
                  <a:pt x="706" y="33"/>
                  <a:pt x="714" y="39"/>
                  <a:pt x="721" y="47"/>
                </a:cubicBezTo>
                <a:cubicBezTo>
                  <a:pt x="729" y="54"/>
                  <a:pt x="735" y="62"/>
                  <a:pt x="741" y="71"/>
                </a:cubicBezTo>
                <a:cubicBezTo>
                  <a:pt x="747" y="79"/>
                  <a:pt x="752" y="88"/>
                  <a:pt x="756" y="98"/>
                </a:cubicBezTo>
                <a:cubicBezTo>
                  <a:pt x="760" y="108"/>
                  <a:pt x="763" y="118"/>
                  <a:pt x="765" y="128"/>
                </a:cubicBezTo>
                <a:cubicBezTo>
                  <a:pt x="767" y="138"/>
                  <a:pt x="768" y="148"/>
                  <a:pt x="768" y="159"/>
                </a:cubicBezTo>
                <a:lnTo>
                  <a:pt x="768" y="689"/>
                </a:lnTo>
                <a:cubicBezTo>
                  <a:pt x="768" y="699"/>
                  <a:pt x="767" y="710"/>
                  <a:pt x="765" y="720"/>
                </a:cubicBezTo>
                <a:cubicBezTo>
                  <a:pt x="763" y="730"/>
                  <a:pt x="760" y="740"/>
                  <a:pt x="756" y="750"/>
                </a:cubicBezTo>
                <a:cubicBezTo>
                  <a:pt x="752" y="759"/>
                  <a:pt x="747" y="769"/>
                  <a:pt x="741" y="777"/>
                </a:cubicBezTo>
                <a:cubicBezTo>
                  <a:pt x="735" y="786"/>
                  <a:pt x="729" y="794"/>
                  <a:pt x="721" y="801"/>
                </a:cubicBezTo>
                <a:cubicBezTo>
                  <a:pt x="714" y="809"/>
                  <a:pt x="706" y="815"/>
                  <a:pt x="697" y="821"/>
                </a:cubicBezTo>
                <a:cubicBezTo>
                  <a:pt x="689" y="827"/>
                  <a:pt x="680" y="832"/>
                  <a:pt x="670" y="836"/>
                </a:cubicBezTo>
                <a:cubicBezTo>
                  <a:pt x="660" y="840"/>
                  <a:pt x="650" y="843"/>
                  <a:pt x="640" y="845"/>
                </a:cubicBezTo>
                <a:cubicBezTo>
                  <a:pt x="630" y="847"/>
                  <a:pt x="620" y="848"/>
                  <a:pt x="609" y="848"/>
                </a:cubicBezTo>
                <a:lnTo>
                  <a:pt x="159" y="848"/>
                </a:lnTo>
                <a:cubicBezTo>
                  <a:pt x="149" y="848"/>
                  <a:pt x="139" y="847"/>
                  <a:pt x="128" y="845"/>
                </a:cubicBezTo>
                <a:cubicBezTo>
                  <a:pt x="118" y="843"/>
                  <a:pt x="108" y="840"/>
                  <a:pt x="99" y="836"/>
                </a:cubicBezTo>
                <a:cubicBezTo>
                  <a:pt x="89" y="832"/>
                  <a:pt x="80" y="827"/>
                  <a:pt x="71" y="821"/>
                </a:cubicBezTo>
                <a:cubicBezTo>
                  <a:pt x="63" y="815"/>
                  <a:pt x="54" y="809"/>
                  <a:pt x="47" y="801"/>
                </a:cubicBezTo>
                <a:cubicBezTo>
                  <a:pt x="40" y="794"/>
                  <a:pt x="32" y="786"/>
                  <a:pt x="26" y="777"/>
                </a:cubicBezTo>
                <a:cubicBezTo>
                  <a:pt x="21" y="769"/>
                  <a:pt x="16" y="759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 txBox="1"/>
          <p:nvPr/>
        </p:nvSpPr>
        <p:spPr>
          <a:xfrm>
            <a:off x="747720" y="4345920"/>
            <a:ext cx="41472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Alice's before the barrier, Bob's after.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"/>
          <p:cNvSpPr txBox="1"/>
          <p:nvPr/>
        </p:nvSpPr>
        <p:spPr>
          <a:xfrm>
            <a:off x="1305000" y="4939200"/>
            <a:ext cx="2019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"/>
          <p:cNvSpPr/>
          <p:nvPr/>
        </p:nvSpPr>
        <p:spPr>
          <a:xfrm>
            <a:off x="990360" y="5400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5" y="193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"/>
          <p:cNvSpPr txBox="1"/>
          <p:nvPr/>
        </p:nvSpPr>
        <p:spPr>
          <a:xfrm>
            <a:off x="1507320" y="4851000"/>
            <a:ext cx="37047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— Alice's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bit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present 1, absent 0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/>
          <p:nvPr/>
        </p:nvSpPr>
        <p:spPr>
          <a:xfrm>
            <a:off x="1723680" y="5324400"/>
            <a:ext cx="286200" cy="304920"/>
          </a:xfrm>
          <a:custGeom>
            <a:avLst/>
            <a:gdLst/>
            <a:ahLst/>
            <a:rect l="0" t="0" r="r" b="b"/>
            <a:pathLst>
              <a:path w="795" h="847">
                <a:moveTo>
                  <a:pt x="0" y="689"/>
                </a:moveTo>
                <a:lnTo>
                  <a:pt x="0" y="159"/>
                </a:lnTo>
                <a:cubicBezTo>
                  <a:pt x="0" y="149"/>
                  <a:pt x="1" y="139"/>
                  <a:pt x="4" y="128"/>
                </a:cubicBezTo>
                <a:cubicBezTo>
                  <a:pt x="6" y="118"/>
                  <a:pt x="9" y="108"/>
                  <a:pt x="13" y="99"/>
                </a:cubicBezTo>
                <a:cubicBezTo>
                  <a:pt x="17" y="89"/>
                  <a:pt x="21" y="80"/>
                  <a:pt x="27" y="71"/>
                </a:cubicBezTo>
                <a:cubicBezTo>
                  <a:pt x="33" y="63"/>
                  <a:pt x="40" y="55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2"/>
                  <a:pt x="89" y="17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636" y="0"/>
                </a:lnTo>
                <a:cubicBezTo>
                  <a:pt x="647" y="0"/>
                  <a:pt x="657" y="1"/>
                  <a:pt x="667" y="3"/>
                </a:cubicBezTo>
                <a:cubicBezTo>
                  <a:pt x="678" y="5"/>
                  <a:pt x="688" y="8"/>
                  <a:pt x="697" y="12"/>
                </a:cubicBezTo>
                <a:cubicBezTo>
                  <a:pt x="707" y="17"/>
                  <a:pt x="716" y="22"/>
                  <a:pt x="725" y="27"/>
                </a:cubicBezTo>
                <a:cubicBezTo>
                  <a:pt x="733" y="33"/>
                  <a:pt x="741" y="40"/>
                  <a:pt x="749" y="47"/>
                </a:cubicBezTo>
                <a:cubicBezTo>
                  <a:pt x="756" y="55"/>
                  <a:pt x="763" y="63"/>
                  <a:pt x="768" y="71"/>
                </a:cubicBezTo>
                <a:cubicBezTo>
                  <a:pt x="774" y="80"/>
                  <a:pt x="779" y="89"/>
                  <a:pt x="783" y="99"/>
                </a:cubicBezTo>
                <a:cubicBezTo>
                  <a:pt x="787" y="108"/>
                  <a:pt x="790" y="118"/>
                  <a:pt x="792" y="128"/>
                </a:cubicBezTo>
                <a:cubicBezTo>
                  <a:pt x="794" y="139"/>
                  <a:pt x="795" y="149"/>
                  <a:pt x="795" y="159"/>
                </a:cubicBezTo>
                <a:lnTo>
                  <a:pt x="795" y="689"/>
                </a:lnTo>
                <a:cubicBezTo>
                  <a:pt x="795" y="699"/>
                  <a:pt x="794" y="709"/>
                  <a:pt x="792" y="720"/>
                </a:cubicBezTo>
                <a:cubicBezTo>
                  <a:pt x="790" y="730"/>
                  <a:pt x="787" y="740"/>
                  <a:pt x="783" y="749"/>
                </a:cubicBezTo>
                <a:cubicBezTo>
                  <a:pt x="779" y="759"/>
                  <a:pt x="774" y="768"/>
                  <a:pt x="768" y="777"/>
                </a:cubicBezTo>
                <a:cubicBezTo>
                  <a:pt x="763" y="785"/>
                  <a:pt x="756" y="794"/>
                  <a:pt x="749" y="801"/>
                </a:cubicBezTo>
                <a:cubicBezTo>
                  <a:pt x="741" y="808"/>
                  <a:pt x="733" y="815"/>
                  <a:pt x="725" y="821"/>
                </a:cubicBezTo>
                <a:cubicBezTo>
                  <a:pt x="716" y="826"/>
                  <a:pt x="707" y="831"/>
                  <a:pt x="697" y="835"/>
                </a:cubicBezTo>
                <a:cubicBezTo>
                  <a:pt x="688" y="839"/>
                  <a:pt x="678" y="842"/>
                  <a:pt x="667" y="844"/>
                </a:cubicBezTo>
                <a:cubicBezTo>
                  <a:pt x="657" y="846"/>
                  <a:pt x="647" y="847"/>
                  <a:pt x="636" y="847"/>
                </a:cubicBezTo>
                <a:lnTo>
                  <a:pt x="159" y="847"/>
                </a:lnTo>
                <a:cubicBezTo>
                  <a:pt x="149" y="847"/>
                  <a:pt x="138" y="846"/>
                  <a:pt x="128" y="844"/>
                </a:cubicBezTo>
                <a:cubicBezTo>
                  <a:pt x="118" y="842"/>
                  <a:pt x="108" y="839"/>
                  <a:pt x="98" y="835"/>
                </a:cubicBezTo>
                <a:cubicBezTo>
                  <a:pt x="89" y="831"/>
                  <a:pt x="80" y="826"/>
                  <a:pt x="71" y="821"/>
                </a:cubicBezTo>
                <a:cubicBezTo>
                  <a:pt x="62" y="815"/>
                  <a:pt x="54" y="808"/>
                  <a:pt x="47" y="801"/>
                </a:cubicBezTo>
                <a:cubicBezTo>
                  <a:pt x="40" y="794"/>
                  <a:pt x="33" y="785"/>
                  <a:pt x="27" y="777"/>
                </a:cubicBezTo>
                <a:cubicBezTo>
                  <a:pt x="21" y="768"/>
                  <a:pt x="17" y="759"/>
                  <a:pt x="13" y="749"/>
                </a:cubicBezTo>
                <a:cubicBezTo>
                  <a:pt x="9" y="740"/>
                  <a:pt x="6" y="730"/>
                  <a:pt x="4" y="720"/>
                </a:cubicBezTo>
                <a:cubicBezTo>
                  <a:pt x="1" y="709"/>
                  <a:pt x="0" y="699"/>
                  <a:pt x="0" y="68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"/>
          <p:cNvSpPr txBox="1"/>
          <p:nvPr/>
        </p:nvSpPr>
        <p:spPr>
          <a:xfrm>
            <a:off x="1224000" y="5279400"/>
            <a:ext cx="5036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ﬁrst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 txBox="1"/>
          <p:nvPr/>
        </p:nvSpPr>
        <p:spPr>
          <a:xfrm>
            <a:off x="1808640" y="5367960"/>
            <a:ext cx="2019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 txBox="1"/>
          <p:nvPr/>
        </p:nvSpPr>
        <p:spPr>
          <a:xfrm>
            <a:off x="2011320" y="5279400"/>
            <a:ext cx="24519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— her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basis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present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/>
          <p:nvPr/>
        </p:nvSpPr>
        <p:spPr>
          <a:xfrm>
            <a:off x="990360" y="58384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5" y="194"/>
                  <a:pt x="203" y="205"/>
                </a:cubicBezTo>
                <a:cubicBezTo>
                  <a:pt x="192" y="216"/>
                  <a:pt x="179" y="224"/>
                  <a:pt x="165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4" y="231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1"/>
                </a:cubicBezTo>
                <a:cubicBezTo>
                  <a:pt x="0" y="105"/>
                  <a:pt x="3" y="90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4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79" y="16"/>
                  <a:pt x="192" y="24"/>
                  <a:pt x="203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8" name=""/>
          <p:cNvSpPr txBox="1"/>
          <p:nvPr/>
        </p:nvSpPr>
        <p:spPr>
          <a:xfrm>
            <a:off x="4723200" y="5279400"/>
            <a:ext cx="9482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absent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2085840" y="5752800"/>
            <a:ext cx="286200" cy="314640"/>
          </a:xfrm>
          <a:custGeom>
            <a:avLst/>
            <a:gdLst/>
            <a:ahLst/>
            <a:rect l="0" t="0" r="r" b="b"/>
            <a:pathLst>
              <a:path w="795" h="874">
                <a:moveTo>
                  <a:pt x="0" y="71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60" y="0"/>
                </a:cubicBezTo>
                <a:lnTo>
                  <a:pt x="636" y="0"/>
                </a:lnTo>
                <a:cubicBezTo>
                  <a:pt x="646" y="0"/>
                  <a:pt x="657" y="1"/>
                  <a:pt x="667" y="3"/>
                </a:cubicBezTo>
                <a:cubicBezTo>
                  <a:pt x="677" y="5"/>
                  <a:pt x="687" y="8"/>
                  <a:pt x="697" y="12"/>
                </a:cubicBezTo>
                <a:cubicBezTo>
                  <a:pt x="706" y="16"/>
                  <a:pt x="715" y="21"/>
                  <a:pt x="724" y="27"/>
                </a:cubicBezTo>
                <a:cubicBezTo>
                  <a:pt x="733" y="33"/>
                  <a:pt x="741" y="39"/>
                  <a:pt x="748" y="47"/>
                </a:cubicBezTo>
                <a:cubicBezTo>
                  <a:pt x="755" y="54"/>
                  <a:pt x="762" y="62"/>
                  <a:pt x="768" y="71"/>
                </a:cubicBezTo>
                <a:cubicBezTo>
                  <a:pt x="774" y="80"/>
                  <a:pt x="779" y="89"/>
                  <a:pt x="783" y="98"/>
                </a:cubicBezTo>
                <a:cubicBezTo>
                  <a:pt x="787" y="108"/>
                  <a:pt x="790" y="118"/>
                  <a:pt x="792" y="128"/>
                </a:cubicBezTo>
                <a:cubicBezTo>
                  <a:pt x="794" y="138"/>
                  <a:pt x="795" y="149"/>
                  <a:pt x="795" y="159"/>
                </a:cubicBezTo>
                <a:lnTo>
                  <a:pt x="795" y="716"/>
                </a:lnTo>
                <a:cubicBezTo>
                  <a:pt x="795" y="726"/>
                  <a:pt x="794" y="736"/>
                  <a:pt x="792" y="747"/>
                </a:cubicBezTo>
                <a:cubicBezTo>
                  <a:pt x="790" y="757"/>
                  <a:pt x="787" y="767"/>
                  <a:pt x="783" y="776"/>
                </a:cubicBezTo>
                <a:cubicBezTo>
                  <a:pt x="779" y="786"/>
                  <a:pt x="774" y="795"/>
                  <a:pt x="768" y="804"/>
                </a:cubicBezTo>
                <a:cubicBezTo>
                  <a:pt x="762" y="813"/>
                  <a:pt x="755" y="821"/>
                  <a:pt x="748" y="828"/>
                </a:cubicBezTo>
                <a:cubicBezTo>
                  <a:pt x="741" y="835"/>
                  <a:pt x="733" y="842"/>
                  <a:pt x="724" y="848"/>
                </a:cubicBezTo>
                <a:cubicBezTo>
                  <a:pt x="715" y="853"/>
                  <a:pt x="706" y="858"/>
                  <a:pt x="697" y="862"/>
                </a:cubicBezTo>
                <a:cubicBezTo>
                  <a:pt x="687" y="866"/>
                  <a:pt x="677" y="869"/>
                  <a:pt x="667" y="871"/>
                </a:cubicBezTo>
                <a:cubicBezTo>
                  <a:pt x="657" y="873"/>
                  <a:pt x="646" y="874"/>
                  <a:pt x="636" y="874"/>
                </a:cubicBezTo>
                <a:lnTo>
                  <a:pt x="160" y="874"/>
                </a:lnTo>
                <a:cubicBezTo>
                  <a:pt x="148" y="874"/>
                  <a:pt x="138" y="873"/>
                  <a:pt x="128" y="871"/>
                </a:cubicBezTo>
                <a:cubicBezTo>
                  <a:pt x="117" y="869"/>
                  <a:pt x="108" y="866"/>
                  <a:pt x="98" y="862"/>
                </a:cubicBezTo>
                <a:cubicBezTo>
                  <a:pt x="88" y="858"/>
                  <a:pt x="79" y="853"/>
                  <a:pt x="70" y="848"/>
                </a:cubicBezTo>
                <a:cubicBezTo>
                  <a:pt x="62" y="842"/>
                  <a:pt x="54" y="835"/>
                  <a:pt x="46" y="828"/>
                </a:cubicBezTo>
                <a:cubicBezTo>
                  <a:pt x="39" y="821"/>
                  <a:pt x="32" y="813"/>
                  <a:pt x="27" y="804"/>
                </a:cubicBezTo>
                <a:cubicBezTo>
                  <a:pt x="21" y="795"/>
                  <a:pt x="16" y="786"/>
                  <a:pt x="12" y="776"/>
                </a:cubicBezTo>
                <a:cubicBezTo>
                  <a:pt x="8" y="767"/>
                  <a:pt x="5" y="757"/>
                  <a:pt x="3" y="747"/>
                </a:cubicBezTo>
                <a:cubicBezTo>
                  <a:pt x="1" y="736"/>
                  <a:pt x="0" y="726"/>
                  <a:pt x="0" y="71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 txBox="1"/>
          <p:nvPr/>
        </p:nvSpPr>
        <p:spPr>
          <a:xfrm>
            <a:off x="1224000" y="5717520"/>
            <a:ext cx="861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second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"/>
          <p:cNvSpPr txBox="1"/>
          <p:nvPr/>
        </p:nvSpPr>
        <p:spPr>
          <a:xfrm>
            <a:off x="2167200" y="5796360"/>
            <a:ext cx="2019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 txBox="1"/>
          <p:nvPr/>
        </p:nvSpPr>
        <p:spPr>
          <a:xfrm>
            <a:off x="2369880" y="5717520"/>
            <a:ext cx="31104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—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Bob's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basis, picked blind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 txBox="1"/>
          <p:nvPr/>
        </p:nvSpPr>
        <p:spPr>
          <a:xfrm>
            <a:off x="6238800" y="3793680"/>
            <a:ext cx="2946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 order is the security: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"/>
          <p:cNvSpPr txBox="1"/>
          <p:nvPr/>
        </p:nvSpPr>
        <p:spPr>
          <a:xfrm>
            <a:off x="6453000" y="4298400"/>
            <a:ext cx="25786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1. Alice sends the qubit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"/>
          <p:cNvSpPr txBox="1"/>
          <p:nvPr/>
        </p:nvSpPr>
        <p:spPr>
          <a:xfrm>
            <a:off x="6453000" y="4717440"/>
            <a:ext cx="4749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2. Bob measures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immediately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guessing a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"/>
          <p:cNvSpPr txBox="1"/>
          <p:nvPr/>
        </p:nvSpPr>
        <p:spPr>
          <a:xfrm>
            <a:off x="6715080" y="5069880"/>
            <a:ext cx="5695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basis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"/>
          <p:cNvSpPr txBox="1"/>
          <p:nvPr/>
        </p:nvSpPr>
        <p:spPr>
          <a:xfrm>
            <a:off x="6453000" y="5488920"/>
            <a:ext cx="46677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3. </a:t>
            </a:r>
            <a:r>
              <a:rPr lang="en-US" sz="1870" b="0" i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Then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they announce bases — never bits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 txBox="1"/>
          <p:nvPr/>
        </p:nvSpPr>
        <p:spPr>
          <a:xfrm>
            <a:off x="6453000" y="5907960"/>
            <a:ext cx="29412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4. Discard the mismatches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 txBox="1"/>
          <p:nvPr/>
        </p:nvSpPr>
        <p:spPr>
          <a:xfrm>
            <a:off x="747720" y="6458760"/>
            <a:ext cx="12117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Bases match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"/>
          <p:cNvSpPr txBox="1"/>
          <p:nvPr/>
        </p:nvSpPr>
        <p:spPr>
          <a:xfrm>
            <a:off x="1959840" y="6490800"/>
            <a:ext cx="1958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 txBox="1"/>
          <p:nvPr/>
        </p:nvSpPr>
        <p:spPr>
          <a:xfrm>
            <a:off x="2155320" y="6458760"/>
            <a:ext cx="79560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the two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"/>
          <p:cNvSpPr txBox="1"/>
          <p:nvPr/>
        </p:nvSpPr>
        <p:spPr>
          <a:xfrm>
            <a:off x="3166560" y="6458760"/>
            <a:ext cx="82548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 cancel,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 txBox="1"/>
          <p:nvPr/>
        </p:nvSpPr>
        <p:spPr>
          <a:xfrm>
            <a:off x="4739760" y="6458760"/>
            <a:ext cx="1947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 txBox="1"/>
          <p:nvPr/>
        </p:nvSpPr>
        <p:spPr>
          <a:xfrm>
            <a:off x="4790520" y="6490800"/>
            <a:ext cx="1958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"/>
          <p:cNvSpPr txBox="1"/>
          <p:nvPr/>
        </p:nvSpPr>
        <p:spPr>
          <a:xfrm>
            <a:off x="4985640" y="6458760"/>
            <a:ext cx="35535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Bob reads her bit exactly. Bases diﬀer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"/>
          <p:cNvSpPr txBox="1"/>
          <p:nvPr/>
        </p:nvSpPr>
        <p:spPr>
          <a:xfrm>
            <a:off x="8526600" y="6490800"/>
            <a:ext cx="1958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"/>
          <p:cNvSpPr txBox="1"/>
          <p:nvPr/>
        </p:nvSpPr>
        <p:spPr>
          <a:xfrm>
            <a:off x="8721720" y="6458760"/>
            <a:ext cx="9003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one lone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 txBox="1"/>
          <p:nvPr/>
        </p:nvSpPr>
        <p:spPr>
          <a:xfrm>
            <a:off x="9837720" y="6458760"/>
            <a:ext cx="1947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 txBox="1"/>
          <p:nvPr/>
        </p:nvSpPr>
        <p:spPr>
          <a:xfrm>
            <a:off x="9888480" y="6490800"/>
            <a:ext cx="1958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"/>
          <p:cNvSpPr txBox="1"/>
          <p:nvPr/>
        </p:nvSpPr>
        <p:spPr>
          <a:xfrm>
            <a:off x="10083960" y="6458760"/>
            <a:ext cx="9849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 coin ﬂip.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"/>
          <p:cNvSpPr txBox="1"/>
          <p:nvPr/>
        </p:nvSpPr>
        <p:spPr>
          <a:xfrm>
            <a:off x="747720" y="17719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"/>
          <p:cNvSpPr txBox="1"/>
          <p:nvPr/>
        </p:nvSpPr>
        <p:spPr>
          <a:xfrm>
            <a:off x="1045080" y="1692360"/>
            <a:ext cx="14558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 {∣0⟩, ∣1⟩}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3" name=""/>
          <p:cNvSpPr txBox="1"/>
          <p:nvPr/>
        </p:nvSpPr>
        <p:spPr>
          <a:xfrm>
            <a:off x="2989800" y="17719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4" name=""/>
          <p:cNvSpPr txBox="1"/>
          <p:nvPr/>
        </p:nvSpPr>
        <p:spPr>
          <a:xfrm>
            <a:off x="3331080" y="1692360"/>
            <a:ext cx="14558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 {∣+⟩, ∣−⟩}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5" name=""/>
          <p:cNvSpPr txBox="1"/>
          <p:nvPr/>
        </p:nvSpPr>
        <p:spPr>
          <a:xfrm>
            <a:off x="4462200" y="53056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 txBox="1"/>
          <p:nvPr/>
        </p:nvSpPr>
        <p:spPr>
          <a:xfrm>
            <a:off x="5672520" y="53056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 txBox="1"/>
          <p:nvPr/>
        </p:nvSpPr>
        <p:spPr>
          <a:xfrm>
            <a:off x="2950920" y="648036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H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 txBox="1"/>
          <p:nvPr/>
        </p:nvSpPr>
        <p:spPr>
          <a:xfrm>
            <a:off x="3992040" y="648036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H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9" name=""/>
          <p:cNvSpPr txBox="1"/>
          <p:nvPr/>
        </p:nvSpPr>
        <p:spPr>
          <a:xfrm>
            <a:off x="4367880" y="6414840"/>
            <a:ext cx="2358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 txBox="1"/>
          <p:nvPr/>
        </p:nvSpPr>
        <p:spPr>
          <a:xfrm>
            <a:off x="4207680" y="6405120"/>
            <a:ext cx="1648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 txBox="1"/>
          <p:nvPr/>
        </p:nvSpPr>
        <p:spPr>
          <a:xfrm>
            <a:off x="4617360" y="648036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"/>
          <p:cNvSpPr txBox="1"/>
          <p:nvPr/>
        </p:nvSpPr>
        <p:spPr>
          <a:xfrm>
            <a:off x="9622440" y="648036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H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3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7" name=""/>
          <p:cNvSpPr/>
          <p:nvPr/>
        </p:nvSpPr>
        <p:spPr>
          <a:xfrm>
            <a:off x="752400" y="1885680"/>
            <a:ext cx="343080" cy="343440"/>
          </a:xfrm>
          <a:custGeom>
            <a:avLst/>
            <a:gdLst/>
            <a:ahLst/>
            <a:rect l="0" t="0" r="r" b="b"/>
            <a:pathLst>
              <a:path w="953" h="954">
                <a:moveTo>
                  <a:pt x="0" y="0"/>
                </a:moveTo>
                <a:lnTo>
                  <a:pt x="953" y="0"/>
                </a:lnTo>
                <a:lnTo>
                  <a:pt x="953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8" name=""/>
          <p:cNvSpPr/>
          <p:nvPr/>
        </p:nvSpPr>
        <p:spPr>
          <a:xfrm>
            <a:off x="1095120" y="1885680"/>
            <a:ext cx="657720" cy="343440"/>
          </a:xfrm>
          <a:custGeom>
            <a:avLst/>
            <a:gdLst/>
            <a:ahLst/>
            <a:rect l="0" t="0" r="r" b="b"/>
            <a:pathLst>
              <a:path w="1827" h="954">
                <a:moveTo>
                  <a:pt x="0" y="0"/>
                </a:moveTo>
                <a:lnTo>
                  <a:pt x="1827" y="0"/>
                </a:lnTo>
                <a:lnTo>
                  <a:pt x="1827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9" name=""/>
          <p:cNvSpPr/>
          <p:nvPr/>
        </p:nvSpPr>
        <p:spPr>
          <a:xfrm>
            <a:off x="1752480" y="1885680"/>
            <a:ext cx="848160" cy="343440"/>
          </a:xfrm>
          <a:custGeom>
            <a:avLst/>
            <a:gdLst/>
            <a:ahLst/>
            <a:rect l="0" t="0" r="r" b="b"/>
            <a:pathLst>
              <a:path w="2356" h="954">
                <a:moveTo>
                  <a:pt x="0" y="0"/>
                </a:moveTo>
                <a:lnTo>
                  <a:pt x="2356" y="0"/>
                </a:lnTo>
                <a:lnTo>
                  <a:pt x="2356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"/>
          <p:cNvSpPr/>
          <p:nvPr/>
        </p:nvSpPr>
        <p:spPr>
          <a:xfrm>
            <a:off x="2600280" y="1885680"/>
            <a:ext cx="771840" cy="343440"/>
          </a:xfrm>
          <a:custGeom>
            <a:avLst/>
            <a:gdLst/>
            <a:ahLst/>
            <a:rect l="0" t="0" r="r" b="b"/>
            <a:pathLst>
              <a:path w="2144" h="954">
                <a:moveTo>
                  <a:pt x="0" y="0"/>
                </a:moveTo>
                <a:lnTo>
                  <a:pt x="2144" y="0"/>
                </a:lnTo>
                <a:lnTo>
                  <a:pt x="2144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"/>
          <p:cNvSpPr/>
          <p:nvPr/>
        </p:nvSpPr>
        <p:spPr>
          <a:xfrm>
            <a:off x="3371760" y="1885680"/>
            <a:ext cx="838440" cy="343440"/>
          </a:xfrm>
          <a:custGeom>
            <a:avLst/>
            <a:gdLst/>
            <a:ahLst/>
            <a:rect l="0" t="0" r="r" b="b"/>
            <a:pathLst>
              <a:path w="2329" h="954">
                <a:moveTo>
                  <a:pt x="0" y="0"/>
                </a:moveTo>
                <a:lnTo>
                  <a:pt x="2329" y="0"/>
                </a:lnTo>
                <a:lnTo>
                  <a:pt x="2329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"/>
          <p:cNvSpPr/>
          <p:nvPr/>
        </p:nvSpPr>
        <p:spPr>
          <a:xfrm>
            <a:off x="4209840" y="1885680"/>
            <a:ext cx="914760" cy="343440"/>
          </a:xfrm>
          <a:custGeom>
            <a:avLst/>
            <a:gdLst/>
            <a:ahLst/>
            <a:rect l="0" t="0" r="r" b="b"/>
            <a:pathLst>
              <a:path w="2541" h="954">
                <a:moveTo>
                  <a:pt x="0" y="0"/>
                </a:moveTo>
                <a:lnTo>
                  <a:pt x="2541" y="0"/>
                </a:lnTo>
                <a:lnTo>
                  <a:pt x="2541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3" name=""/>
          <p:cNvSpPr/>
          <p:nvPr/>
        </p:nvSpPr>
        <p:spPr>
          <a:xfrm>
            <a:off x="5124240" y="1885680"/>
            <a:ext cx="914760" cy="343440"/>
          </a:xfrm>
          <a:custGeom>
            <a:avLst/>
            <a:gdLst/>
            <a:ahLst/>
            <a:rect l="0" t="0" r="r" b="b"/>
            <a:pathLst>
              <a:path w="2541" h="954">
                <a:moveTo>
                  <a:pt x="0" y="0"/>
                </a:moveTo>
                <a:lnTo>
                  <a:pt x="2541" y="0"/>
                </a:lnTo>
                <a:lnTo>
                  <a:pt x="2541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4" name=""/>
          <p:cNvSpPr/>
          <p:nvPr/>
        </p:nvSpPr>
        <p:spPr>
          <a:xfrm>
            <a:off x="6038640" y="1885680"/>
            <a:ext cx="2257920" cy="343440"/>
          </a:xfrm>
          <a:custGeom>
            <a:avLst/>
            <a:gdLst/>
            <a:ahLst/>
            <a:rect l="0" t="0" r="r" b="b"/>
            <a:pathLst>
              <a:path w="6272" h="954">
                <a:moveTo>
                  <a:pt x="0" y="0"/>
                </a:moveTo>
                <a:lnTo>
                  <a:pt x="6272" y="0"/>
                </a:lnTo>
                <a:lnTo>
                  <a:pt x="6272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5" name=""/>
          <p:cNvSpPr/>
          <p:nvPr/>
        </p:nvSpPr>
        <p:spPr>
          <a:xfrm>
            <a:off x="752400" y="2228760"/>
            <a:ext cx="343080" cy="352800"/>
          </a:xfrm>
          <a:custGeom>
            <a:avLst/>
            <a:gdLst/>
            <a:ahLst/>
            <a:rect l="0" t="0" r="r" b="b"/>
            <a:pathLst>
              <a:path w="953" h="980">
                <a:moveTo>
                  <a:pt x="0" y="0"/>
                </a:moveTo>
                <a:lnTo>
                  <a:pt x="953" y="0"/>
                </a:lnTo>
                <a:lnTo>
                  <a:pt x="95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1095120" y="2228760"/>
            <a:ext cx="657720" cy="352800"/>
          </a:xfrm>
          <a:custGeom>
            <a:avLst/>
            <a:gdLst/>
            <a:ahLst/>
            <a:rect l="0" t="0" r="r" b="b"/>
            <a:pathLst>
              <a:path w="1827" h="980">
                <a:moveTo>
                  <a:pt x="0" y="0"/>
                </a:moveTo>
                <a:lnTo>
                  <a:pt x="1827" y="0"/>
                </a:lnTo>
                <a:lnTo>
                  <a:pt x="18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1752480" y="2228760"/>
            <a:ext cx="848160" cy="352800"/>
          </a:xfrm>
          <a:custGeom>
            <a:avLst/>
            <a:gdLst/>
            <a:ahLst/>
            <a:rect l="0" t="0" r="r" b="b"/>
            <a:pathLst>
              <a:path w="2356" h="980">
                <a:moveTo>
                  <a:pt x="0" y="0"/>
                </a:moveTo>
                <a:lnTo>
                  <a:pt x="2356" y="0"/>
                </a:lnTo>
                <a:lnTo>
                  <a:pt x="2356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2600280" y="2228760"/>
            <a:ext cx="771840" cy="352800"/>
          </a:xfrm>
          <a:custGeom>
            <a:avLst/>
            <a:gdLst/>
            <a:ahLst/>
            <a:rect l="0" t="0" r="r" b="b"/>
            <a:pathLst>
              <a:path w="2144" h="980">
                <a:moveTo>
                  <a:pt x="0" y="0"/>
                </a:moveTo>
                <a:lnTo>
                  <a:pt x="2144" y="0"/>
                </a:lnTo>
                <a:lnTo>
                  <a:pt x="214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3371760" y="2228760"/>
            <a:ext cx="838440" cy="352800"/>
          </a:xfrm>
          <a:custGeom>
            <a:avLst/>
            <a:gdLst/>
            <a:ahLst/>
            <a:rect l="0" t="0" r="r" b="b"/>
            <a:pathLst>
              <a:path w="2329" h="980">
                <a:moveTo>
                  <a:pt x="0" y="0"/>
                </a:moveTo>
                <a:lnTo>
                  <a:pt x="2329" y="0"/>
                </a:lnTo>
                <a:lnTo>
                  <a:pt x="232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4209840" y="2228760"/>
            <a:ext cx="914760" cy="352800"/>
          </a:xfrm>
          <a:custGeom>
            <a:avLst/>
            <a:gdLst/>
            <a:ahLst/>
            <a:rect l="0" t="0" r="r" b="b"/>
            <a:pathLst>
              <a:path w="2541" h="980">
                <a:moveTo>
                  <a:pt x="0" y="0"/>
                </a:moveTo>
                <a:lnTo>
                  <a:pt x="2541" y="0"/>
                </a:lnTo>
                <a:lnTo>
                  <a:pt x="254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5124240" y="2228760"/>
            <a:ext cx="914760" cy="352800"/>
          </a:xfrm>
          <a:custGeom>
            <a:avLst/>
            <a:gdLst/>
            <a:ahLst/>
            <a:rect l="0" t="0" r="r" b="b"/>
            <a:pathLst>
              <a:path w="2541" h="980">
                <a:moveTo>
                  <a:pt x="0" y="0"/>
                </a:moveTo>
                <a:lnTo>
                  <a:pt x="2541" y="0"/>
                </a:lnTo>
                <a:lnTo>
                  <a:pt x="254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6038640" y="2228760"/>
            <a:ext cx="2257920" cy="352800"/>
          </a:xfrm>
          <a:custGeom>
            <a:avLst/>
            <a:gdLst/>
            <a:ahLst/>
            <a:rect l="0" t="0" r="r" b="b"/>
            <a:pathLst>
              <a:path w="6272" h="980">
                <a:moveTo>
                  <a:pt x="0" y="0"/>
                </a:moveTo>
                <a:lnTo>
                  <a:pt x="6272" y="0"/>
                </a:lnTo>
                <a:lnTo>
                  <a:pt x="6272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752400" y="2581200"/>
            <a:ext cx="343080" cy="352800"/>
          </a:xfrm>
          <a:custGeom>
            <a:avLst/>
            <a:gdLst/>
            <a:ahLst/>
            <a:rect l="0" t="0" r="r" b="b"/>
            <a:pathLst>
              <a:path w="953" h="980">
                <a:moveTo>
                  <a:pt x="0" y="0"/>
                </a:moveTo>
                <a:lnTo>
                  <a:pt x="953" y="0"/>
                </a:lnTo>
                <a:lnTo>
                  <a:pt x="95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1095120" y="2581200"/>
            <a:ext cx="657720" cy="352800"/>
          </a:xfrm>
          <a:custGeom>
            <a:avLst/>
            <a:gdLst/>
            <a:ahLst/>
            <a:rect l="0" t="0" r="r" b="b"/>
            <a:pathLst>
              <a:path w="1827" h="980">
                <a:moveTo>
                  <a:pt x="0" y="0"/>
                </a:moveTo>
                <a:lnTo>
                  <a:pt x="1827" y="0"/>
                </a:lnTo>
                <a:lnTo>
                  <a:pt x="18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1752480" y="2581200"/>
            <a:ext cx="848160" cy="352800"/>
          </a:xfrm>
          <a:custGeom>
            <a:avLst/>
            <a:gdLst/>
            <a:ahLst/>
            <a:rect l="0" t="0" r="r" b="b"/>
            <a:pathLst>
              <a:path w="2356" h="980">
                <a:moveTo>
                  <a:pt x="0" y="0"/>
                </a:moveTo>
                <a:lnTo>
                  <a:pt x="2356" y="0"/>
                </a:lnTo>
                <a:lnTo>
                  <a:pt x="2356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2600280" y="2581200"/>
            <a:ext cx="771840" cy="352800"/>
          </a:xfrm>
          <a:custGeom>
            <a:avLst/>
            <a:gdLst/>
            <a:ahLst/>
            <a:rect l="0" t="0" r="r" b="b"/>
            <a:pathLst>
              <a:path w="2144" h="980">
                <a:moveTo>
                  <a:pt x="0" y="0"/>
                </a:moveTo>
                <a:lnTo>
                  <a:pt x="2144" y="0"/>
                </a:lnTo>
                <a:lnTo>
                  <a:pt x="214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3371760" y="2581200"/>
            <a:ext cx="838440" cy="352800"/>
          </a:xfrm>
          <a:custGeom>
            <a:avLst/>
            <a:gdLst/>
            <a:ahLst/>
            <a:rect l="0" t="0" r="r" b="b"/>
            <a:pathLst>
              <a:path w="2329" h="980">
                <a:moveTo>
                  <a:pt x="0" y="0"/>
                </a:moveTo>
                <a:lnTo>
                  <a:pt x="2329" y="0"/>
                </a:lnTo>
                <a:lnTo>
                  <a:pt x="232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4209840" y="2581200"/>
            <a:ext cx="914760" cy="352800"/>
          </a:xfrm>
          <a:custGeom>
            <a:avLst/>
            <a:gdLst/>
            <a:ahLst/>
            <a:rect l="0" t="0" r="r" b="b"/>
            <a:pathLst>
              <a:path w="2541" h="980">
                <a:moveTo>
                  <a:pt x="0" y="0"/>
                </a:moveTo>
                <a:lnTo>
                  <a:pt x="2541" y="0"/>
                </a:lnTo>
                <a:lnTo>
                  <a:pt x="254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5124240" y="2581200"/>
            <a:ext cx="914760" cy="352800"/>
          </a:xfrm>
          <a:custGeom>
            <a:avLst/>
            <a:gdLst/>
            <a:ahLst/>
            <a:rect l="0" t="0" r="r" b="b"/>
            <a:pathLst>
              <a:path w="2541" h="980">
                <a:moveTo>
                  <a:pt x="0" y="0"/>
                </a:moveTo>
                <a:lnTo>
                  <a:pt x="2541" y="0"/>
                </a:lnTo>
                <a:lnTo>
                  <a:pt x="254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6038640" y="2581200"/>
            <a:ext cx="2257920" cy="352800"/>
          </a:xfrm>
          <a:custGeom>
            <a:avLst/>
            <a:gdLst/>
            <a:ahLst/>
            <a:rect l="0" t="0" r="r" b="b"/>
            <a:pathLst>
              <a:path w="6272" h="980">
                <a:moveTo>
                  <a:pt x="0" y="0"/>
                </a:moveTo>
                <a:lnTo>
                  <a:pt x="6272" y="0"/>
                </a:lnTo>
                <a:lnTo>
                  <a:pt x="6272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752400" y="2933640"/>
            <a:ext cx="343080" cy="343080"/>
          </a:xfrm>
          <a:custGeom>
            <a:avLst/>
            <a:gdLst/>
            <a:ahLst/>
            <a:rect l="0" t="0" r="r" b="b"/>
            <a:pathLst>
              <a:path w="953" h="953">
                <a:moveTo>
                  <a:pt x="0" y="0"/>
                </a:moveTo>
                <a:lnTo>
                  <a:pt x="953" y="0"/>
                </a:lnTo>
                <a:lnTo>
                  <a:pt x="953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1095120" y="2933640"/>
            <a:ext cx="657720" cy="343080"/>
          </a:xfrm>
          <a:custGeom>
            <a:avLst/>
            <a:gdLst/>
            <a:ahLst/>
            <a:rect l="0" t="0" r="r" b="b"/>
            <a:pathLst>
              <a:path w="1827" h="953">
                <a:moveTo>
                  <a:pt x="0" y="0"/>
                </a:moveTo>
                <a:lnTo>
                  <a:pt x="1827" y="0"/>
                </a:lnTo>
                <a:lnTo>
                  <a:pt x="182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1752480" y="2933640"/>
            <a:ext cx="848160" cy="343080"/>
          </a:xfrm>
          <a:custGeom>
            <a:avLst/>
            <a:gdLst/>
            <a:ahLst/>
            <a:rect l="0" t="0" r="r" b="b"/>
            <a:pathLst>
              <a:path w="2356" h="953">
                <a:moveTo>
                  <a:pt x="0" y="0"/>
                </a:moveTo>
                <a:lnTo>
                  <a:pt x="2356" y="0"/>
                </a:lnTo>
                <a:lnTo>
                  <a:pt x="2356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2600280" y="2933640"/>
            <a:ext cx="771840" cy="343080"/>
          </a:xfrm>
          <a:custGeom>
            <a:avLst/>
            <a:gdLst/>
            <a:ahLst/>
            <a:rect l="0" t="0" r="r" b="b"/>
            <a:pathLst>
              <a:path w="2144" h="953">
                <a:moveTo>
                  <a:pt x="0" y="0"/>
                </a:moveTo>
                <a:lnTo>
                  <a:pt x="2144" y="0"/>
                </a:lnTo>
                <a:lnTo>
                  <a:pt x="2144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3371760" y="2933640"/>
            <a:ext cx="838440" cy="343080"/>
          </a:xfrm>
          <a:custGeom>
            <a:avLst/>
            <a:gdLst/>
            <a:ahLst/>
            <a:rect l="0" t="0" r="r" b="b"/>
            <a:pathLst>
              <a:path w="2329" h="953">
                <a:moveTo>
                  <a:pt x="0" y="0"/>
                </a:moveTo>
                <a:lnTo>
                  <a:pt x="2329" y="0"/>
                </a:lnTo>
                <a:lnTo>
                  <a:pt x="2329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4209840" y="2933640"/>
            <a:ext cx="914760" cy="343080"/>
          </a:xfrm>
          <a:custGeom>
            <a:avLst/>
            <a:gdLst/>
            <a:ahLst/>
            <a:rect l="0" t="0" r="r" b="b"/>
            <a:pathLst>
              <a:path w="2541" h="953">
                <a:moveTo>
                  <a:pt x="0" y="0"/>
                </a:moveTo>
                <a:lnTo>
                  <a:pt x="2541" y="0"/>
                </a:lnTo>
                <a:lnTo>
                  <a:pt x="2541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5124240" y="2933640"/>
            <a:ext cx="914760" cy="343080"/>
          </a:xfrm>
          <a:custGeom>
            <a:avLst/>
            <a:gdLst/>
            <a:ahLst/>
            <a:rect l="0" t="0" r="r" b="b"/>
            <a:pathLst>
              <a:path w="2541" h="953">
                <a:moveTo>
                  <a:pt x="0" y="0"/>
                </a:moveTo>
                <a:lnTo>
                  <a:pt x="2541" y="0"/>
                </a:lnTo>
                <a:lnTo>
                  <a:pt x="2541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>
            <a:off x="6038640" y="2933640"/>
            <a:ext cx="2257920" cy="343080"/>
          </a:xfrm>
          <a:custGeom>
            <a:avLst/>
            <a:gdLst/>
            <a:ahLst/>
            <a:rect l="0" t="0" r="r" b="b"/>
            <a:pathLst>
              <a:path w="6272" h="953">
                <a:moveTo>
                  <a:pt x="0" y="0"/>
                </a:moveTo>
                <a:lnTo>
                  <a:pt x="6272" y="0"/>
                </a:lnTo>
                <a:lnTo>
                  <a:pt x="6272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752400" y="3276360"/>
            <a:ext cx="343080" cy="352800"/>
          </a:xfrm>
          <a:custGeom>
            <a:avLst/>
            <a:gdLst/>
            <a:ahLst/>
            <a:rect l="0" t="0" r="r" b="b"/>
            <a:pathLst>
              <a:path w="953" h="980">
                <a:moveTo>
                  <a:pt x="0" y="0"/>
                </a:moveTo>
                <a:lnTo>
                  <a:pt x="953" y="0"/>
                </a:lnTo>
                <a:lnTo>
                  <a:pt x="95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1095120" y="3276360"/>
            <a:ext cx="657720" cy="352800"/>
          </a:xfrm>
          <a:custGeom>
            <a:avLst/>
            <a:gdLst/>
            <a:ahLst/>
            <a:rect l="0" t="0" r="r" b="b"/>
            <a:pathLst>
              <a:path w="1827" h="980">
                <a:moveTo>
                  <a:pt x="0" y="0"/>
                </a:moveTo>
                <a:lnTo>
                  <a:pt x="1827" y="0"/>
                </a:lnTo>
                <a:lnTo>
                  <a:pt x="18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1752480" y="3276360"/>
            <a:ext cx="848160" cy="352800"/>
          </a:xfrm>
          <a:custGeom>
            <a:avLst/>
            <a:gdLst/>
            <a:ahLst/>
            <a:rect l="0" t="0" r="r" b="b"/>
            <a:pathLst>
              <a:path w="2356" h="980">
                <a:moveTo>
                  <a:pt x="0" y="0"/>
                </a:moveTo>
                <a:lnTo>
                  <a:pt x="2356" y="0"/>
                </a:lnTo>
                <a:lnTo>
                  <a:pt x="2356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2600280" y="3276360"/>
            <a:ext cx="771840" cy="352800"/>
          </a:xfrm>
          <a:custGeom>
            <a:avLst/>
            <a:gdLst/>
            <a:ahLst/>
            <a:rect l="0" t="0" r="r" b="b"/>
            <a:pathLst>
              <a:path w="2144" h="980">
                <a:moveTo>
                  <a:pt x="0" y="0"/>
                </a:moveTo>
                <a:lnTo>
                  <a:pt x="2144" y="0"/>
                </a:lnTo>
                <a:lnTo>
                  <a:pt x="214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3371760" y="3276360"/>
            <a:ext cx="838440" cy="352800"/>
          </a:xfrm>
          <a:custGeom>
            <a:avLst/>
            <a:gdLst/>
            <a:ahLst/>
            <a:rect l="0" t="0" r="r" b="b"/>
            <a:pathLst>
              <a:path w="2329" h="980">
                <a:moveTo>
                  <a:pt x="0" y="0"/>
                </a:moveTo>
                <a:lnTo>
                  <a:pt x="2329" y="0"/>
                </a:lnTo>
                <a:lnTo>
                  <a:pt x="232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4209840" y="3276360"/>
            <a:ext cx="914760" cy="352800"/>
          </a:xfrm>
          <a:custGeom>
            <a:avLst/>
            <a:gdLst/>
            <a:ahLst/>
            <a:rect l="0" t="0" r="r" b="b"/>
            <a:pathLst>
              <a:path w="2541" h="980">
                <a:moveTo>
                  <a:pt x="0" y="0"/>
                </a:moveTo>
                <a:lnTo>
                  <a:pt x="2541" y="0"/>
                </a:lnTo>
                <a:lnTo>
                  <a:pt x="254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5124240" y="3276360"/>
            <a:ext cx="914760" cy="352800"/>
          </a:xfrm>
          <a:custGeom>
            <a:avLst/>
            <a:gdLst/>
            <a:ahLst/>
            <a:rect l="0" t="0" r="r" b="b"/>
            <a:pathLst>
              <a:path w="2541" h="980">
                <a:moveTo>
                  <a:pt x="0" y="0"/>
                </a:moveTo>
                <a:lnTo>
                  <a:pt x="2541" y="0"/>
                </a:lnTo>
                <a:lnTo>
                  <a:pt x="254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6038640" y="3276360"/>
            <a:ext cx="2257920" cy="352800"/>
          </a:xfrm>
          <a:custGeom>
            <a:avLst/>
            <a:gdLst/>
            <a:ahLst/>
            <a:rect l="0" t="0" r="r" b="b"/>
            <a:pathLst>
              <a:path w="6272" h="980">
                <a:moveTo>
                  <a:pt x="0" y="0"/>
                </a:moveTo>
                <a:lnTo>
                  <a:pt x="6272" y="0"/>
                </a:lnTo>
                <a:lnTo>
                  <a:pt x="6272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>
            <a:off x="752400" y="3628800"/>
            <a:ext cx="343080" cy="352800"/>
          </a:xfrm>
          <a:custGeom>
            <a:avLst/>
            <a:gdLst/>
            <a:ahLst/>
            <a:rect l="0" t="0" r="r" b="b"/>
            <a:pathLst>
              <a:path w="953" h="980">
                <a:moveTo>
                  <a:pt x="0" y="0"/>
                </a:moveTo>
                <a:lnTo>
                  <a:pt x="953" y="0"/>
                </a:lnTo>
                <a:lnTo>
                  <a:pt x="95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1095120" y="3628800"/>
            <a:ext cx="657720" cy="352800"/>
          </a:xfrm>
          <a:custGeom>
            <a:avLst/>
            <a:gdLst/>
            <a:ahLst/>
            <a:rect l="0" t="0" r="r" b="b"/>
            <a:pathLst>
              <a:path w="1827" h="980">
                <a:moveTo>
                  <a:pt x="0" y="0"/>
                </a:moveTo>
                <a:lnTo>
                  <a:pt x="1827" y="0"/>
                </a:lnTo>
                <a:lnTo>
                  <a:pt x="18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1752480" y="3628800"/>
            <a:ext cx="848160" cy="352800"/>
          </a:xfrm>
          <a:custGeom>
            <a:avLst/>
            <a:gdLst/>
            <a:ahLst/>
            <a:rect l="0" t="0" r="r" b="b"/>
            <a:pathLst>
              <a:path w="2356" h="980">
                <a:moveTo>
                  <a:pt x="0" y="0"/>
                </a:moveTo>
                <a:lnTo>
                  <a:pt x="2356" y="0"/>
                </a:lnTo>
                <a:lnTo>
                  <a:pt x="2356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2600280" y="3628800"/>
            <a:ext cx="771840" cy="352800"/>
          </a:xfrm>
          <a:custGeom>
            <a:avLst/>
            <a:gdLst/>
            <a:ahLst/>
            <a:rect l="0" t="0" r="r" b="b"/>
            <a:pathLst>
              <a:path w="2144" h="980">
                <a:moveTo>
                  <a:pt x="0" y="0"/>
                </a:moveTo>
                <a:lnTo>
                  <a:pt x="2144" y="0"/>
                </a:lnTo>
                <a:lnTo>
                  <a:pt x="214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3371760" y="3628800"/>
            <a:ext cx="838440" cy="352800"/>
          </a:xfrm>
          <a:custGeom>
            <a:avLst/>
            <a:gdLst/>
            <a:ahLst/>
            <a:rect l="0" t="0" r="r" b="b"/>
            <a:pathLst>
              <a:path w="2329" h="980">
                <a:moveTo>
                  <a:pt x="0" y="0"/>
                </a:moveTo>
                <a:lnTo>
                  <a:pt x="2329" y="0"/>
                </a:lnTo>
                <a:lnTo>
                  <a:pt x="232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4209840" y="3628800"/>
            <a:ext cx="914760" cy="352800"/>
          </a:xfrm>
          <a:custGeom>
            <a:avLst/>
            <a:gdLst/>
            <a:ahLst/>
            <a:rect l="0" t="0" r="r" b="b"/>
            <a:pathLst>
              <a:path w="2541" h="980">
                <a:moveTo>
                  <a:pt x="0" y="0"/>
                </a:moveTo>
                <a:lnTo>
                  <a:pt x="2541" y="0"/>
                </a:lnTo>
                <a:lnTo>
                  <a:pt x="254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5124240" y="3628800"/>
            <a:ext cx="914760" cy="352800"/>
          </a:xfrm>
          <a:custGeom>
            <a:avLst/>
            <a:gdLst/>
            <a:ahLst/>
            <a:rect l="0" t="0" r="r" b="b"/>
            <a:pathLst>
              <a:path w="2541" h="980">
                <a:moveTo>
                  <a:pt x="0" y="0"/>
                </a:moveTo>
                <a:lnTo>
                  <a:pt x="2541" y="0"/>
                </a:lnTo>
                <a:lnTo>
                  <a:pt x="254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6038640" y="3628800"/>
            <a:ext cx="2257920" cy="352800"/>
          </a:xfrm>
          <a:custGeom>
            <a:avLst/>
            <a:gdLst/>
            <a:ahLst/>
            <a:rect l="0" t="0" r="r" b="b"/>
            <a:pathLst>
              <a:path w="6272" h="980">
                <a:moveTo>
                  <a:pt x="0" y="0"/>
                </a:moveTo>
                <a:lnTo>
                  <a:pt x="6272" y="0"/>
                </a:lnTo>
                <a:lnTo>
                  <a:pt x="6272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752400" y="3981240"/>
            <a:ext cx="343080" cy="352800"/>
          </a:xfrm>
          <a:custGeom>
            <a:avLst/>
            <a:gdLst/>
            <a:ahLst/>
            <a:rect l="0" t="0" r="r" b="b"/>
            <a:pathLst>
              <a:path w="953" h="980">
                <a:moveTo>
                  <a:pt x="0" y="0"/>
                </a:moveTo>
                <a:lnTo>
                  <a:pt x="953" y="0"/>
                </a:lnTo>
                <a:lnTo>
                  <a:pt x="95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1095120" y="3981240"/>
            <a:ext cx="657720" cy="352800"/>
          </a:xfrm>
          <a:custGeom>
            <a:avLst/>
            <a:gdLst/>
            <a:ahLst/>
            <a:rect l="0" t="0" r="r" b="b"/>
            <a:pathLst>
              <a:path w="1827" h="980">
                <a:moveTo>
                  <a:pt x="0" y="0"/>
                </a:moveTo>
                <a:lnTo>
                  <a:pt x="1827" y="0"/>
                </a:lnTo>
                <a:lnTo>
                  <a:pt x="18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1752480" y="3981240"/>
            <a:ext cx="848160" cy="352800"/>
          </a:xfrm>
          <a:custGeom>
            <a:avLst/>
            <a:gdLst/>
            <a:ahLst/>
            <a:rect l="0" t="0" r="r" b="b"/>
            <a:pathLst>
              <a:path w="2356" h="980">
                <a:moveTo>
                  <a:pt x="0" y="0"/>
                </a:moveTo>
                <a:lnTo>
                  <a:pt x="2356" y="0"/>
                </a:lnTo>
                <a:lnTo>
                  <a:pt x="2356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2600280" y="3981240"/>
            <a:ext cx="771840" cy="352800"/>
          </a:xfrm>
          <a:custGeom>
            <a:avLst/>
            <a:gdLst/>
            <a:ahLst/>
            <a:rect l="0" t="0" r="r" b="b"/>
            <a:pathLst>
              <a:path w="2144" h="980">
                <a:moveTo>
                  <a:pt x="0" y="0"/>
                </a:moveTo>
                <a:lnTo>
                  <a:pt x="2144" y="0"/>
                </a:lnTo>
                <a:lnTo>
                  <a:pt x="214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3371760" y="3981240"/>
            <a:ext cx="838440" cy="352800"/>
          </a:xfrm>
          <a:custGeom>
            <a:avLst/>
            <a:gdLst/>
            <a:ahLst/>
            <a:rect l="0" t="0" r="r" b="b"/>
            <a:pathLst>
              <a:path w="2329" h="980">
                <a:moveTo>
                  <a:pt x="0" y="0"/>
                </a:moveTo>
                <a:lnTo>
                  <a:pt x="2329" y="0"/>
                </a:lnTo>
                <a:lnTo>
                  <a:pt x="232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4209840" y="3981240"/>
            <a:ext cx="914760" cy="352800"/>
          </a:xfrm>
          <a:custGeom>
            <a:avLst/>
            <a:gdLst/>
            <a:ahLst/>
            <a:rect l="0" t="0" r="r" b="b"/>
            <a:pathLst>
              <a:path w="2541" h="980">
                <a:moveTo>
                  <a:pt x="0" y="0"/>
                </a:moveTo>
                <a:lnTo>
                  <a:pt x="2541" y="0"/>
                </a:lnTo>
                <a:lnTo>
                  <a:pt x="254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5124240" y="3981240"/>
            <a:ext cx="914760" cy="352800"/>
          </a:xfrm>
          <a:custGeom>
            <a:avLst/>
            <a:gdLst/>
            <a:ahLst/>
            <a:rect l="0" t="0" r="r" b="b"/>
            <a:pathLst>
              <a:path w="2541" h="980">
                <a:moveTo>
                  <a:pt x="0" y="0"/>
                </a:moveTo>
                <a:lnTo>
                  <a:pt x="2541" y="0"/>
                </a:lnTo>
                <a:lnTo>
                  <a:pt x="254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6038640" y="3981240"/>
            <a:ext cx="2257920" cy="352800"/>
          </a:xfrm>
          <a:custGeom>
            <a:avLst/>
            <a:gdLst/>
            <a:ahLst/>
            <a:rect l="0" t="0" r="r" b="b"/>
            <a:pathLst>
              <a:path w="6272" h="980">
                <a:moveTo>
                  <a:pt x="0" y="0"/>
                </a:moveTo>
                <a:lnTo>
                  <a:pt x="6272" y="0"/>
                </a:lnTo>
                <a:lnTo>
                  <a:pt x="6272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752400" y="4333680"/>
            <a:ext cx="343080" cy="352800"/>
          </a:xfrm>
          <a:custGeom>
            <a:avLst/>
            <a:gdLst/>
            <a:ahLst/>
            <a:rect l="0" t="0" r="r" b="b"/>
            <a:pathLst>
              <a:path w="953" h="980">
                <a:moveTo>
                  <a:pt x="0" y="0"/>
                </a:moveTo>
                <a:lnTo>
                  <a:pt x="953" y="0"/>
                </a:lnTo>
                <a:lnTo>
                  <a:pt x="95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1095120" y="4333680"/>
            <a:ext cx="657720" cy="352800"/>
          </a:xfrm>
          <a:custGeom>
            <a:avLst/>
            <a:gdLst/>
            <a:ahLst/>
            <a:rect l="0" t="0" r="r" b="b"/>
            <a:pathLst>
              <a:path w="1827" h="980">
                <a:moveTo>
                  <a:pt x="0" y="0"/>
                </a:moveTo>
                <a:lnTo>
                  <a:pt x="1827" y="0"/>
                </a:lnTo>
                <a:lnTo>
                  <a:pt x="18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1752480" y="4333680"/>
            <a:ext cx="848160" cy="352800"/>
          </a:xfrm>
          <a:custGeom>
            <a:avLst/>
            <a:gdLst/>
            <a:ahLst/>
            <a:rect l="0" t="0" r="r" b="b"/>
            <a:pathLst>
              <a:path w="2356" h="980">
                <a:moveTo>
                  <a:pt x="0" y="0"/>
                </a:moveTo>
                <a:lnTo>
                  <a:pt x="2356" y="0"/>
                </a:lnTo>
                <a:lnTo>
                  <a:pt x="2356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2600280" y="4333680"/>
            <a:ext cx="771840" cy="352800"/>
          </a:xfrm>
          <a:custGeom>
            <a:avLst/>
            <a:gdLst/>
            <a:ahLst/>
            <a:rect l="0" t="0" r="r" b="b"/>
            <a:pathLst>
              <a:path w="2144" h="980">
                <a:moveTo>
                  <a:pt x="0" y="0"/>
                </a:moveTo>
                <a:lnTo>
                  <a:pt x="2144" y="0"/>
                </a:lnTo>
                <a:lnTo>
                  <a:pt x="214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3371760" y="4333680"/>
            <a:ext cx="838440" cy="352800"/>
          </a:xfrm>
          <a:custGeom>
            <a:avLst/>
            <a:gdLst/>
            <a:ahLst/>
            <a:rect l="0" t="0" r="r" b="b"/>
            <a:pathLst>
              <a:path w="2329" h="980">
                <a:moveTo>
                  <a:pt x="0" y="0"/>
                </a:moveTo>
                <a:lnTo>
                  <a:pt x="2329" y="0"/>
                </a:lnTo>
                <a:lnTo>
                  <a:pt x="232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4209840" y="4333680"/>
            <a:ext cx="914760" cy="352800"/>
          </a:xfrm>
          <a:custGeom>
            <a:avLst/>
            <a:gdLst/>
            <a:ahLst/>
            <a:rect l="0" t="0" r="r" b="b"/>
            <a:pathLst>
              <a:path w="2541" h="980">
                <a:moveTo>
                  <a:pt x="0" y="0"/>
                </a:moveTo>
                <a:lnTo>
                  <a:pt x="2541" y="0"/>
                </a:lnTo>
                <a:lnTo>
                  <a:pt x="254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5124240" y="4333680"/>
            <a:ext cx="914760" cy="352800"/>
          </a:xfrm>
          <a:custGeom>
            <a:avLst/>
            <a:gdLst/>
            <a:ahLst/>
            <a:rect l="0" t="0" r="r" b="b"/>
            <a:pathLst>
              <a:path w="2541" h="980">
                <a:moveTo>
                  <a:pt x="0" y="0"/>
                </a:moveTo>
                <a:lnTo>
                  <a:pt x="2541" y="0"/>
                </a:lnTo>
                <a:lnTo>
                  <a:pt x="254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6038640" y="4333680"/>
            <a:ext cx="2257920" cy="352800"/>
          </a:xfrm>
          <a:custGeom>
            <a:avLst/>
            <a:gdLst/>
            <a:ahLst/>
            <a:rect l="0" t="0" r="r" b="b"/>
            <a:pathLst>
              <a:path w="6272" h="980">
                <a:moveTo>
                  <a:pt x="0" y="0"/>
                </a:moveTo>
                <a:lnTo>
                  <a:pt x="6272" y="0"/>
                </a:lnTo>
                <a:lnTo>
                  <a:pt x="6272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752400" y="4686120"/>
            <a:ext cx="343080" cy="343080"/>
          </a:xfrm>
          <a:custGeom>
            <a:avLst/>
            <a:gdLst/>
            <a:ahLst/>
            <a:rect l="0" t="0" r="r" b="b"/>
            <a:pathLst>
              <a:path w="953" h="953">
                <a:moveTo>
                  <a:pt x="0" y="0"/>
                </a:moveTo>
                <a:lnTo>
                  <a:pt x="953" y="0"/>
                </a:lnTo>
                <a:lnTo>
                  <a:pt x="953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1095120" y="4686120"/>
            <a:ext cx="657720" cy="343080"/>
          </a:xfrm>
          <a:custGeom>
            <a:avLst/>
            <a:gdLst/>
            <a:ahLst/>
            <a:rect l="0" t="0" r="r" b="b"/>
            <a:pathLst>
              <a:path w="1827" h="953">
                <a:moveTo>
                  <a:pt x="0" y="0"/>
                </a:moveTo>
                <a:lnTo>
                  <a:pt x="1827" y="0"/>
                </a:lnTo>
                <a:lnTo>
                  <a:pt x="182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1752480" y="4686120"/>
            <a:ext cx="848160" cy="343080"/>
          </a:xfrm>
          <a:custGeom>
            <a:avLst/>
            <a:gdLst/>
            <a:ahLst/>
            <a:rect l="0" t="0" r="r" b="b"/>
            <a:pathLst>
              <a:path w="2356" h="953">
                <a:moveTo>
                  <a:pt x="0" y="0"/>
                </a:moveTo>
                <a:lnTo>
                  <a:pt x="2356" y="0"/>
                </a:lnTo>
                <a:lnTo>
                  <a:pt x="2356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2600280" y="4686120"/>
            <a:ext cx="771840" cy="343080"/>
          </a:xfrm>
          <a:custGeom>
            <a:avLst/>
            <a:gdLst/>
            <a:ahLst/>
            <a:rect l="0" t="0" r="r" b="b"/>
            <a:pathLst>
              <a:path w="2144" h="953">
                <a:moveTo>
                  <a:pt x="0" y="0"/>
                </a:moveTo>
                <a:lnTo>
                  <a:pt x="2144" y="0"/>
                </a:lnTo>
                <a:lnTo>
                  <a:pt x="2144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3371760" y="4686120"/>
            <a:ext cx="838440" cy="343080"/>
          </a:xfrm>
          <a:custGeom>
            <a:avLst/>
            <a:gdLst/>
            <a:ahLst/>
            <a:rect l="0" t="0" r="r" b="b"/>
            <a:pathLst>
              <a:path w="2329" h="953">
                <a:moveTo>
                  <a:pt x="0" y="0"/>
                </a:moveTo>
                <a:lnTo>
                  <a:pt x="2329" y="0"/>
                </a:lnTo>
                <a:lnTo>
                  <a:pt x="2329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4209840" y="4686120"/>
            <a:ext cx="914760" cy="343080"/>
          </a:xfrm>
          <a:custGeom>
            <a:avLst/>
            <a:gdLst/>
            <a:ahLst/>
            <a:rect l="0" t="0" r="r" b="b"/>
            <a:pathLst>
              <a:path w="2541" h="953">
                <a:moveTo>
                  <a:pt x="0" y="0"/>
                </a:moveTo>
                <a:lnTo>
                  <a:pt x="2541" y="0"/>
                </a:lnTo>
                <a:lnTo>
                  <a:pt x="2541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5124240" y="4686120"/>
            <a:ext cx="914760" cy="343080"/>
          </a:xfrm>
          <a:custGeom>
            <a:avLst/>
            <a:gdLst/>
            <a:ahLst/>
            <a:rect l="0" t="0" r="r" b="b"/>
            <a:pathLst>
              <a:path w="2541" h="953">
                <a:moveTo>
                  <a:pt x="0" y="0"/>
                </a:moveTo>
                <a:lnTo>
                  <a:pt x="2541" y="0"/>
                </a:lnTo>
                <a:lnTo>
                  <a:pt x="2541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6038640" y="4686120"/>
            <a:ext cx="2257920" cy="343080"/>
          </a:xfrm>
          <a:custGeom>
            <a:avLst/>
            <a:gdLst/>
            <a:ahLst/>
            <a:rect l="0" t="0" r="r" b="b"/>
            <a:pathLst>
              <a:path w="6272" h="953">
                <a:moveTo>
                  <a:pt x="0" y="0"/>
                </a:moveTo>
                <a:lnTo>
                  <a:pt x="6272" y="0"/>
                </a:lnTo>
                <a:lnTo>
                  <a:pt x="6272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752400" y="1885680"/>
            <a:ext cx="9720" cy="343440"/>
          </a:xfrm>
          <a:custGeom>
            <a:avLst/>
            <a:gdLst/>
            <a:ahLst/>
            <a:rect l="0" t="0" r="r" b="b"/>
            <a:pathLst>
              <a:path w="27" h="954">
                <a:moveTo>
                  <a:pt x="0" y="0"/>
                </a:moveTo>
                <a:lnTo>
                  <a:pt x="27" y="0"/>
                </a:lnTo>
                <a:lnTo>
                  <a:pt x="27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752400" y="1885680"/>
            <a:ext cx="343080" cy="10440"/>
          </a:xfrm>
          <a:custGeom>
            <a:avLst/>
            <a:gdLst/>
            <a:ahLst/>
            <a:rect l="0" t="0" r="r" b="b"/>
            <a:pathLst>
              <a:path w="953" h="29">
                <a:moveTo>
                  <a:pt x="0" y="0"/>
                </a:moveTo>
                <a:lnTo>
                  <a:pt x="953" y="0"/>
                </a:lnTo>
                <a:lnTo>
                  <a:pt x="95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1085760" y="1885680"/>
            <a:ext cx="9720" cy="343440"/>
          </a:xfrm>
          <a:custGeom>
            <a:avLst/>
            <a:gdLst/>
            <a:ahLst/>
            <a:rect l="0" t="0" r="r" b="b"/>
            <a:pathLst>
              <a:path w="27" h="954">
                <a:moveTo>
                  <a:pt x="0" y="0"/>
                </a:moveTo>
                <a:lnTo>
                  <a:pt x="27" y="0"/>
                </a:lnTo>
                <a:lnTo>
                  <a:pt x="27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1095120" y="1885680"/>
            <a:ext cx="667080" cy="10440"/>
          </a:xfrm>
          <a:custGeom>
            <a:avLst/>
            <a:gdLst/>
            <a:ahLst/>
            <a:rect l="0" t="0" r="r" b="b"/>
            <a:pathLst>
              <a:path w="1853" h="29">
                <a:moveTo>
                  <a:pt x="0" y="0"/>
                </a:moveTo>
                <a:lnTo>
                  <a:pt x="1853" y="0"/>
                </a:lnTo>
                <a:lnTo>
                  <a:pt x="185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1752480" y="1885680"/>
            <a:ext cx="9720" cy="343440"/>
          </a:xfrm>
          <a:custGeom>
            <a:avLst/>
            <a:gdLst/>
            <a:ahLst/>
            <a:rect l="0" t="0" r="r" b="b"/>
            <a:pathLst>
              <a:path w="27" h="954">
                <a:moveTo>
                  <a:pt x="0" y="0"/>
                </a:moveTo>
                <a:lnTo>
                  <a:pt x="27" y="0"/>
                </a:lnTo>
                <a:lnTo>
                  <a:pt x="27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1761840" y="1885680"/>
            <a:ext cx="838800" cy="10440"/>
          </a:xfrm>
          <a:custGeom>
            <a:avLst/>
            <a:gdLst/>
            <a:ahLst/>
            <a:rect l="0" t="0" r="r" b="b"/>
            <a:pathLst>
              <a:path w="2330" h="29">
                <a:moveTo>
                  <a:pt x="0" y="0"/>
                </a:moveTo>
                <a:lnTo>
                  <a:pt x="2330" y="0"/>
                </a:lnTo>
                <a:lnTo>
                  <a:pt x="233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2590560" y="1885680"/>
            <a:ext cx="10080" cy="343440"/>
          </a:xfrm>
          <a:custGeom>
            <a:avLst/>
            <a:gdLst/>
            <a:ahLst/>
            <a:rect l="0" t="0" r="r" b="b"/>
            <a:pathLst>
              <a:path w="28" h="954">
                <a:moveTo>
                  <a:pt x="0" y="0"/>
                </a:moveTo>
                <a:lnTo>
                  <a:pt x="28" y="0"/>
                </a:lnTo>
                <a:lnTo>
                  <a:pt x="28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2600280" y="1885680"/>
            <a:ext cx="771840" cy="10440"/>
          </a:xfrm>
          <a:custGeom>
            <a:avLst/>
            <a:gdLst/>
            <a:ahLst/>
            <a:rect l="0" t="0" r="r" b="b"/>
            <a:pathLst>
              <a:path w="2144" h="29">
                <a:moveTo>
                  <a:pt x="0" y="0"/>
                </a:moveTo>
                <a:lnTo>
                  <a:pt x="2144" y="0"/>
                </a:lnTo>
                <a:lnTo>
                  <a:pt x="214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3362040" y="1885680"/>
            <a:ext cx="10080" cy="343440"/>
          </a:xfrm>
          <a:custGeom>
            <a:avLst/>
            <a:gdLst/>
            <a:ahLst/>
            <a:rect l="0" t="0" r="r" b="b"/>
            <a:pathLst>
              <a:path w="28" h="954">
                <a:moveTo>
                  <a:pt x="0" y="0"/>
                </a:moveTo>
                <a:lnTo>
                  <a:pt x="28" y="0"/>
                </a:lnTo>
                <a:lnTo>
                  <a:pt x="28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3371760" y="1885680"/>
            <a:ext cx="838440" cy="10440"/>
          </a:xfrm>
          <a:custGeom>
            <a:avLst/>
            <a:gdLst/>
            <a:ahLst/>
            <a:rect l="0" t="0" r="r" b="b"/>
            <a:pathLst>
              <a:path w="2329" h="29">
                <a:moveTo>
                  <a:pt x="0" y="0"/>
                </a:moveTo>
                <a:lnTo>
                  <a:pt x="2329" y="0"/>
                </a:lnTo>
                <a:lnTo>
                  <a:pt x="232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4200480" y="1885680"/>
            <a:ext cx="9720" cy="343440"/>
          </a:xfrm>
          <a:custGeom>
            <a:avLst/>
            <a:gdLst/>
            <a:ahLst/>
            <a:rect l="0" t="0" r="r" b="b"/>
            <a:pathLst>
              <a:path w="27" h="954">
                <a:moveTo>
                  <a:pt x="0" y="0"/>
                </a:moveTo>
                <a:lnTo>
                  <a:pt x="27" y="0"/>
                </a:lnTo>
                <a:lnTo>
                  <a:pt x="27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4209840" y="1885680"/>
            <a:ext cx="924480" cy="10440"/>
          </a:xfrm>
          <a:custGeom>
            <a:avLst/>
            <a:gdLst/>
            <a:ahLst/>
            <a:rect l="0" t="0" r="r" b="b"/>
            <a:pathLst>
              <a:path w="2568" h="29">
                <a:moveTo>
                  <a:pt x="0" y="0"/>
                </a:moveTo>
                <a:lnTo>
                  <a:pt x="2568" y="0"/>
                </a:lnTo>
                <a:lnTo>
                  <a:pt x="2568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5124240" y="1885680"/>
            <a:ext cx="10440" cy="343440"/>
          </a:xfrm>
          <a:custGeom>
            <a:avLst/>
            <a:gdLst/>
            <a:ahLst/>
            <a:rect l="0" t="0" r="r" b="b"/>
            <a:pathLst>
              <a:path w="29" h="954">
                <a:moveTo>
                  <a:pt x="0" y="0"/>
                </a:moveTo>
                <a:lnTo>
                  <a:pt x="29" y="0"/>
                </a:lnTo>
                <a:lnTo>
                  <a:pt x="29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2" name=""/>
          <p:cNvSpPr/>
          <p:nvPr/>
        </p:nvSpPr>
        <p:spPr>
          <a:xfrm>
            <a:off x="5133960" y="1885680"/>
            <a:ext cx="914760" cy="10440"/>
          </a:xfrm>
          <a:custGeom>
            <a:avLst/>
            <a:gdLst/>
            <a:ahLst/>
            <a:rect l="0" t="0" r="r" b="b"/>
            <a:pathLst>
              <a:path w="2541" h="29">
                <a:moveTo>
                  <a:pt x="0" y="0"/>
                </a:moveTo>
                <a:lnTo>
                  <a:pt x="2541" y="0"/>
                </a:lnTo>
                <a:lnTo>
                  <a:pt x="2541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6038640" y="1885680"/>
            <a:ext cx="10080" cy="343440"/>
          </a:xfrm>
          <a:custGeom>
            <a:avLst/>
            <a:gdLst/>
            <a:ahLst/>
            <a:rect l="0" t="0" r="r" b="b"/>
            <a:pathLst>
              <a:path w="28" h="954">
                <a:moveTo>
                  <a:pt x="0" y="0"/>
                </a:moveTo>
                <a:lnTo>
                  <a:pt x="28" y="0"/>
                </a:lnTo>
                <a:lnTo>
                  <a:pt x="28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6048360" y="1885680"/>
            <a:ext cx="2257560" cy="10440"/>
          </a:xfrm>
          <a:custGeom>
            <a:avLst/>
            <a:gdLst/>
            <a:ahLst/>
            <a:rect l="0" t="0" r="r" b="b"/>
            <a:pathLst>
              <a:path w="6271" h="29">
                <a:moveTo>
                  <a:pt x="0" y="0"/>
                </a:moveTo>
                <a:lnTo>
                  <a:pt x="6271" y="0"/>
                </a:lnTo>
                <a:lnTo>
                  <a:pt x="6271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8296200" y="1885680"/>
            <a:ext cx="9720" cy="343440"/>
          </a:xfrm>
          <a:custGeom>
            <a:avLst/>
            <a:gdLst/>
            <a:ahLst/>
            <a:rect l="0" t="0" r="r" b="b"/>
            <a:pathLst>
              <a:path w="27" h="954">
                <a:moveTo>
                  <a:pt x="0" y="0"/>
                </a:moveTo>
                <a:lnTo>
                  <a:pt x="27" y="0"/>
                </a:lnTo>
                <a:lnTo>
                  <a:pt x="27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752400" y="2219040"/>
            <a:ext cx="343080" cy="10080"/>
          </a:xfrm>
          <a:custGeom>
            <a:avLst/>
            <a:gdLst/>
            <a:ahLst/>
            <a:rect l="0" t="0" r="r" b="b"/>
            <a:pathLst>
              <a:path w="953" h="28">
                <a:moveTo>
                  <a:pt x="0" y="0"/>
                </a:moveTo>
                <a:lnTo>
                  <a:pt x="953" y="0"/>
                </a:lnTo>
                <a:lnTo>
                  <a:pt x="9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1095120" y="221904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1761840" y="2219040"/>
            <a:ext cx="838800" cy="10080"/>
          </a:xfrm>
          <a:custGeom>
            <a:avLst/>
            <a:gdLst/>
            <a:ahLst/>
            <a:rect l="0" t="0" r="r" b="b"/>
            <a:pathLst>
              <a:path w="2330" h="28">
                <a:moveTo>
                  <a:pt x="0" y="0"/>
                </a:moveTo>
                <a:lnTo>
                  <a:pt x="2330" y="0"/>
                </a:lnTo>
                <a:lnTo>
                  <a:pt x="23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2600280" y="221904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3371760" y="221904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4209840" y="2219040"/>
            <a:ext cx="924480" cy="10080"/>
          </a:xfrm>
          <a:custGeom>
            <a:avLst/>
            <a:gdLst/>
            <a:ahLst/>
            <a:rect l="0" t="0" r="r" b="b"/>
            <a:pathLst>
              <a:path w="2568" h="28">
                <a:moveTo>
                  <a:pt x="0" y="0"/>
                </a:moveTo>
                <a:lnTo>
                  <a:pt x="2568" y="0"/>
                </a:lnTo>
                <a:lnTo>
                  <a:pt x="2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5133960" y="221904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6048360" y="2219040"/>
            <a:ext cx="2257560" cy="10080"/>
          </a:xfrm>
          <a:custGeom>
            <a:avLst/>
            <a:gdLst/>
            <a:ahLst/>
            <a:rect l="0" t="0" r="r" b="b"/>
            <a:pathLst>
              <a:path w="6271" h="28">
                <a:moveTo>
                  <a:pt x="0" y="0"/>
                </a:moveTo>
                <a:lnTo>
                  <a:pt x="6271" y="0"/>
                </a:lnTo>
                <a:lnTo>
                  <a:pt x="62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752400" y="22287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1085760" y="22287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1752480" y="22287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2590560" y="222876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3362040" y="222876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4200480" y="22287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5124240" y="2228760"/>
            <a:ext cx="10440" cy="352800"/>
          </a:xfrm>
          <a:custGeom>
            <a:avLst/>
            <a:gdLst/>
            <a:ahLst/>
            <a:rect l="0" t="0" r="r" b="b"/>
            <a:pathLst>
              <a:path w="29" h="980">
                <a:moveTo>
                  <a:pt x="0" y="0"/>
                </a:moveTo>
                <a:lnTo>
                  <a:pt x="29" y="0"/>
                </a:lnTo>
                <a:lnTo>
                  <a:pt x="2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1" name=""/>
          <p:cNvSpPr/>
          <p:nvPr/>
        </p:nvSpPr>
        <p:spPr>
          <a:xfrm>
            <a:off x="6038640" y="222876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2" name=""/>
          <p:cNvSpPr/>
          <p:nvPr/>
        </p:nvSpPr>
        <p:spPr>
          <a:xfrm>
            <a:off x="8296200" y="22287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752400" y="25812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752400" y="2571480"/>
            <a:ext cx="343080" cy="10080"/>
          </a:xfrm>
          <a:custGeom>
            <a:avLst/>
            <a:gdLst/>
            <a:ahLst/>
            <a:rect l="0" t="0" r="r" b="b"/>
            <a:pathLst>
              <a:path w="953" h="28">
                <a:moveTo>
                  <a:pt x="0" y="0"/>
                </a:moveTo>
                <a:lnTo>
                  <a:pt x="953" y="0"/>
                </a:lnTo>
                <a:lnTo>
                  <a:pt x="9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1085760" y="25812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1095120" y="257148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1752480" y="25812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1761840" y="2571480"/>
            <a:ext cx="838800" cy="10080"/>
          </a:xfrm>
          <a:custGeom>
            <a:avLst/>
            <a:gdLst/>
            <a:ahLst/>
            <a:rect l="0" t="0" r="r" b="b"/>
            <a:pathLst>
              <a:path w="2330" h="28">
                <a:moveTo>
                  <a:pt x="0" y="0"/>
                </a:moveTo>
                <a:lnTo>
                  <a:pt x="2330" y="0"/>
                </a:lnTo>
                <a:lnTo>
                  <a:pt x="23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2590560" y="258120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2600280" y="257148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>
            <a:off x="3362040" y="258120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3371760" y="257148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4200480" y="25812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4209840" y="2571480"/>
            <a:ext cx="924480" cy="10080"/>
          </a:xfrm>
          <a:custGeom>
            <a:avLst/>
            <a:gdLst/>
            <a:ahLst/>
            <a:rect l="0" t="0" r="r" b="b"/>
            <a:pathLst>
              <a:path w="2568" h="28">
                <a:moveTo>
                  <a:pt x="0" y="0"/>
                </a:moveTo>
                <a:lnTo>
                  <a:pt x="2568" y="0"/>
                </a:lnTo>
                <a:lnTo>
                  <a:pt x="2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5124240" y="2581200"/>
            <a:ext cx="10440" cy="352800"/>
          </a:xfrm>
          <a:custGeom>
            <a:avLst/>
            <a:gdLst/>
            <a:ahLst/>
            <a:rect l="0" t="0" r="r" b="b"/>
            <a:pathLst>
              <a:path w="29" h="980">
                <a:moveTo>
                  <a:pt x="0" y="0"/>
                </a:moveTo>
                <a:lnTo>
                  <a:pt x="29" y="0"/>
                </a:lnTo>
                <a:lnTo>
                  <a:pt x="2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6" name=""/>
          <p:cNvSpPr/>
          <p:nvPr/>
        </p:nvSpPr>
        <p:spPr>
          <a:xfrm>
            <a:off x="5133960" y="257148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6038640" y="258120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6048360" y="2571480"/>
            <a:ext cx="2257560" cy="10080"/>
          </a:xfrm>
          <a:custGeom>
            <a:avLst/>
            <a:gdLst/>
            <a:ahLst/>
            <a:rect l="0" t="0" r="r" b="b"/>
            <a:pathLst>
              <a:path w="6271" h="28">
                <a:moveTo>
                  <a:pt x="0" y="0"/>
                </a:moveTo>
                <a:lnTo>
                  <a:pt x="6271" y="0"/>
                </a:lnTo>
                <a:lnTo>
                  <a:pt x="62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9" name=""/>
          <p:cNvSpPr/>
          <p:nvPr/>
        </p:nvSpPr>
        <p:spPr>
          <a:xfrm>
            <a:off x="8296200" y="25812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752400" y="29336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752400" y="2923920"/>
            <a:ext cx="343080" cy="10080"/>
          </a:xfrm>
          <a:custGeom>
            <a:avLst/>
            <a:gdLst/>
            <a:ahLst/>
            <a:rect l="0" t="0" r="r" b="b"/>
            <a:pathLst>
              <a:path w="953" h="28">
                <a:moveTo>
                  <a:pt x="0" y="0"/>
                </a:moveTo>
                <a:lnTo>
                  <a:pt x="953" y="0"/>
                </a:lnTo>
                <a:lnTo>
                  <a:pt x="9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1085760" y="29336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1095120" y="292392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1752480" y="29336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1761840" y="2923920"/>
            <a:ext cx="838800" cy="10080"/>
          </a:xfrm>
          <a:custGeom>
            <a:avLst/>
            <a:gdLst/>
            <a:ahLst/>
            <a:rect l="0" t="0" r="r" b="b"/>
            <a:pathLst>
              <a:path w="2330" h="28">
                <a:moveTo>
                  <a:pt x="0" y="0"/>
                </a:moveTo>
                <a:lnTo>
                  <a:pt x="2330" y="0"/>
                </a:lnTo>
                <a:lnTo>
                  <a:pt x="23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2590560" y="29336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2600280" y="292392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3362040" y="29336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3371760" y="292392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4200480" y="29336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4209840" y="2923920"/>
            <a:ext cx="924480" cy="10080"/>
          </a:xfrm>
          <a:custGeom>
            <a:avLst/>
            <a:gdLst/>
            <a:ahLst/>
            <a:rect l="0" t="0" r="r" b="b"/>
            <a:pathLst>
              <a:path w="2568" h="28">
                <a:moveTo>
                  <a:pt x="0" y="0"/>
                </a:moveTo>
                <a:lnTo>
                  <a:pt x="2568" y="0"/>
                </a:lnTo>
                <a:lnTo>
                  <a:pt x="2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5124240" y="2933640"/>
            <a:ext cx="10440" cy="352800"/>
          </a:xfrm>
          <a:custGeom>
            <a:avLst/>
            <a:gdLst/>
            <a:ahLst/>
            <a:rect l="0" t="0" r="r" b="b"/>
            <a:pathLst>
              <a:path w="29" h="980">
                <a:moveTo>
                  <a:pt x="0" y="0"/>
                </a:moveTo>
                <a:lnTo>
                  <a:pt x="29" y="0"/>
                </a:lnTo>
                <a:lnTo>
                  <a:pt x="2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5133960" y="292392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6038640" y="29336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6048360" y="2923920"/>
            <a:ext cx="2257560" cy="10080"/>
          </a:xfrm>
          <a:custGeom>
            <a:avLst/>
            <a:gdLst/>
            <a:ahLst/>
            <a:rect l="0" t="0" r="r" b="b"/>
            <a:pathLst>
              <a:path w="6271" h="28">
                <a:moveTo>
                  <a:pt x="0" y="0"/>
                </a:moveTo>
                <a:lnTo>
                  <a:pt x="6271" y="0"/>
                </a:lnTo>
                <a:lnTo>
                  <a:pt x="62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8296200" y="29336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752400" y="32860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752400" y="3276360"/>
            <a:ext cx="343080" cy="10080"/>
          </a:xfrm>
          <a:custGeom>
            <a:avLst/>
            <a:gdLst/>
            <a:ahLst/>
            <a:rect l="0" t="0" r="r" b="b"/>
            <a:pathLst>
              <a:path w="953" h="28">
                <a:moveTo>
                  <a:pt x="0" y="0"/>
                </a:moveTo>
                <a:lnTo>
                  <a:pt x="953" y="0"/>
                </a:lnTo>
                <a:lnTo>
                  <a:pt x="9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1085760" y="32860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1095120" y="327636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1752480" y="32860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1761840" y="3276360"/>
            <a:ext cx="838800" cy="10080"/>
          </a:xfrm>
          <a:custGeom>
            <a:avLst/>
            <a:gdLst/>
            <a:ahLst/>
            <a:rect l="0" t="0" r="r" b="b"/>
            <a:pathLst>
              <a:path w="2330" h="28">
                <a:moveTo>
                  <a:pt x="0" y="0"/>
                </a:moveTo>
                <a:lnTo>
                  <a:pt x="2330" y="0"/>
                </a:lnTo>
                <a:lnTo>
                  <a:pt x="23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2590560" y="32860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2600280" y="327636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5" name=""/>
          <p:cNvSpPr/>
          <p:nvPr/>
        </p:nvSpPr>
        <p:spPr>
          <a:xfrm>
            <a:off x="3362040" y="32860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3371760" y="327636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7" name=""/>
          <p:cNvSpPr/>
          <p:nvPr/>
        </p:nvSpPr>
        <p:spPr>
          <a:xfrm>
            <a:off x="4200480" y="32860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8" name=""/>
          <p:cNvSpPr/>
          <p:nvPr/>
        </p:nvSpPr>
        <p:spPr>
          <a:xfrm>
            <a:off x="4209840" y="3276360"/>
            <a:ext cx="924480" cy="10080"/>
          </a:xfrm>
          <a:custGeom>
            <a:avLst/>
            <a:gdLst/>
            <a:ahLst/>
            <a:rect l="0" t="0" r="r" b="b"/>
            <a:pathLst>
              <a:path w="2568" h="28">
                <a:moveTo>
                  <a:pt x="0" y="0"/>
                </a:moveTo>
                <a:lnTo>
                  <a:pt x="2568" y="0"/>
                </a:lnTo>
                <a:lnTo>
                  <a:pt x="2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9" name=""/>
          <p:cNvSpPr/>
          <p:nvPr/>
        </p:nvSpPr>
        <p:spPr>
          <a:xfrm>
            <a:off x="5124240" y="3286080"/>
            <a:ext cx="10440" cy="352800"/>
          </a:xfrm>
          <a:custGeom>
            <a:avLst/>
            <a:gdLst/>
            <a:ahLst/>
            <a:rect l="0" t="0" r="r" b="b"/>
            <a:pathLst>
              <a:path w="29" h="980">
                <a:moveTo>
                  <a:pt x="0" y="0"/>
                </a:moveTo>
                <a:lnTo>
                  <a:pt x="29" y="0"/>
                </a:lnTo>
                <a:lnTo>
                  <a:pt x="2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0" name=""/>
          <p:cNvSpPr/>
          <p:nvPr/>
        </p:nvSpPr>
        <p:spPr>
          <a:xfrm>
            <a:off x="5133960" y="327636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1" name=""/>
          <p:cNvSpPr/>
          <p:nvPr/>
        </p:nvSpPr>
        <p:spPr>
          <a:xfrm>
            <a:off x="6038640" y="32860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6048360" y="3276360"/>
            <a:ext cx="2257560" cy="10080"/>
          </a:xfrm>
          <a:custGeom>
            <a:avLst/>
            <a:gdLst/>
            <a:ahLst/>
            <a:rect l="0" t="0" r="r" b="b"/>
            <a:pathLst>
              <a:path w="6271" h="28">
                <a:moveTo>
                  <a:pt x="0" y="0"/>
                </a:moveTo>
                <a:lnTo>
                  <a:pt x="6271" y="0"/>
                </a:lnTo>
                <a:lnTo>
                  <a:pt x="62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8296200" y="32860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752400" y="3638520"/>
            <a:ext cx="9720" cy="343080"/>
          </a:xfrm>
          <a:custGeom>
            <a:avLst/>
            <a:gdLst/>
            <a:ahLst/>
            <a:rect l="0" t="0" r="r" b="b"/>
            <a:pathLst>
              <a:path w="27" h="953">
                <a:moveTo>
                  <a:pt x="0" y="0"/>
                </a:moveTo>
                <a:lnTo>
                  <a:pt x="27" y="0"/>
                </a:lnTo>
                <a:lnTo>
                  <a:pt x="2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5" name=""/>
          <p:cNvSpPr/>
          <p:nvPr/>
        </p:nvSpPr>
        <p:spPr>
          <a:xfrm>
            <a:off x="752400" y="3628800"/>
            <a:ext cx="343080" cy="10080"/>
          </a:xfrm>
          <a:custGeom>
            <a:avLst/>
            <a:gdLst/>
            <a:ahLst/>
            <a:rect l="0" t="0" r="r" b="b"/>
            <a:pathLst>
              <a:path w="953" h="28">
                <a:moveTo>
                  <a:pt x="0" y="0"/>
                </a:moveTo>
                <a:lnTo>
                  <a:pt x="953" y="0"/>
                </a:lnTo>
                <a:lnTo>
                  <a:pt x="9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6" name=""/>
          <p:cNvSpPr/>
          <p:nvPr/>
        </p:nvSpPr>
        <p:spPr>
          <a:xfrm>
            <a:off x="1085760" y="3638520"/>
            <a:ext cx="9720" cy="343080"/>
          </a:xfrm>
          <a:custGeom>
            <a:avLst/>
            <a:gdLst/>
            <a:ahLst/>
            <a:rect l="0" t="0" r="r" b="b"/>
            <a:pathLst>
              <a:path w="27" h="953">
                <a:moveTo>
                  <a:pt x="0" y="0"/>
                </a:moveTo>
                <a:lnTo>
                  <a:pt x="27" y="0"/>
                </a:lnTo>
                <a:lnTo>
                  <a:pt x="2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7" name=""/>
          <p:cNvSpPr/>
          <p:nvPr/>
        </p:nvSpPr>
        <p:spPr>
          <a:xfrm>
            <a:off x="1095120" y="362880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8" name=""/>
          <p:cNvSpPr/>
          <p:nvPr/>
        </p:nvSpPr>
        <p:spPr>
          <a:xfrm>
            <a:off x="1752480" y="3638520"/>
            <a:ext cx="9720" cy="343080"/>
          </a:xfrm>
          <a:custGeom>
            <a:avLst/>
            <a:gdLst/>
            <a:ahLst/>
            <a:rect l="0" t="0" r="r" b="b"/>
            <a:pathLst>
              <a:path w="27" h="953">
                <a:moveTo>
                  <a:pt x="0" y="0"/>
                </a:moveTo>
                <a:lnTo>
                  <a:pt x="27" y="0"/>
                </a:lnTo>
                <a:lnTo>
                  <a:pt x="2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1761840" y="3628800"/>
            <a:ext cx="838800" cy="10080"/>
          </a:xfrm>
          <a:custGeom>
            <a:avLst/>
            <a:gdLst/>
            <a:ahLst/>
            <a:rect l="0" t="0" r="r" b="b"/>
            <a:pathLst>
              <a:path w="2330" h="28">
                <a:moveTo>
                  <a:pt x="0" y="0"/>
                </a:moveTo>
                <a:lnTo>
                  <a:pt x="2330" y="0"/>
                </a:lnTo>
                <a:lnTo>
                  <a:pt x="23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0" name=""/>
          <p:cNvSpPr/>
          <p:nvPr/>
        </p:nvSpPr>
        <p:spPr>
          <a:xfrm>
            <a:off x="2590560" y="3638520"/>
            <a:ext cx="10080" cy="343080"/>
          </a:xfrm>
          <a:custGeom>
            <a:avLst/>
            <a:gdLst/>
            <a:ahLst/>
            <a:rect l="0" t="0" r="r" b="b"/>
            <a:pathLst>
              <a:path w="28" h="953">
                <a:moveTo>
                  <a:pt x="0" y="0"/>
                </a:moveTo>
                <a:lnTo>
                  <a:pt x="28" y="0"/>
                </a:lnTo>
                <a:lnTo>
                  <a:pt x="28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1" name=""/>
          <p:cNvSpPr/>
          <p:nvPr/>
        </p:nvSpPr>
        <p:spPr>
          <a:xfrm>
            <a:off x="2600280" y="362880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2" name=""/>
          <p:cNvSpPr/>
          <p:nvPr/>
        </p:nvSpPr>
        <p:spPr>
          <a:xfrm>
            <a:off x="3362040" y="3638520"/>
            <a:ext cx="10080" cy="343080"/>
          </a:xfrm>
          <a:custGeom>
            <a:avLst/>
            <a:gdLst/>
            <a:ahLst/>
            <a:rect l="0" t="0" r="r" b="b"/>
            <a:pathLst>
              <a:path w="28" h="953">
                <a:moveTo>
                  <a:pt x="0" y="0"/>
                </a:moveTo>
                <a:lnTo>
                  <a:pt x="28" y="0"/>
                </a:lnTo>
                <a:lnTo>
                  <a:pt x="28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3" name=""/>
          <p:cNvSpPr/>
          <p:nvPr/>
        </p:nvSpPr>
        <p:spPr>
          <a:xfrm>
            <a:off x="3371760" y="362880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4" name=""/>
          <p:cNvSpPr/>
          <p:nvPr/>
        </p:nvSpPr>
        <p:spPr>
          <a:xfrm>
            <a:off x="4200480" y="3638520"/>
            <a:ext cx="9720" cy="343080"/>
          </a:xfrm>
          <a:custGeom>
            <a:avLst/>
            <a:gdLst/>
            <a:ahLst/>
            <a:rect l="0" t="0" r="r" b="b"/>
            <a:pathLst>
              <a:path w="27" h="953">
                <a:moveTo>
                  <a:pt x="0" y="0"/>
                </a:moveTo>
                <a:lnTo>
                  <a:pt x="27" y="0"/>
                </a:lnTo>
                <a:lnTo>
                  <a:pt x="2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4209840" y="3628800"/>
            <a:ext cx="924480" cy="10080"/>
          </a:xfrm>
          <a:custGeom>
            <a:avLst/>
            <a:gdLst/>
            <a:ahLst/>
            <a:rect l="0" t="0" r="r" b="b"/>
            <a:pathLst>
              <a:path w="2568" h="28">
                <a:moveTo>
                  <a:pt x="0" y="0"/>
                </a:moveTo>
                <a:lnTo>
                  <a:pt x="2568" y="0"/>
                </a:lnTo>
                <a:lnTo>
                  <a:pt x="2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6" name=""/>
          <p:cNvSpPr/>
          <p:nvPr/>
        </p:nvSpPr>
        <p:spPr>
          <a:xfrm>
            <a:off x="5124240" y="3638520"/>
            <a:ext cx="10440" cy="343080"/>
          </a:xfrm>
          <a:custGeom>
            <a:avLst/>
            <a:gdLst/>
            <a:ahLst/>
            <a:rect l="0" t="0" r="r" b="b"/>
            <a:pathLst>
              <a:path w="29" h="953">
                <a:moveTo>
                  <a:pt x="0" y="0"/>
                </a:moveTo>
                <a:lnTo>
                  <a:pt x="29" y="0"/>
                </a:lnTo>
                <a:lnTo>
                  <a:pt x="29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>
            <a:off x="5133960" y="362880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8" name=""/>
          <p:cNvSpPr/>
          <p:nvPr/>
        </p:nvSpPr>
        <p:spPr>
          <a:xfrm>
            <a:off x="6038640" y="3638520"/>
            <a:ext cx="10080" cy="343080"/>
          </a:xfrm>
          <a:custGeom>
            <a:avLst/>
            <a:gdLst/>
            <a:ahLst/>
            <a:rect l="0" t="0" r="r" b="b"/>
            <a:pathLst>
              <a:path w="28" h="953">
                <a:moveTo>
                  <a:pt x="0" y="0"/>
                </a:moveTo>
                <a:lnTo>
                  <a:pt x="28" y="0"/>
                </a:lnTo>
                <a:lnTo>
                  <a:pt x="28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9" name=""/>
          <p:cNvSpPr/>
          <p:nvPr/>
        </p:nvSpPr>
        <p:spPr>
          <a:xfrm>
            <a:off x="6048360" y="3628800"/>
            <a:ext cx="2257560" cy="10080"/>
          </a:xfrm>
          <a:custGeom>
            <a:avLst/>
            <a:gdLst/>
            <a:ahLst/>
            <a:rect l="0" t="0" r="r" b="b"/>
            <a:pathLst>
              <a:path w="6271" h="28">
                <a:moveTo>
                  <a:pt x="0" y="0"/>
                </a:moveTo>
                <a:lnTo>
                  <a:pt x="6271" y="0"/>
                </a:lnTo>
                <a:lnTo>
                  <a:pt x="62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0" name=""/>
          <p:cNvSpPr/>
          <p:nvPr/>
        </p:nvSpPr>
        <p:spPr>
          <a:xfrm>
            <a:off x="8296200" y="3638520"/>
            <a:ext cx="9720" cy="343080"/>
          </a:xfrm>
          <a:custGeom>
            <a:avLst/>
            <a:gdLst/>
            <a:ahLst/>
            <a:rect l="0" t="0" r="r" b="b"/>
            <a:pathLst>
              <a:path w="27" h="953">
                <a:moveTo>
                  <a:pt x="0" y="0"/>
                </a:moveTo>
                <a:lnTo>
                  <a:pt x="27" y="0"/>
                </a:lnTo>
                <a:lnTo>
                  <a:pt x="2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1" name=""/>
          <p:cNvSpPr/>
          <p:nvPr/>
        </p:nvSpPr>
        <p:spPr>
          <a:xfrm>
            <a:off x="752400" y="39812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2" name=""/>
          <p:cNvSpPr/>
          <p:nvPr/>
        </p:nvSpPr>
        <p:spPr>
          <a:xfrm>
            <a:off x="752400" y="3971880"/>
            <a:ext cx="343080" cy="9720"/>
          </a:xfrm>
          <a:custGeom>
            <a:avLst/>
            <a:gdLst/>
            <a:ahLst/>
            <a:rect l="0" t="0" r="r" b="b"/>
            <a:pathLst>
              <a:path w="953" h="27">
                <a:moveTo>
                  <a:pt x="0" y="0"/>
                </a:moveTo>
                <a:lnTo>
                  <a:pt x="953" y="0"/>
                </a:lnTo>
                <a:lnTo>
                  <a:pt x="9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1085760" y="39812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4" name=""/>
          <p:cNvSpPr/>
          <p:nvPr/>
        </p:nvSpPr>
        <p:spPr>
          <a:xfrm>
            <a:off x="1095120" y="3971880"/>
            <a:ext cx="667080" cy="9720"/>
          </a:xfrm>
          <a:custGeom>
            <a:avLst/>
            <a:gdLst/>
            <a:ahLst/>
            <a:rect l="0" t="0" r="r" b="b"/>
            <a:pathLst>
              <a:path w="1853" h="27">
                <a:moveTo>
                  <a:pt x="0" y="0"/>
                </a:moveTo>
                <a:lnTo>
                  <a:pt x="1853" y="0"/>
                </a:lnTo>
                <a:lnTo>
                  <a:pt x="1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5" name=""/>
          <p:cNvSpPr/>
          <p:nvPr/>
        </p:nvSpPr>
        <p:spPr>
          <a:xfrm>
            <a:off x="1752480" y="39812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6" name=""/>
          <p:cNvSpPr/>
          <p:nvPr/>
        </p:nvSpPr>
        <p:spPr>
          <a:xfrm>
            <a:off x="1761840" y="3971880"/>
            <a:ext cx="838800" cy="9720"/>
          </a:xfrm>
          <a:custGeom>
            <a:avLst/>
            <a:gdLst/>
            <a:ahLst/>
            <a:rect l="0" t="0" r="r" b="b"/>
            <a:pathLst>
              <a:path w="2330" h="27">
                <a:moveTo>
                  <a:pt x="0" y="0"/>
                </a:moveTo>
                <a:lnTo>
                  <a:pt x="2330" y="0"/>
                </a:lnTo>
                <a:lnTo>
                  <a:pt x="23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7" name=""/>
          <p:cNvSpPr/>
          <p:nvPr/>
        </p:nvSpPr>
        <p:spPr>
          <a:xfrm>
            <a:off x="2590560" y="39812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8" name=""/>
          <p:cNvSpPr/>
          <p:nvPr/>
        </p:nvSpPr>
        <p:spPr>
          <a:xfrm>
            <a:off x="2600280" y="397188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9" name=""/>
          <p:cNvSpPr/>
          <p:nvPr/>
        </p:nvSpPr>
        <p:spPr>
          <a:xfrm>
            <a:off x="3362040" y="39812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0" name=""/>
          <p:cNvSpPr/>
          <p:nvPr/>
        </p:nvSpPr>
        <p:spPr>
          <a:xfrm>
            <a:off x="3371760" y="397188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1" name=""/>
          <p:cNvSpPr/>
          <p:nvPr/>
        </p:nvSpPr>
        <p:spPr>
          <a:xfrm>
            <a:off x="4200480" y="39812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2" name=""/>
          <p:cNvSpPr/>
          <p:nvPr/>
        </p:nvSpPr>
        <p:spPr>
          <a:xfrm>
            <a:off x="4209840" y="3971880"/>
            <a:ext cx="924480" cy="9720"/>
          </a:xfrm>
          <a:custGeom>
            <a:avLst/>
            <a:gdLst/>
            <a:ahLst/>
            <a:rect l="0" t="0" r="r" b="b"/>
            <a:pathLst>
              <a:path w="2568" h="27">
                <a:moveTo>
                  <a:pt x="0" y="0"/>
                </a:moveTo>
                <a:lnTo>
                  <a:pt x="2568" y="0"/>
                </a:lnTo>
                <a:lnTo>
                  <a:pt x="2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3" name=""/>
          <p:cNvSpPr/>
          <p:nvPr/>
        </p:nvSpPr>
        <p:spPr>
          <a:xfrm>
            <a:off x="5124240" y="3981240"/>
            <a:ext cx="10440" cy="352800"/>
          </a:xfrm>
          <a:custGeom>
            <a:avLst/>
            <a:gdLst/>
            <a:ahLst/>
            <a:rect l="0" t="0" r="r" b="b"/>
            <a:pathLst>
              <a:path w="29" h="980">
                <a:moveTo>
                  <a:pt x="0" y="0"/>
                </a:moveTo>
                <a:lnTo>
                  <a:pt x="29" y="0"/>
                </a:lnTo>
                <a:lnTo>
                  <a:pt x="2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4" name=""/>
          <p:cNvSpPr/>
          <p:nvPr/>
        </p:nvSpPr>
        <p:spPr>
          <a:xfrm>
            <a:off x="5133960" y="3971880"/>
            <a:ext cx="914760" cy="9720"/>
          </a:xfrm>
          <a:custGeom>
            <a:avLst/>
            <a:gdLst/>
            <a:ah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>
            <a:off x="6038640" y="39812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>
            <a:off x="6048360" y="3971880"/>
            <a:ext cx="2257560" cy="9720"/>
          </a:xfrm>
          <a:custGeom>
            <a:avLst/>
            <a:gdLst/>
            <a:ahLst/>
            <a:rect l="0" t="0" r="r" b="b"/>
            <a:pathLst>
              <a:path w="6271" h="27">
                <a:moveTo>
                  <a:pt x="0" y="0"/>
                </a:moveTo>
                <a:lnTo>
                  <a:pt x="6271" y="0"/>
                </a:lnTo>
                <a:lnTo>
                  <a:pt x="6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7" name=""/>
          <p:cNvSpPr/>
          <p:nvPr/>
        </p:nvSpPr>
        <p:spPr>
          <a:xfrm>
            <a:off x="8296200" y="39812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8" name=""/>
          <p:cNvSpPr/>
          <p:nvPr/>
        </p:nvSpPr>
        <p:spPr>
          <a:xfrm>
            <a:off x="752400" y="43336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9" name=""/>
          <p:cNvSpPr/>
          <p:nvPr/>
        </p:nvSpPr>
        <p:spPr>
          <a:xfrm>
            <a:off x="752400" y="4324320"/>
            <a:ext cx="343080" cy="9720"/>
          </a:xfrm>
          <a:custGeom>
            <a:avLst/>
            <a:gdLst/>
            <a:ahLst/>
            <a:rect l="0" t="0" r="r" b="b"/>
            <a:pathLst>
              <a:path w="953" h="27">
                <a:moveTo>
                  <a:pt x="0" y="0"/>
                </a:moveTo>
                <a:lnTo>
                  <a:pt x="953" y="0"/>
                </a:lnTo>
                <a:lnTo>
                  <a:pt x="9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0" name=""/>
          <p:cNvSpPr/>
          <p:nvPr/>
        </p:nvSpPr>
        <p:spPr>
          <a:xfrm>
            <a:off x="1085760" y="43336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1" name=""/>
          <p:cNvSpPr/>
          <p:nvPr/>
        </p:nvSpPr>
        <p:spPr>
          <a:xfrm>
            <a:off x="1095120" y="4324320"/>
            <a:ext cx="667080" cy="9720"/>
          </a:xfrm>
          <a:custGeom>
            <a:avLst/>
            <a:gdLst/>
            <a:ahLst/>
            <a:rect l="0" t="0" r="r" b="b"/>
            <a:pathLst>
              <a:path w="1853" h="27">
                <a:moveTo>
                  <a:pt x="0" y="0"/>
                </a:moveTo>
                <a:lnTo>
                  <a:pt x="1853" y="0"/>
                </a:lnTo>
                <a:lnTo>
                  <a:pt x="1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2" name=""/>
          <p:cNvSpPr/>
          <p:nvPr/>
        </p:nvSpPr>
        <p:spPr>
          <a:xfrm>
            <a:off x="1752480" y="43336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3" name=""/>
          <p:cNvSpPr/>
          <p:nvPr/>
        </p:nvSpPr>
        <p:spPr>
          <a:xfrm>
            <a:off x="1761840" y="4324320"/>
            <a:ext cx="838800" cy="9720"/>
          </a:xfrm>
          <a:custGeom>
            <a:avLst/>
            <a:gdLst/>
            <a:ahLst/>
            <a:rect l="0" t="0" r="r" b="b"/>
            <a:pathLst>
              <a:path w="2330" h="27">
                <a:moveTo>
                  <a:pt x="0" y="0"/>
                </a:moveTo>
                <a:lnTo>
                  <a:pt x="2330" y="0"/>
                </a:lnTo>
                <a:lnTo>
                  <a:pt x="23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4" name=""/>
          <p:cNvSpPr/>
          <p:nvPr/>
        </p:nvSpPr>
        <p:spPr>
          <a:xfrm>
            <a:off x="2590560" y="43336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5" name=""/>
          <p:cNvSpPr/>
          <p:nvPr/>
        </p:nvSpPr>
        <p:spPr>
          <a:xfrm>
            <a:off x="2600280" y="432432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6" name=""/>
          <p:cNvSpPr/>
          <p:nvPr/>
        </p:nvSpPr>
        <p:spPr>
          <a:xfrm>
            <a:off x="3362040" y="43336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7" name=""/>
          <p:cNvSpPr/>
          <p:nvPr/>
        </p:nvSpPr>
        <p:spPr>
          <a:xfrm>
            <a:off x="3371760" y="432432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8" name=""/>
          <p:cNvSpPr/>
          <p:nvPr/>
        </p:nvSpPr>
        <p:spPr>
          <a:xfrm>
            <a:off x="4200480" y="43336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9" name=""/>
          <p:cNvSpPr/>
          <p:nvPr/>
        </p:nvSpPr>
        <p:spPr>
          <a:xfrm>
            <a:off x="4209840" y="4324320"/>
            <a:ext cx="924480" cy="9720"/>
          </a:xfrm>
          <a:custGeom>
            <a:avLst/>
            <a:gdLst/>
            <a:ahLst/>
            <a:rect l="0" t="0" r="r" b="b"/>
            <a:pathLst>
              <a:path w="2568" h="27">
                <a:moveTo>
                  <a:pt x="0" y="0"/>
                </a:moveTo>
                <a:lnTo>
                  <a:pt x="2568" y="0"/>
                </a:lnTo>
                <a:lnTo>
                  <a:pt x="2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0" name=""/>
          <p:cNvSpPr/>
          <p:nvPr/>
        </p:nvSpPr>
        <p:spPr>
          <a:xfrm>
            <a:off x="5124240" y="4333680"/>
            <a:ext cx="10440" cy="352800"/>
          </a:xfrm>
          <a:custGeom>
            <a:avLst/>
            <a:gdLst/>
            <a:ahLst/>
            <a:rect l="0" t="0" r="r" b="b"/>
            <a:pathLst>
              <a:path w="29" h="980">
                <a:moveTo>
                  <a:pt x="0" y="0"/>
                </a:moveTo>
                <a:lnTo>
                  <a:pt x="29" y="0"/>
                </a:lnTo>
                <a:lnTo>
                  <a:pt x="2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1" name=""/>
          <p:cNvSpPr/>
          <p:nvPr/>
        </p:nvSpPr>
        <p:spPr>
          <a:xfrm>
            <a:off x="5133960" y="4324320"/>
            <a:ext cx="914760" cy="9720"/>
          </a:xfrm>
          <a:custGeom>
            <a:avLst/>
            <a:gdLst/>
            <a:ah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2" name=""/>
          <p:cNvSpPr/>
          <p:nvPr/>
        </p:nvSpPr>
        <p:spPr>
          <a:xfrm>
            <a:off x="6038640" y="43336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3" name=""/>
          <p:cNvSpPr/>
          <p:nvPr/>
        </p:nvSpPr>
        <p:spPr>
          <a:xfrm>
            <a:off x="6048360" y="4324320"/>
            <a:ext cx="2257560" cy="9720"/>
          </a:xfrm>
          <a:custGeom>
            <a:avLst/>
            <a:gdLst/>
            <a:ahLst/>
            <a:rect l="0" t="0" r="r" b="b"/>
            <a:pathLst>
              <a:path w="6271" h="27">
                <a:moveTo>
                  <a:pt x="0" y="0"/>
                </a:moveTo>
                <a:lnTo>
                  <a:pt x="6271" y="0"/>
                </a:lnTo>
                <a:lnTo>
                  <a:pt x="6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4" name=""/>
          <p:cNvSpPr/>
          <p:nvPr/>
        </p:nvSpPr>
        <p:spPr>
          <a:xfrm>
            <a:off x="8296200" y="43336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5" name=""/>
          <p:cNvSpPr/>
          <p:nvPr/>
        </p:nvSpPr>
        <p:spPr>
          <a:xfrm>
            <a:off x="752400" y="46861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6" name=""/>
          <p:cNvSpPr/>
          <p:nvPr/>
        </p:nvSpPr>
        <p:spPr>
          <a:xfrm>
            <a:off x="752400" y="4676760"/>
            <a:ext cx="343080" cy="9720"/>
          </a:xfrm>
          <a:custGeom>
            <a:avLst/>
            <a:gdLst/>
            <a:ahLst/>
            <a:rect l="0" t="0" r="r" b="b"/>
            <a:pathLst>
              <a:path w="953" h="27">
                <a:moveTo>
                  <a:pt x="0" y="0"/>
                </a:moveTo>
                <a:lnTo>
                  <a:pt x="953" y="0"/>
                </a:lnTo>
                <a:lnTo>
                  <a:pt x="9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7" name=""/>
          <p:cNvSpPr/>
          <p:nvPr/>
        </p:nvSpPr>
        <p:spPr>
          <a:xfrm>
            <a:off x="1085760" y="46861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8" name=""/>
          <p:cNvSpPr/>
          <p:nvPr/>
        </p:nvSpPr>
        <p:spPr>
          <a:xfrm>
            <a:off x="1095120" y="4676760"/>
            <a:ext cx="667080" cy="9720"/>
          </a:xfrm>
          <a:custGeom>
            <a:avLst/>
            <a:gdLst/>
            <a:ahLst/>
            <a:rect l="0" t="0" r="r" b="b"/>
            <a:pathLst>
              <a:path w="1853" h="27">
                <a:moveTo>
                  <a:pt x="0" y="0"/>
                </a:moveTo>
                <a:lnTo>
                  <a:pt x="1853" y="0"/>
                </a:lnTo>
                <a:lnTo>
                  <a:pt x="1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9" name=""/>
          <p:cNvSpPr/>
          <p:nvPr/>
        </p:nvSpPr>
        <p:spPr>
          <a:xfrm>
            <a:off x="1752480" y="46861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0" name=""/>
          <p:cNvSpPr/>
          <p:nvPr/>
        </p:nvSpPr>
        <p:spPr>
          <a:xfrm>
            <a:off x="1761840" y="4676760"/>
            <a:ext cx="838800" cy="9720"/>
          </a:xfrm>
          <a:custGeom>
            <a:avLst/>
            <a:gdLst/>
            <a:ahLst/>
            <a:rect l="0" t="0" r="r" b="b"/>
            <a:pathLst>
              <a:path w="2330" h="27">
                <a:moveTo>
                  <a:pt x="0" y="0"/>
                </a:moveTo>
                <a:lnTo>
                  <a:pt x="2330" y="0"/>
                </a:lnTo>
                <a:lnTo>
                  <a:pt x="23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1" name=""/>
          <p:cNvSpPr/>
          <p:nvPr/>
        </p:nvSpPr>
        <p:spPr>
          <a:xfrm>
            <a:off x="2590560" y="46861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2" name=""/>
          <p:cNvSpPr/>
          <p:nvPr/>
        </p:nvSpPr>
        <p:spPr>
          <a:xfrm>
            <a:off x="2600280" y="467676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3" name=""/>
          <p:cNvSpPr/>
          <p:nvPr/>
        </p:nvSpPr>
        <p:spPr>
          <a:xfrm>
            <a:off x="3362040" y="46861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4" name=""/>
          <p:cNvSpPr/>
          <p:nvPr/>
        </p:nvSpPr>
        <p:spPr>
          <a:xfrm>
            <a:off x="3371760" y="467676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5" name=""/>
          <p:cNvSpPr/>
          <p:nvPr/>
        </p:nvSpPr>
        <p:spPr>
          <a:xfrm>
            <a:off x="4200480" y="46861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6" name=""/>
          <p:cNvSpPr/>
          <p:nvPr/>
        </p:nvSpPr>
        <p:spPr>
          <a:xfrm>
            <a:off x="4209840" y="4676760"/>
            <a:ext cx="924480" cy="9720"/>
          </a:xfrm>
          <a:custGeom>
            <a:avLst/>
            <a:gdLst/>
            <a:ahLst/>
            <a:rect l="0" t="0" r="r" b="b"/>
            <a:pathLst>
              <a:path w="2568" h="27">
                <a:moveTo>
                  <a:pt x="0" y="0"/>
                </a:moveTo>
                <a:lnTo>
                  <a:pt x="2568" y="0"/>
                </a:lnTo>
                <a:lnTo>
                  <a:pt x="2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7" name=""/>
          <p:cNvSpPr/>
          <p:nvPr/>
        </p:nvSpPr>
        <p:spPr>
          <a:xfrm>
            <a:off x="5124240" y="4686120"/>
            <a:ext cx="10440" cy="352800"/>
          </a:xfrm>
          <a:custGeom>
            <a:avLst/>
            <a:gdLst/>
            <a:ahLst/>
            <a:rect l="0" t="0" r="r" b="b"/>
            <a:pathLst>
              <a:path w="29" h="980">
                <a:moveTo>
                  <a:pt x="0" y="0"/>
                </a:moveTo>
                <a:lnTo>
                  <a:pt x="29" y="0"/>
                </a:lnTo>
                <a:lnTo>
                  <a:pt x="2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8" name=""/>
          <p:cNvSpPr/>
          <p:nvPr/>
        </p:nvSpPr>
        <p:spPr>
          <a:xfrm>
            <a:off x="5133960" y="4676760"/>
            <a:ext cx="914760" cy="9720"/>
          </a:xfrm>
          <a:custGeom>
            <a:avLst/>
            <a:gdLst/>
            <a:ah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9" name=""/>
          <p:cNvSpPr/>
          <p:nvPr/>
        </p:nvSpPr>
        <p:spPr>
          <a:xfrm>
            <a:off x="6038640" y="46861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0" name=""/>
          <p:cNvSpPr/>
          <p:nvPr/>
        </p:nvSpPr>
        <p:spPr>
          <a:xfrm>
            <a:off x="6048360" y="4676760"/>
            <a:ext cx="2257560" cy="9720"/>
          </a:xfrm>
          <a:custGeom>
            <a:avLst/>
            <a:gdLst/>
            <a:ahLst/>
            <a:rect l="0" t="0" r="r" b="b"/>
            <a:pathLst>
              <a:path w="6271" h="27">
                <a:moveTo>
                  <a:pt x="0" y="0"/>
                </a:moveTo>
                <a:lnTo>
                  <a:pt x="6271" y="0"/>
                </a:lnTo>
                <a:lnTo>
                  <a:pt x="6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1" name=""/>
          <p:cNvSpPr/>
          <p:nvPr/>
        </p:nvSpPr>
        <p:spPr>
          <a:xfrm>
            <a:off x="8296200" y="46861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2" name=""/>
          <p:cNvSpPr/>
          <p:nvPr/>
        </p:nvSpPr>
        <p:spPr>
          <a:xfrm>
            <a:off x="752400" y="5028840"/>
            <a:ext cx="343080" cy="10080"/>
          </a:xfrm>
          <a:custGeom>
            <a:avLst/>
            <a:gdLst/>
            <a:ahLst/>
            <a:rect l="0" t="0" r="r" b="b"/>
            <a:pathLst>
              <a:path w="953" h="28">
                <a:moveTo>
                  <a:pt x="0" y="0"/>
                </a:moveTo>
                <a:lnTo>
                  <a:pt x="953" y="0"/>
                </a:lnTo>
                <a:lnTo>
                  <a:pt x="9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3" name=""/>
          <p:cNvSpPr/>
          <p:nvPr/>
        </p:nvSpPr>
        <p:spPr>
          <a:xfrm>
            <a:off x="1095120" y="502884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4" name=""/>
          <p:cNvSpPr/>
          <p:nvPr/>
        </p:nvSpPr>
        <p:spPr>
          <a:xfrm>
            <a:off x="1761840" y="5028840"/>
            <a:ext cx="838800" cy="10080"/>
          </a:xfrm>
          <a:custGeom>
            <a:avLst/>
            <a:gdLst/>
            <a:ahLst/>
            <a:rect l="0" t="0" r="r" b="b"/>
            <a:pathLst>
              <a:path w="2330" h="28">
                <a:moveTo>
                  <a:pt x="0" y="0"/>
                </a:moveTo>
                <a:lnTo>
                  <a:pt x="2330" y="0"/>
                </a:lnTo>
                <a:lnTo>
                  <a:pt x="23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5" name=""/>
          <p:cNvSpPr/>
          <p:nvPr/>
        </p:nvSpPr>
        <p:spPr>
          <a:xfrm>
            <a:off x="2600280" y="502884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6" name=""/>
          <p:cNvSpPr/>
          <p:nvPr/>
        </p:nvSpPr>
        <p:spPr>
          <a:xfrm>
            <a:off x="3371760" y="502884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7" name=""/>
          <p:cNvSpPr/>
          <p:nvPr/>
        </p:nvSpPr>
        <p:spPr>
          <a:xfrm>
            <a:off x="4209840" y="5028840"/>
            <a:ext cx="924480" cy="10080"/>
          </a:xfrm>
          <a:custGeom>
            <a:avLst/>
            <a:gdLst/>
            <a:ahLst/>
            <a:rect l="0" t="0" r="r" b="b"/>
            <a:pathLst>
              <a:path w="2568" h="28">
                <a:moveTo>
                  <a:pt x="0" y="0"/>
                </a:moveTo>
                <a:lnTo>
                  <a:pt x="2568" y="0"/>
                </a:lnTo>
                <a:lnTo>
                  <a:pt x="2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8" name=""/>
          <p:cNvSpPr/>
          <p:nvPr/>
        </p:nvSpPr>
        <p:spPr>
          <a:xfrm>
            <a:off x="5133960" y="502884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9" name=""/>
          <p:cNvSpPr/>
          <p:nvPr/>
        </p:nvSpPr>
        <p:spPr>
          <a:xfrm>
            <a:off x="6048360" y="5028840"/>
            <a:ext cx="2257560" cy="10080"/>
          </a:xfrm>
          <a:custGeom>
            <a:avLst/>
            <a:gdLst/>
            <a:ahLst/>
            <a:rect l="0" t="0" r="r" b="b"/>
            <a:pathLst>
              <a:path w="6271" h="28">
                <a:moveTo>
                  <a:pt x="0" y="0"/>
                </a:moveTo>
                <a:lnTo>
                  <a:pt x="6271" y="0"/>
                </a:lnTo>
                <a:lnTo>
                  <a:pt x="62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0" name=""/>
          <p:cNvSpPr txBox="1"/>
          <p:nvPr/>
        </p:nvSpPr>
        <p:spPr>
          <a:xfrm>
            <a:off x="747720" y="731520"/>
            <a:ext cx="53949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BB84 — eight rounds, start to ﬁnish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1" name=""/>
          <p:cNvSpPr txBox="1"/>
          <p:nvPr/>
        </p:nvSpPr>
        <p:spPr>
          <a:xfrm>
            <a:off x="747720" y="1383840"/>
            <a:ext cx="6528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Alice ﬂips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two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coins (bit, basis). Bob ﬂips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one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(basis), blind.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2" name=""/>
          <p:cNvSpPr txBox="1"/>
          <p:nvPr/>
        </p:nvSpPr>
        <p:spPr>
          <a:xfrm>
            <a:off x="861840" y="192060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#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3" name=""/>
          <p:cNvSpPr txBox="1"/>
          <p:nvPr/>
        </p:nvSpPr>
        <p:spPr>
          <a:xfrm>
            <a:off x="1204200" y="1920600"/>
            <a:ext cx="442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 bit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4" name=""/>
          <p:cNvSpPr txBox="1"/>
          <p:nvPr/>
        </p:nvSpPr>
        <p:spPr>
          <a:xfrm>
            <a:off x="1864800" y="1920600"/>
            <a:ext cx="6260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 base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5" name=""/>
          <p:cNvSpPr txBox="1"/>
          <p:nvPr/>
        </p:nvSpPr>
        <p:spPr>
          <a:xfrm>
            <a:off x="2709000" y="1920600"/>
            <a:ext cx="55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sends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6" name=""/>
          <p:cNvSpPr txBox="1"/>
          <p:nvPr/>
        </p:nvSpPr>
        <p:spPr>
          <a:xfrm>
            <a:off x="3477240" y="1920600"/>
            <a:ext cx="620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 base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7" name=""/>
          <p:cNvSpPr txBox="1"/>
          <p:nvPr/>
        </p:nvSpPr>
        <p:spPr>
          <a:xfrm>
            <a:off x="4316760" y="1920600"/>
            <a:ext cx="7059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 reads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8" name=""/>
          <p:cNvSpPr txBox="1"/>
          <p:nvPr/>
        </p:nvSpPr>
        <p:spPr>
          <a:xfrm>
            <a:off x="5237280" y="1920600"/>
            <a:ext cx="696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match?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9" name=""/>
          <p:cNvSpPr txBox="1"/>
          <p:nvPr/>
        </p:nvSpPr>
        <p:spPr>
          <a:xfrm>
            <a:off x="869040" y="226332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0" name=""/>
          <p:cNvSpPr txBox="1"/>
          <p:nvPr/>
        </p:nvSpPr>
        <p:spPr>
          <a:xfrm>
            <a:off x="1370160" y="226332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1" name=""/>
          <p:cNvSpPr txBox="1"/>
          <p:nvPr/>
        </p:nvSpPr>
        <p:spPr>
          <a:xfrm>
            <a:off x="4612680" y="226332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2" name=""/>
          <p:cNvSpPr txBox="1"/>
          <p:nvPr/>
        </p:nvSpPr>
        <p:spPr>
          <a:xfrm>
            <a:off x="5437080" y="2263320"/>
            <a:ext cx="296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yes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3" name=""/>
          <p:cNvSpPr txBox="1"/>
          <p:nvPr/>
        </p:nvSpPr>
        <p:spPr>
          <a:xfrm>
            <a:off x="6151680" y="2263320"/>
            <a:ext cx="341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key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4" name=""/>
          <p:cNvSpPr txBox="1"/>
          <p:nvPr/>
        </p:nvSpPr>
        <p:spPr>
          <a:xfrm>
            <a:off x="869040" y="261576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5" name=""/>
          <p:cNvSpPr txBox="1"/>
          <p:nvPr/>
        </p:nvSpPr>
        <p:spPr>
          <a:xfrm>
            <a:off x="1370160" y="261576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6" name=""/>
          <p:cNvSpPr txBox="1"/>
          <p:nvPr/>
        </p:nvSpPr>
        <p:spPr>
          <a:xfrm>
            <a:off x="4612680" y="261576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7" name=""/>
          <p:cNvSpPr txBox="1"/>
          <p:nvPr/>
        </p:nvSpPr>
        <p:spPr>
          <a:xfrm>
            <a:off x="5468400" y="2615760"/>
            <a:ext cx="233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8" name=""/>
          <p:cNvSpPr txBox="1"/>
          <p:nvPr/>
        </p:nvSpPr>
        <p:spPr>
          <a:xfrm>
            <a:off x="6151680" y="2615760"/>
            <a:ext cx="20469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discard — right by luck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9" name=""/>
          <p:cNvSpPr txBox="1"/>
          <p:nvPr/>
        </p:nvSpPr>
        <p:spPr>
          <a:xfrm>
            <a:off x="869040" y="296820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0" name=""/>
          <p:cNvSpPr txBox="1"/>
          <p:nvPr/>
        </p:nvSpPr>
        <p:spPr>
          <a:xfrm>
            <a:off x="1370160" y="296820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1" name=""/>
          <p:cNvSpPr txBox="1"/>
          <p:nvPr/>
        </p:nvSpPr>
        <p:spPr>
          <a:xfrm>
            <a:off x="4612680" y="296820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2" name=""/>
          <p:cNvSpPr txBox="1"/>
          <p:nvPr/>
        </p:nvSpPr>
        <p:spPr>
          <a:xfrm>
            <a:off x="5468400" y="2968200"/>
            <a:ext cx="233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3" name=""/>
          <p:cNvSpPr txBox="1"/>
          <p:nvPr/>
        </p:nvSpPr>
        <p:spPr>
          <a:xfrm>
            <a:off x="6151680" y="2968200"/>
            <a:ext cx="15537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discard — </a:t>
            </a:r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wrong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4" name=""/>
          <p:cNvSpPr txBox="1"/>
          <p:nvPr/>
        </p:nvSpPr>
        <p:spPr>
          <a:xfrm>
            <a:off x="869040" y="332064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5" name=""/>
          <p:cNvSpPr txBox="1"/>
          <p:nvPr/>
        </p:nvSpPr>
        <p:spPr>
          <a:xfrm>
            <a:off x="1370160" y="332064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6" name=""/>
          <p:cNvSpPr txBox="1"/>
          <p:nvPr/>
        </p:nvSpPr>
        <p:spPr>
          <a:xfrm>
            <a:off x="4612680" y="332064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7" name=""/>
          <p:cNvSpPr txBox="1"/>
          <p:nvPr/>
        </p:nvSpPr>
        <p:spPr>
          <a:xfrm>
            <a:off x="5437080" y="3320640"/>
            <a:ext cx="296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yes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8" name=""/>
          <p:cNvSpPr txBox="1"/>
          <p:nvPr/>
        </p:nvSpPr>
        <p:spPr>
          <a:xfrm>
            <a:off x="6151680" y="3320640"/>
            <a:ext cx="341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key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9" name=""/>
          <p:cNvSpPr txBox="1"/>
          <p:nvPr/>
        </p:nvSpPr>
        <p:spPr>
          <a:xfrm>
            <a:off x="869040" y="367308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0" name=""/>
          <p:cNvSpPr txBox="1"/>
          <p:nvPr/>
        </p:nvSpPr>
        <p:spPr>
          <a:xfrm>
            <a:off x="1370160" y="367308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1" name=""/>
          <p:cNvSpPr txBox="1"/>
          <p:nvPr/>
        </p:nvSpPr>
        <p:spPr>
          <a:xfrm>
            <a:off x="4612680" y="367308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2" name=""/>
          <p:cNvSpPr txBox="1"/>
          <p:nvPr/>
        </p:nvSpPr>
        <p:spPr>
          <a:xfrm>
            <a:off x="5437080" y="3673080"/>
            <a:ext cx="296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yes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3" name=""/>
          <p:cNvSpPr txBox="1"/>
          <p:nvPr/>
        </p:nvSpPr>
        <p:spPr>
          <a:xfrm>
            <a:off x="6151680" y="3673080"/>
            <a:ext cx="341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key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4" name=""/>
          <p:cNvSpPr txBox="1"/>
          <p:nvPr/>
        </p:nvSpPr>
        <p:spPr>
          <a:xfrm>
            <a:off x="869040" y="401580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5" name=""/>
          <p:cNvSpPr txBox="1"/>
          <p:nvPr/>
        </p:nvSpPr>
        <p:spPr>
          <a:xfrm>
            <a:off x="1370160" y="401580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6" name=""/>
          <p:cNvSpPr txBox="1"/>
          <p:nvPr/>
        </p:nvSpPr>
        <p:spPr>
          <a:xfrm>
            <a:off x="4612680" y="401580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7" name=""/>
          <p:cNvSpPr txBox="1"/>
          <p:nvPr/>
        </p:nvSpPr>
        <p:spPr>
          <a:xfrm>
            <a:off x="5437080" y="4015800"/>
            <a:ext cx="296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yes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8" name=""/>
          <p:cNvSpPr txBox="1"/>
          <p:nvPr/>
        </p:nvSpPr>
        <p:spPr>
          <a:xfrm>
            <a:off x="6151680" y="4015800"/>
            <a:ext cx="341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key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9" name=""/>
          <p:cNvSpPr txBox="1"/>
          <p:nvPr/>
        </p:nvSpPr>
        <p:spPr>
          <a:xfrm>
            <a:off x="869040" y="436824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0" name=""/>
          <p:cNvSpPr txBox="1"/>
          <p:nvPr/>
        </p:nvSpPr>
        <p:spPr>
          <a:xfrm>
            <a:off x="1370160" y="436824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1" name=""/>
          <p:cNvSpPr txBox="1"/>
          <p:nvPr/>
        </p:nvSpPr>
        <p:spPr>
          <a:xfrm>
            <a:off x="4612680" y="436824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2" name=""/>
          <p:cNvSpPr txBox="1"/>
          <p:nvPr/>
        </p:nvSpPr>
        <p:spPr>
          <a:xfrm>
            <a:off x="5437080" y="4368240"/>
            <a:ext cx="296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yes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3" name=""/>
          <p:cNvSpPr txBox="1"/>
          <p:nvPr/>
        </p:nvSpPr>
        <p:spPr>
          <a:xfrm>
            <a:off x="6151680" y="4368240"/>
            <a:ext cx="341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key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4" name=""/>
          <p:cNvSpPr txBox="1"/>
          <p:nvPr/>
        </p:nvSpPr>
        <p:spPr>
          <a:xfrm>
            <a:off x="869040" y="472068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5" name=""/>
          <p:cNvSpPr txBox="1"/>
          <p:nvPr/>
        </p:nvSpPr>
        <p:spPr>
          <a:xfrm>
            <a:off x="1370160" y="472068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6" name=""/>
          <p:cNvSpPr txBox="1"/>
          <p:nvPr/>
        </p:nvSpPr>
        <p:spPr>
          <a:xfrm>
            <a:off x="4612680" y="472068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7" name=""/>
          <p:cNvSpPr txBox="1"/>
          <p:nvPr/>
        </p:nvSpPr>
        <p:spPr>
          <a:xfrm>
            <a:off x="5468400" y="4720680"/>
            <a:ext cx="233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8" name=""/>
          <p:cNvSpPr txBox="1"/>
          <p:nvPr/>
        </p:nvSpPr>
        <p:spPr>
          <a:xfrm>
            <a:off x="6151680" y="4720680"/>
            <a:ext cx="6523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discard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9" name=""/>
          <p:cNvSpPr txBox="1"/>
          <p:nvPr/>
        </p:nvSpPr>
        <p:spPr>
          <a:xfrm>
            <a:off x="747720" y="5203440"/>
            <a:ext cx="91335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They announce their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bases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publicly — never the bits — and drop the mismatches.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0" name=""/>
          <p:cNvSpPr/>
          <p:nvPr/>
        </p:nvSpPr>
        <p:spPr>
          <a:xfrm>
            <a:off x="2047680" y="5600520"/>
            <a:ext cx="1257840" cy="314640"/>
          </a:xfrm>
          <a:custGeom>
            <a:avLst/>
            <a:gdLst/>
            <a:ahLst/>
            <a:rect l="0" t="0" r="r" b="b"/>
            <a:pathLst>
              <a:path w="3494" h="874">
                <a:moveTo>
                  <a:pt x="0" y="715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335" y="0"/>
                </a:lnTo>
                <a:cubicBezTo>
                  <a:pt x="3345" y="0"/>
                  <a:pt x="3356" y="1"/>
                  <a:pt x="3366" y="3"/>
                </a:cubicBezTo>
                <a:cubicBezTo>
                  <a:pt x="3376" y="5"/>
                  <a:pt x="3386" y="8"/>
                  <a:pt x="3396" y="12"/>
                </a:cubicBezTo>
                <a:cubicBezTo>
                  <a:pt x="3405" y="16"/>
                  <a:pt x="3414" y="21"/>
                  <a:pt x="3423" y="27"/>
                </a:cubicBezTo>
                <a:cubicBezTo>
                  <a:pt x="3432" y="33"/>
                  <a:pt x="3440" y="39"/>
                  <a:pt x="3447" y="46"/>
                </a:cubicBezTo>
                <a:cubicBezTo>
                  <a:pt x="3454" y="54"/>
                  <a:pt x="3461" y="62"/>
                  <a:pt x="3467" y="71"/>
                </a:cubicBezTo>
                <a:cubicBezTo>
                  <a:pt x="3473" y="79"/>
                  <a:pt x="3477" y="88"/>
                  <a:pt x="3481" y="98"/>
                </a:cubicBezTo>
                <a:cubicBezTo>
                  <a:pt x="3485" y="108"/>
                  <a:pt x="3488" y="118"/>
                  <a:pt x="3490" y="128"/>
                </a:cubicBezTo>
                <a:cubicBezTo>
                  <a:pt x="3493" y="138"/>
                  <a:pt x="3494" y="148"/>
                  <a:pt x="3494" y="159"/>
                </a:cubicBezTo>
                <a:lnTo>
                  <a:pt x="3494" y="715"/>
                </a:lnTo>
                <a:cubicBezTo>
                  <a:pt x="3494" y="726"/>
                  <a:pt x="3493" y="736"/>
                  <a:pt x="3490" y="746"/>
                </a:cubicBezTo>
                <a:cubicBezTo>
                  <a:pt x="3488" y="757"/>
                  <a:pt x="3485" y="766"/>
                  <a:pt x="3481" y="776"/>
                </a:cubicBezTo>
                <a:cubicBezTo>
                  <a:pt x="3477" y="786"/>
                  <a:pt x="3473" y="795"/>
                  <a:pt x="3467" y="804"/>
                </a:cubicBezTo>
                <a:cubicBezTo>
                  <a:pt x="3461" y="812"/>
                  <a:pt x="3454" y="820"/>
                  <a:pt x="3447" y="828"/>
                </a:cubicBezTo>
                <a:cubicBezTo>
                  <a:pt x="3440" y="835"/>
                  <a:pt x="3432" y="842"/>
                  <a:pt x="3423" y="847"/>
                </a:cubicBezTo>
                <a:cubicBezTo>
                  <a:pt x="3414" y="853"/>
                  <a:pt x="3405" y="858"/>
                  <a:pt x="3396" y="862"/>
                </a:cubicBezTo>
                <a:cubicBezTo>
                  <a:pt x="3386" y="866"/>
                  <a:pt x="3376" y="869"/>
                  <a:pt x="3366" y="871"/>
                </a:cubicBezTo>
                <a:cubicBezTo>
                  <a:pt x="3356" y="873"/>
                  <a:pt x="3345" y="874"/>
                  <a:pt x="3335" y="874"/>
                </a:cubicBezTo>
                <a:lnTo>
                  <a:pt x="159" y="874"/>
                </a:lnTo>
                <a:cubicBezTo>
                  <a:pt x="148" y="874"/>
                  <a:pt x="138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8" y="858"/>
                  <a:pt x="79" y="853"/>
                  <a:pt x="71" y="847"/>
                </a:cubicBezTo>
                <a:cubicBezTo>
                  <a:pt x="62" y="842"/>
                  <a:pt x="54" y="835"/>
                  <a:pt x="47" y="828"/>
                </a:cubicBezTo>
                <a:cubicBezTo>
                  <a:pt x="39" y="820"/>
                  <a:pt x="33" y="812"/>
                  <a:pt x="27" y="804"/>
                </a:cubicBezTo>
                <a:cubicBezTo>
                  <a:pt x="21" y="795"/>
                  <a:pt x="16" y="786"/>
                  <a:pt x="12" y="776"/>
                </a:cubicBezTo>
                <a:cubicBezTo>
                  <a:pt x="8" y="766"/>
                  <a:pt x="5" y="757"/>
                  <a:pt x="3" y="746"/>
                </a:cubicBezTo>
                <a:cubicBezTo>
                  <a:pt x="1" y="736"/>
                  <a:pt x="0" y="726"/>
                  <a:pt x="0" y="71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1" name=""/>
          <p:cNvSpPr txBox="1"/>
          <p:nvPr/>
        </p:nvSpPr>
        <p:spPr>
          <a:xfrm>
            <a:off x="747720" y="5555520"/>
            <a:ext cx="1302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Alice keeps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2" name=""/>
          <p:cNvSpPr txBox="1"/>
          <p:nvPr/>
        </p:nvSpPr>
        <p:spPr>
          <a:xfrm>
            <a:off x="2132640" y="5644080"/>
            <a:ext cx="10954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1 1 0 0 0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3" name=""/>
          <p:cNvSpPr/>
          <p:nvPr/>
        </p:nvSpPr>
        <p:spPr>
          <a:xfrm>
            <a:off x="4657680" y="5600520"/>
            <a:ext cx="1257480" cy="314640"/>
          </a:xfrm>
          <a:custGeom>
            <a:avLst/>
            <a:gdLst/>
            <a:ahLst/>
            <a:rect l="0" t="0" r="r" b="b"/>
            <a:pathLst>
              <a:path w="3493" h="874">
                <a:moveTo>
                  <a:pt x="0" y="715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334" y="0"/>
                </a:lnTo>
                <a:cubicBezTo>
                  <a:pt x="3345" y="0"/>
                  <a:pt x="3355" y="1"/>
                  <a:pt x="3365" y="3"/>
                </a:cubicBezTo>
                <a:cubicBezTo>
                  <a:pt x="3376" y="5"/>
                  <a:pt x="3385" y="8"/>
                  <a:pt x="3395" y="12"/>
                </a:cubicBezTo>
                <a:cubicBezTo>
                  <a:pt x="3405" y="16"/>
                  <a:pt x="3414" y="21"/>
                  <a:pt x="3423" y="27"/>
                </a:cubicBezTo>
                <a:cubicBezTo>
                  <a:pt x="3431" y="33"/>
                  <a:pt x="3439" y="39"/>
                  <a:pt x="3447" y="46"/>
                </a:cubicBezTo>
                <a:cubicBezTo>
                  <a:pt x="3454" y="54"/>
                  <a:pt x="3461" y="62"/>
                  <a:pt x="3466" y="71"/>
                </a:cubicBezTo>
                <a:cubicBezTo>
                  <a:pt x="3472" y="79"/>
                  <a:pt x="3477" y="88"/>
                  <a:pt x="3481" y="98"/>
                </a:cubicBezTo>
                <a:cubicBezTo>
                  <a:pt x="3485" y="108"/>
                  <a:pt x="3488" y="118"/>
                  <a:pt x="3490" y="128"/>
                </a:cubicBezTo>
                <a:cubicBezTo>
                  <a:pt x="3492" y="138"/>
                  <a:pt x="3493" y="148"/>
                  <a:pt x="3493" y="159"/>
                </a:cubicBezTo>
                <a:lnTo>
                  <a:pt x="3493" y="715"/>
                </a:lnTo>
                <a:cubicBezTo>
                  <a:pt x="3493" y="726"/>
                  <a:pt x="3492" y="736"/>
                  <a:pt x="3490" y="746"/>
                </a:cubicBezTo>
                <a:cubicBezTo>
                  <a:pt x="3488" y="757"/>
                  <a:pt x="3485" y="766"/>
                  <a:pt x="3481" y="776"/>
                </a:cubicBezTo>
                <a:cubicBezTo>
                  <a:pt x="3477" y="786"/>
                  <a:pt x="3472" y="795"/>
                  <a:pt x="3466" y="804"/>
                </a:cubicBezTo>
                <a:cubicBezTo>
                  <a:pt x="3461" y="812"/>
                  <a:pt x="3454" y="820"/>
                  <a:pt x="3447" y="828"/>
                </a:cubicBezTo>
                <a:cubicBezTo>
                  <a:pt x="3439" y="835"/>
                  <a:pt x="3431" y="842"/>
                  <a:pt x="3423" y="847"/>
                </a:cubicBezTo>
                <a:cubicBezTo>
                  <a:pt x="3414" y="853"/>
                  <a:pt x="3405" y="858"/>
                  <a:pt x="3395" y="862"/>
                </a:cubicBezTo>
                <a:cubicBezTo>
                  <a:pt x="3385" y="866"/>
                  <a:pt x="3376" y="869"/>
                  <a:pt x="3365" y="871"/>
                </a:cubicBezTo>
                <a:cubicBezTo>
                  <a:pt x="3355" y="873"/>
                  <a:pt x="3345" y="874"/>
                  <a:pt x="3334" y="874"/>
                </a:cubicBezTo>
                <a:lnTo>
                  <a:pt x="158" y="874"/>
                </a:lnTo>
                <a:cubicBezTo>
                  <a:pt x="148" y="874"/>
                  <a:pt x="138" y="873"/>
                  <a:pt x="127" y="871"/>
                </a:cubicBezTo>
                <a:cubicBezTo>
                  <a:pt x="117" y="869"/>
                  <a:pt x="107" y="866"/>
                  <a:pt x="98" y="862"/>
                </a:cubicBezTo>
                <a:cubicBezTo>
                  <a:pt x="88" y="858"/>
                  <a:pt x="79" y="853"/>
                  <a:pt x="70" y="847"/>
                </a:cubicBezTo>
                <a:cubicBezTo>
                  <a:pt x="62" y="842"/>
                  <a:pt x="53" y="835"/>
                  <a:pt x="46" y="828"/>
                </a:cubicBezTo>
                <a:cubicBezTo>
                  <a:pt x="39" y="820"/>
                  <a:pt x="32" y="812"/>
                  <a:pt x="26" y="804"/>
                </a:cubicBezTo>
                <a:cubicBezTo>
                  <a:pt x="21" y="795"/>
                  <a:pt x="16" y="786"/>
                  <a:pt x="12" y="776"/>
                </a:cubicBezTo>
                <a:cubicBezTo>
                  <a:pt x="8" y="766"/>
                  <a:pt x="5" y="757"/>
                  <a:pt x="3" y="746"/>
                </a:cubicBezTo>
                <a:cubicBezTo>
                  <a:pt x="1" y="736"/>
                  <a:pt x="0" y="726"/>
                  <a:pt x="0" y="71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4" name=""/>
          <p:cNvSpPr txBox="1"/>
          <p:nvPr/>
        </p:nvSpPr>
        <p:spPr>
          <a:xfrm>
            <a:off x="3306960" y="5555520"/>
            <a:ext cx="13496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, Bob keeps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5" name=""/>
          <p:cNvSpPr txBox="1"/>
          <p:nvPr/>
        </p:nvSpPr>
        <p:spPr>
          <a:xfrm>
            <a:off x="4739040" y="5644080"/>
            <a:ext cx="10954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1 1 0 0 0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6" name=""/>
          <p:cNvSpPr txBox="1"/>
          <p:nvPr/>
        </p:nvSpPr>
        <p:spPr>
          <a:xfrm>
            <a:off x="5913360" y="5555520"/>
            <a:ext cx="34153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a secret neither of them sent.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7" name=""/>
          <p:cNvSpPr txBox="1"/>
          <p:nvPr/>
        </p:nvSpPr>
        <p:spPr>
          <a:xfrm>
            <a:off x="747720" y="6125400"/>
            <a:ext cx="979524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Rounds 1 and 2 are the point — same choices, diﬀerent outcomes. On a mismatch Bob still gets a bit, just a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8" name=""/>
          <p:cNvSpPr txBox="1"/>
          <p:nvPr/>
        </p:nvSpPr>
        <p:spPr>
          <a:xfrm>
            <a:off x="747720" y="6487200"/>
            <a:ext cx="659772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worthless one, and nobody knows which until the bases are announced.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9" name=""/>
          <p:cNvSpPr txBox="1"/>
          <p:nvPr/>
        </p:nvSpPr>
        <p:spPr>
          <a:xfrm>
            <a:off x="2072880" y="228456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0" name=""/>
          <p:cNvSpPr txBox="1"/>
          <p:nvPr/>
        </p:nvSpPr>
        <p:spPr>
          <a:xfrm>
            <a:off x="2817000" y="2220480"/>
            <a:ext cx="338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∣−⟩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1" name=""/>
          <p:cNvSpPr txBox="1"/>
          <p:nvPr/>
        </p:nvSpPr>
        <p:spPr>
          <a:xfrm>
            <a:off x="3683160" y="228456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2" name=""/>
          <p:cNvSpPr txBox="1"/>
          <p:nvPr/>
        </p:nvSpPr>
        <p:spPr>
          <a:xfrm>
            <a:off x="2090160" y="263700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3" name=""/>
          <p:cNvSpPr txBox="1"/>
          <p:nvPr/>
        </p:nvSpPr>
        <p:spPr>
          <a:xfrm>
            <a:off x="2849040" y="2572920"/>
            <a:ext cx="338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4" name=""/>
          <p:cNvSpPr txBox="1"/>
          <p:nvPr/>
        </p:nvSpPr>
        <p:spPr>
          <a:xfrm>
            <a:off x="3683160" y="263700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5" name=""/>
          <p:cNvSpPr txBox="1"/>
          <p:nvPr/>
        </p:nvSpPr>
        <p:spPr>
          <a:xfrm>
            <a:off x="2090160" y="297972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6" name=""/>
          <p:cNvSpPr txBox="1"/>
          <p:nvPr/>
        </p:nvSpPr>
        <p:spPr>
          <a:xfrm>
            <a:off x="2849040" y="2925360"/>
            <a:ext cx="338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7" name=""/>
          <p:cNvSpPr txBox="1"/>
          <p:nvPr/>
        </p:nvSpPr>
        <p:spPr>
          <a:xfrm>
            <a:off x="3683160" y="297972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8" name=""/>
          <p:cNvSpPr txBox="1"/>
          <p:nvPr/>
        </p:nvSpPr>
        <p:spPr>
          <a:xfrm>
            <a:off x="2090160" y="333216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9" name=""/>
          <p:cNvSpPr txBox="1"/>
          <p:nvPr/>
        </p:nvSpPr>
        <p:spPr>
          <a:xfrm>
            <a:off x="2849040" y="3277800"/>
            <a:ext cx="338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∣1⟩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0" name=""/>
          <p:cNvSpPr txBox="1"/>
          <p:nvPr/>
        </p:nvSpPr>
        <p:spPr>
          <a:xfrm>
            <a:off x="3700440" y="333216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1" name=""/>
          <p:cNvSpPr txBox="1"/>
          <p:nvPr/>
        </p:nvSpPr>
        <p:spPr>
          <a:xfrm>
            <a:off x="2072880" y="368460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2" name=""/>
          <p:cNvSpPr txBox="1"/>
          <p:nvPr/>
        </p:nvSpPr>
        <p:spPr>
          <a:xfrm>
            <a:off x="2817000" y="3630240"/>
            <a:ext cx="338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∣+⟩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3" name=""/>
          <p:cNvSpPr txBox="1"/>
          <p:nvPr/>
        </p:nvSpPr>
        <p:spPr>
          <a:xfrm>
            <a:off x="3683160" y="368460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4" name=""/>
          <p:cNvSpPr txBox="1"/>
          <p:nvPr/>
        </p:nvSpPr>
        <p:spPr>
          <a:xfrm>
            <a:off x="2090160" y="403704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5" name=""/>
          <p:cNvSpPr txBox="1"/>
          <p:nvPr/>
        </p:nvSpPr>
        <p:spPr>
          <a:xfrm>
            <a:off x="2849040" y="3973320"/>
            <a:ext cx="338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6" name=""/>
          <p:cNvSpPr txBox="1"/>
          <p:nvPr/>
        </p:nvSpPr>
        <p:spPr>
          <a:xfrm>
            <a:off x="3700440" y="403704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7" name=""/>
          <p:cNvSpPr txBox="1"/>
          <p:nvPr/>
        </p:nvSpPr>
        <p:spPr>
          <a:xfrm>
            <a:off x="2090160" y="438948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8" name=""/>
          <p:cNvSpPr txBox="1"/>
          <p:nvPr/>
        </p:nvSpPr>
        <p:spPr>
          <a:xfrm>
            <a:off x="2849040" y="4325760"/>
            <a:ext cx="338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9" name=""/>
          <p:cNvSpPr txBox="1"/>
          <p:nvPr/>
        </p:nvSpPr>
        <p:spPr>
          <a:xfrm>
            <a:off x="3700440" y="438948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0" name=""/>
          <p:cNvSpPr txBox="1"/>
          <p:nvPr/>
        </p:nvSpPr>
        <p:spPr>
          <a:xfrm>
            <a:off x="2090160" y="473220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Z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1" name=""/>
          <p:cNvSpPr txBox="1"/>
          <p:nvPr/>
        </p:nvSpPr>
        <p:spPr>
          <a:xfrm>
            <a:off x="2849040" y="4677840"/>
            <a:ext cx="338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∣0⟩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2" name=""/>
          <p:cNvSpPr txBox="1"/>
          <p:nvPr/>
        </p:nvSpPr>
        <p:spPr>
          <a:xfrm>
            <a:off x="3683160" y="4732200"/>
            <a:ext cx="23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3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7" name=""/>
          <p:cNvSpPr/>
          <p:nvPr/>
        </p:nvSpPr>
        <p:spPr>
          <a:xfrm>
            <a:off x="757080" y="1900080"/>
            <a:ext cx="10687320" cy="1486080"/>
          </a:xfrm>
          <a:custGeom>
            <a:avLst/>
            <a:gdLst/>
            <a:ahLst/>
            <a:rect l="0" t="0" r="r" b="b"/>
            <a:pathLst>
              <a:path w="29687" h="4128">
                <a:moveTo>
                  <a:pt x="0" y="398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983"/>
                </a:lnTo>
                <a:cubicBezTo>
                  <a:pt x="29687" y="3992"/>
                  <a:pt x="29686" y="4002"/>
                  <a:pt x="29684" y="4011"/>
                </a:cubicBezTo>
                <a:cubicBezTo>
                  <a:pt x="29683" y="4021"/>
                  <a:pt x="29680" y="4030"/>
                  <a:pt x="29676" y="4039"/>
                </a:cubicBezTo>
                <a:cubicBezTo>
                  <a:pt x="29672" y="4047"/>
                  <a:pt x="29668" y="4056"/>
                  <a:pt x="29663" y="4064"/>
                </a:cubicBezTo>
                <a:cubicBezTo>
                  <a:pt x="29657" y="4072"/>
                  <a:pt x="29651" y="4079"/>
                  <a:pt x="29645" y="4086"/>
                </a:cubicBezTo>
                <a:cubicBezTo>
                  <a:pt x="29638" y="4093"/>
                  <a:pt x="29630" y="4099"/>
                  <a:pt x="29623" y="4104"/>
                </a:cubicBezTo>
                <a:cubicBezTo>
                  <a:pt x="29615" y="4109"/>
                  <a:pt x="29606" y="4114"/>
                  <a:pt x="29597" y="4117"/>
                </a:cubicBezTo>
                <a:cubicBezTo>
                  <a:pt x="29589" y="4121"/>
                  <a:pt x="29579" y="4124"/>
                  <a:pt x="29570" y="4126"/>
                </a:cubicBezTo>
                <a:cubicBezTo>
                  <a:pt x="29561" y="4128"/>
                  <a:pt x="29551" y="4128"/>
                  <a:pt x="29542" y="4128"/>
                </a:cubicBezTo>
                <a:lnTo>
                  <a:pt x="145" y="4128"/>
                </a:lnTo>
                <a:cubicBezTo>
                  <a:pt x="136" y="4128"/>
                  <a:pt x="126" y="4128"/>
                  <a:pt x="117" y="4126"/>
                </a:cubicBezTo>
                <a:cubicBezTo>
                  <a:pt x="108" y="4124"/>
                  <a:pt x="99" y="4121"/>
                  <a:pt x="90" y="4117"/>
                </a:cubicBezTo>
                <a:cubicBezTo>
                  <a:pt x="81" y="4114"/>
                  <a:pt x="73" y="4109"/>
                  <a:pt x="65" y="4104"/>
                </a:cubicBezTo>
                <a:cubicBezTo>
                  <a:pt x="57" y="4099"/>
                  <a:pt x="49" y="4093"/>
                  <a:pt x="43" y="4086"/>
                </a:cubicBezTo>
                <a:cubicBezTo>
                  <a:pt x="36" y="4079"/>
                  <a:pt x="30" y="4072"/>
                  <a:pt x="24" y="4064"/>
                </a:cubicBezTo>
                <a:cubicBezTo>
                  <a:pt x="19" y="4056"/>
                  <a:pt x="15" y="4047"/>
                  <a:pt x="11" y="4039"/>
                </a:cubicBezTo>
                <a:cubicBezTo>
                  <a:pt x="7" y="4030"/>
                  <a:pt x="5" y="4021"/>
                  <a:pt x="3" y="4011"/>
                </a:cubicBezTo>
                <a:cubicBezTo>
                  <a:pt x="1" y="4002"/>
                  <a:pt x="0" y="3992"/>
                  <a:pt x="0" y="398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8" name=""/>
          <p:cNvSpPr/>
          <p:nvPr/>
        </p:nvSpPr>
        <p:spPr>
          <a:xfrm>
            <a:off x="757080" y="1900080"/>
            <a:ext cx="10687320" cy="1486080"/>
          </a:xfrm>
          <a:custGeom>
            <a:avLst/>
            <a:gdLst/>
            <a:ahLst/>
            <a:rect l="0" t="0" r="r" b="b"/>
            <a:pathLst>
              <a:path w="29687" h="4128">
                <a:moveTo>
                  <a:pt x="0" y="398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983"/>
                </a:lnTo>
                <a:cubicBezTo>
                  <a:pt x="29687" y="3992"/>
                  <a:pt x="29686" y="4002"/>
                  <a:pt x="29684" y="4011"/>
                </a:cubicBezTo>
                <a:cubicBezTo>
                  <a:pt x="29683" y="4021"/>
                  <a:pt x="29680" y="4030"/>
                  <a:pt x="29676" y="4039"/>
                </a:cubicBezTo>
                <a:cubicBezTo>
                  <a:pt x="29672" y="4047"/>
                  <a:pt x="29668" y="4056"/>
                  <a:pt x="29663" y="4064"/>
                </a:cubicBezTo>
                <a:cubicBezTo>
                  <a:pt x="29657" y="4072"/>
                  <a:pt x="29651" y="4079"/>
                  <a:pt x="29645" y="4086"/>
                </a:cubicBezTo>
                <a:cubicBezTo>
                  <a:pt x="29638" y="4093"/>
                  <a:pt x="29630" y="4099"/>
                  <a:pt x="29623" y="4104"/>
                </a:cubicBezTo>
                <a:cubicBezTo>
                  <a:pt x="29615" y="4109"/>
                  <a:pt x="29606" y="4114"/>
                  <a:pt x="29597" y="4117"/>
                </a:cubicBezTo>
                <a:cubicBezTo>
                  <a:pt x="29589" y="4121"/>
                  <a:pt x="29579" y="4124"/>
                  <a:pt x="29570" y="4126"/>
                </a:cubicBezTo>
                <a:cubicBezTo>
                  <a:pt x="29561" y="4128"/>
                  <a:pt x="29551" y="4128"/>
                  <a:pt x="29542" y="4128"/>
                </a:cubicBezTo>
                <a:lnTo>
                  <a:pt x="145" y="4128"/>
                </a:lnTo>
                <a:cubicBezTo>
                  <a:pt x="136" y="4128"/>
                  <a:pt x="126" y="4128"/>
                  <a:pt x="117" y="4126"/>
                </a:cubicBezTo>
                <a:cubicBezTo>
                  <a:pt x="108" y="4124"/>
                  <a:pt x="99" y="4121"/>
                  <a:pt x="90" y="4117"/>
                </a:cubicBezTo>
                <a:cubicBezTo>
                  <a:pt x="81" y="4114"/>
                  <a:pt x="73" y="4109"/>
                  <a:pt x="65" y="4104"/>
                </a:cubicBezTo>
                <a:cubicBezTo>
                  <a:pt x="57" y="4099"/>
                  <a:pt x="49" y="4093"/>
                  <a:pt x="43" y="4086"/>
                </a:cubicBezTo>
                <a:cubicBezTo>
                  <a:pt x="36" y="4079"/>
                  <a:pt x="30" y="4072"/>
                  <a:pt x="24" y="4064"/>
                </a:cubicBezTo>
                <a:cubicBezTo>
                  <a:pt x="19" y="4056"/>
                  <a:pt x="15" y="4047"/>
                  <a:pt x="11" y="4039"/>
                </a:cubicBezTo>
                <a:cubicBezTo>
                  <a:pt x="7" y="4030"/>
                  <a:pt x="5" y="4021"/>
                  <a:pt x="3" y="4011"/>
                </a:cubicBezTo>
                <a:cubicBezTo>
                  <a:pt x="1" y="4002"/>
                  <a:pt x="0" y="3992"/>
                  <a:pt x="0" y="398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9" name=""/>
          <p:cNvSpPr/>
          <p:nvPr/>
        </p:nvSpPr>
        <p:spPr>
          <a:xfrm>
            <a:off x="752400" y="5648040"/>
            <a:ext cx="2362320" cy="343440"/>
          </a:xfrm>
          <a:custGeom>
            <a:avLst/>
            <a:gdLst/>
            <a:ahLst/>
            <a:rect l="0" t="0" r="r" b="b"/>
            <a:pathLst>
              <a:path w="6562" h="954">
                <a:moveTo>
                  <a:pt x="0" y="0"/>
                </a:moveTo>
                <a:lnTo>
                  <a:pt x="6562" y="0"/>
                </a:lnTo>
                <a:lnTo>
                  <a:pt x="6562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0" name=""/>
          <p:cNvSpPr/>
          <p:nvPr/>
        </p:nvSpPr>
        <p:spPr>
          <a:xfrm>
            <a:off x="3114360" y="5648040"/>
            <a:ext cx="600480" cy="343440"/>
          </a:xfrm>
          <a:custGeom>
            <a:avLst/>
            <a:gdLst/>
            <a:ahLst/>
            <a:rect l="0" t="0" r="r" b="b"/>
            <a:pathLst>
              <a:path w="1668" h="954">
                <a:moveTo>
                  <a:pt x="0" y="0"/>
                </a:moveTo>
                <a:lnTo>
                  <a:pt x="1668" y="0"/>
                </a:lnTo>
                <a:lnTo>
                  <a:pt x="1668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1" name=""/>
          <p:cNvSpPr/>
          <p:nvPr/>
        </p:nvSpPr>
        <p:spPr>
          <a:xfrm>
            <a:off x="3714480" y="5648040"/>
            <a:ext cx="1057680" cy="343440"/>
          </a:xfrm>
          <a:custGeom>
            <a:avLst/>
            <a:gdLst/>
            <a:ahLst/>
            <a:rect l="0" t="0" r="r" b="b"/>
            <a:pathLst>
              <a:path w="2938" h="954">
                <a:moveTo>
                  <a:pt x="0" y="0"/>
                </a:moveTo>
                <a:lnTo>
                  <a:pt x="2938" y="0"/>
                </a:lnTo>
                <a:lnTo>
                  <a:pt x="2938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2" name=""/>
          <p:cNvSpPr/>
          <p:nvPr/>
        </p:nvSpPr>
        <p:spPr>
          <a:xfrm>
            <a:off x="4771800" y="5648040"/>
            <a:ext cx="1153080" cy="343440"/>
          </a:xfrm>
          <a:custGeom>
            <a:avLst/>
            <a:gdLst/>
            <a:ahLst/>
            <a:rect l="0" t="0" r="r" b="b"/>
            <a:pathLst>
              <a:path w="3203" h="954">
                <a:moveTo>
                  <a:pt x="0" y="0"/>
                </a:moveTo>
                <a:lnTo>
                  <a:pt x="3203" y="0"/>
                </a:lnTo>
                <a:lnTo>
                  <a:pt x="3203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3" name=""/>
          <p:cNvSpPr/>
          <p:nvPr/>
        </p:nvSpPr>
        <p:spPr>
          <a:xfrm>
            <a:off x="752400" y="5991120"/>
            <a:ext cx="2362320" cy="333720"/>
          </a:xfrm>
          <a:custGeom>
            <a:avLst/>
            <a:gdLst/>
            <a:ahLst/>
            <a:rect l="0" t="0" r="r" b="b"/>
            <a:pathLst>
              <a:path w="6562" h="927">
                <a:moveTo>
                  <a:pt x="0" y="0"/>
                </a:moveTo>
                <a:lnTo>
                  <a:pt x="6562" y="0"/>
                </a:lnTo>
                <a:lnTo>
                  <a:pt x="656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4" name=""/>
          <p:cNvSpPr/>
          <p:nvPr/>
        </p:nvSpPr>
        <p:spPr>
          <a:xfrm>
            <a:off x="3114360" y="5991120"/>
            <a:ext cx="600480" cy="333720"/>
          </a:xfrm>
          <a:custGeom>
            <a:avLst/>
            <a:gdLst/>
            <a:ahLst/>
            <a:rect l="0" t="0" r="r" b="b"/>
            <a:pathLst>
              <a:path w="1668" h="927">
                <a:moveTo>
                  <a:pt x="0" y="0"/>
                </a:moveTo>
                <a:lnTo>
                  <a:pt x="1668" y="0"/>
                </a:lnTo>
                <a:lnTo>
                  <a:pt x="1668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5" name=""/>
          <p:cNvSpPr/>
          <p:nvPr/>
        </p:nvSpPr>
        <p:spPr>
          <a:xfrm>
            <a:off x="3714480" y="5991120"/>
            <a:ext cx="1057680" cy="333720"/>
          </a:xfrm>
          <a:custGeom>
            <a:avLst/>
            <a:gdLst/>
            <a:ahLst/>
            <a:rect l="0" t="0" r="r" b="b"/>
            <a:pathLst>
              <a:path w="2938" h="927">
                <a:moveTo>
                  <a:pt x="0" y="0"/>
                </a:moveTo>
                <a:lnTo>
                  <a:pt x="2938" y="0"/>
                </a:lnTo>
                <a:lnTo>
                  <a:pt x="2938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6" name=""/>
          <p:cNvSpPr/>
          <p:nvPr/>
        </p:nvSpPr>
        <p:spPr>
          <a:xfrm>
            <a:off x="4771800" y="5991120"/>
            <a:ext cx="1153080" cy="333720"/>
          </a:xfrm>
          <a:custGeom>
            <a:avLst/>
            <a:gdLst/>
            <a:ahLst/>
            <a:rect l="0" t="0" r="r" b="b"/>
            <a:pathLst>
              <a:path w="3203" h="927">
                <a:moveTo>
                  <a:pt x="0" y="0"/>
                </a:moveTo>
                <a:lnTo>
                  <a:pt x="3203" y="0"/>
                </a:lnTo>
                <a:lnTo>
                  <a:pt x="320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7" name=""/>
          <p:cNvSpPr/>
          <p:nvPr/>
        </p:nvSpPr>
        <p:spPr>
          <a:xfrm>
            <a:off x="752400" y="56386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8" name=""/>
          <p:cNvSpPr/>
          <p:nvPr/>
        </p:nvSpPr>
        <p:spPr>
          <a:xfrm>
            <a:off x="752400" y="5638680"/>
            <a:ext cx="2372040" cy="9720"/>
          </a:xfrm>
          <a:custGeom>
            <a:avLst/>
            <a:gdLst/>
            <a:ahLst/>
            <a:rect l="0" t="0" r="r" b="b"/>
            <a:pathLst>
              <a:path w="6589" h="27">
                <a:moveTo>
                  <a:pt x="0" y="0"/>
                </a:moveTo>
                <a:lnTo>
                  <a:pt x="6589" y="0"/>
                </a:lnTo>
                <a:lnTo>
                  <a:pt x="65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9" name=""/>
          <p:cNvSpPr/>
          <p:nvPr/>
        </p:nvSpPr>
        <p:spPr>
          <a:xfrm>
            <a:off x="3114360" y="56386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0" name=""/>
          <p:cNvSpPr/>
          <p:nvPr/>
        </p:nvSpPr>
        <p:spPr>
          <a:xfrm>
            <a:off x="3124080" y="563868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1" name=""/>
          <p:cNvSpPr/>
          <p:nvPr/>
        </p:nvSpPr>
        <p:spPr>
          <a:xfrm>
            <a:off x="3705120" y="56386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2" name=""/>
          <p:cNvSpPr/>
          <p:nvPr/>
        </p:nvSpPr>
        <p:spPr>
          <a:xfrm>
            <a:off x="3714480" y="5638680"/>
            <a:ext cx="1067400" cy="9720"/>
          </a:xfrm>
          <a:custGeom>
            <a:avLst/>
            <a:gdLst/>
            <a:ahLst/>
            <a:rect l="0" t="0" r="r" b="b"/>
            <a:pathLst>
              <a:path w="2965" h="27">
                <a:moveTo>
                  <a:pt x="0" y="0"/>
                </a:moveTo>
                <a:lnTo>
                  <a:pt x="2965" y="0"/>
                </a:lnTo>
                <a:lnTo>
                  <a:pt x="29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3" name=""/>
          <p:cNvSpPr/>
          <p:nvPr/>
        </p:nvSpPr>
        <p:spPr>
          <a:xfrm>
            <a:off x="4771800" y="56386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4" name=""/>
          <p:cNvSpPr/>
          <p:nvPr/>
        </p:nvSpPr>
        <p:spPr>
          <a:xfrm>
            <a:off x="4781520" y="5638680"/>
            <a:ext cx="1143360" cy="9720"/>
          </a:xfrm>
          <a:custGeom>
            <a:avLst/>
            <a:gdLst/>
            <a:ahLst/>
            <a:rect l="0" t="0" r="r" b="b"/>
            <a:pathLst>
              <a:path w="3176" h="27">
                <a:moveTo>
                  <a:pt x="0" y="0"/>
                </a:moveTo>
                <a:lnTo>
                  <a:pt x="3176" y="0"/>
                </a:lnTo>
                <a:lnTo>
                  <a:pt x="31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5" name=""/>
          <p:cNvSpPr/>
          <p:nvPr/>
        </p:nvSpPr>
        <p:spPr>
          <a:xfrm>
            <a:off x="5914800" y="56386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6" name=""/>
          <p:cNvSpPr/>
          <p:nvPr/>
        </p:nvSpPr>
        <p:spPr>
          <a:xfrm>
            <a:off x="752400" y="5981400"/>
            <a:ext cx="2372040" cy="10080"/>
          </a:xfrm>
          <a:custGeom>
            <a:avLst/>
            <a:gdLst/>
            <a:ahLst/>
            <a:rect l="0" t="0" r="r" b="b"/>
            <a:pathLst>
              <a:path w="6589" h="28">
                <a:moveTo>
                  <a:pt x="0" y="0"/>
                </a:moveTo>
                <a:lnTo>
                  <a:pt x="6589" y="0"/>
                </a:lnTo>
                <a:lnTo>
                  <a:pt x="65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7" name=""/>
          <p:cNvSpPr/>
          <p:nvPr/>
        </p:nvSpPr>
        <p:spPr>
          <a:xfrm>
            <a:off x="3124080" y="5981400"/>
            <a:ext cx="590760" cy="10080"/>
          </a:xfrm>
          <a:custGeom>
            <a:avLst/>
            <a:gdLst/>
            <a:ahLst/>
            <a:rect l="0" t="0" r="r" b="b"/>
            <a:pathLst>
              <a:path w="1641" h="28">
                <a:moveTo>
                  <a:pt x="0" y="0"/>
                </a:moveTo>
                <a:lnTo>
                  <a:pt x="1641" y="0"/>
                </a:lnTo>
                <a:lnTo>
                  <a:pt x="16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8" name=""/>
          <p:cNvSpPr/>
          <p:nvPr/>
        </p:nvSpPr>
        <p:spPr>
          <a:xfrm>
            <a:off x="3714480" y="5981400"/>
            <a:ext cx="1067400" cy="10080"/>
          </a:xfrm>
          <a:custGeom>
            <a:avLst/>
            <a:gdLst/>
            <a:ahLst/>
            <a:rect l="0" t="0" r="r" b="b"/>
            <a:pathLst>
              <a:path w="2965" h="28">
                <a:moveTo>
                  <a:pt x="0" y="0"/>
                </a:moveTo>
                <a:lnTo>
                  <a:pt x="2965" y="0"/>
                </a:lnTo>
                <a:lnTo>
                  <a:pt x="29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9" name=""/>
          <p:cNvSpPr/>
          <p:nvPr/>
        </p:nvSpPr>
        <p:spPr>
          <a:xfrm>
            <a:off x="4781520" y="5981400"/>
            <a:ext cx="1143360" cy="10080"/>
          </a:xfrm>
          <a:custGeom>
            <a:avLst/>
            <a:gdLst/>
            <a:ahLst/>
            <a:rect l="0" t="0" r="r" b="b"/>
            <a:pathLst>
              <a:path w="3176" h="28">
                <a:moveTo>
                  <a:pt x="0" y="0"/>
                </a:moveTo>
                <a:lnTo>
                  <a:pt x="3176" y="0"/>
                </a:lnTo>
                <a:lnTo>
                  <a:pt x="31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0" name=""/>
          <p:cNvSpPr/>
          <p:nvPr/>
        </p:nvSpPr>
        <p:spPr>
          <a:xfrm>
            <a:off x="752400" y="5991120"/>
            <a:ext cx="9720" cy="343080"/>
          </a:xfrm>
          <a:custGeom>
            <a:avLst/>
            <a:gdLst/>
            <a:ahLst/>
            <a:rect l="0" t="0" r="r" b="b"/>
            <a:pathLst>
              <a:path w="27" h="953">
                <a:moveTo>
                  <a:pt x="0" y="0"/>
                </a:moveTo>
                <a:lnTo>
                  <a:pt x="27" y="0"/>
                </a:lnTo>
                <a:lnTo>
                  <a:pt x="2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1" name=""/>
          <p:cNvSpPr/>
          <p:nvPr/>
        </p:nvSpPr>
        <p:spPr>
          <a:xfrm>
            <a:off x="3114360" y="5991120"/>
            <a:ext cx="10080" cy="343080"/>
          </a:xfrm>
          <a:custGeom>
            <a:avLst/>
            <a:gdLst/>
            <a:ahLst/>
            <a:rect l="0" t="0" r="r" b="b"/>
            <a:pathLst>
              <a:path w="28" h="953">
                <a:moveTo>
                  <a:pt x="0" y="0"/>
                </a:moveTo>
                <a:lnTo>
                  <a:pt x="28" y="0"/>
                </a:lnTo>
                <a:lnTo>
                  <a:pt x="28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2" name=""/>
          <p:cNvSpPr/>
          <p:nvPr/>
        </p:nvSpPr>
        <p:spPr>
          <a:xfrm>
            <a:off x="3705120" y="5991120"/>
            <a:ext cx="9720" cy="343080"/>
          </a:xfrm>
          <a:custGeom>
            <a:avLst/>
            <a:gdLst/>
            <a:ahLst/>
            <a:rect l="0" t="0" r="r" b="b"/>
            <a:pathLst>
              <a:path w="27" h="953">
                <a:moveTo>
                  <a:pt x="0" y="0"/>
                </a:moveTo>
                <a:lnTo>
                  <a:pt x="27" y="0"/>
                </a:lnTo>
                <a:lnTo>
                  <a:pt x="2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3" name=""/>
          <p:cNvSpPr/>
          <p:nvPr/>
        </p:nvSpPr>
        <p:spPr>
          <a:xfrm>
            <a:off x="4771800" y="5991120"/>
            <a:ext cx="10080" cy="343080"/>
          </a:xfrm>
          <a:custGeom>
            <a:avLst/>
            <a:gdLst/>
            <a:ahLst/>
            <a:rect l="0" t="0" r="r" b="b"/>
            <a:pathLst>
              <a:path w="28" h="953">
                <a:moveTo>
                  <a:pt x="0" y="0"/>
                </a:moveTo>
                <a:lnTo>
                  <a:pt x="28" y="0"/>
                </a:lnTo>
                <a:lnTo>
                  <a:pt x="28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4" name=""/>
          <p:cNvSpPr/>
          <p:nvPr/>
        </p:nvSpPr>
        <p:spPr>
          <a:xfrm>
            <a:off x="5914800" y="5991120"/>
            <a:ext cx="10080" cy="343080"/>
          </a:xfrm>
          <a:custGeom>
            <a:avLst/>
            <a:gdLst/>
            <a:ahLst/>
            <a:rect l="0" t="0" r="r" b="b"/>
            <a:pathLst>
              <a:path w="28" h="953">
                <a:moveTo>
                  <a:pt x="0" y="0"/>
                </a:moveTo>
                <a:lnTo>
                  <a:pt x="28" y="0"/>
                </a:lnTo>
                <a:lnTo>
                  <a:pt x="28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5" name=""/>
          <p:cNvSpPr/>
          <p:nvPr/>
        </p:nvSpPr>
        <p:spPr>
          <a:xfrm>
            <a:off x="752400" y="6324480"/>
            <a:ext cx="2372040" cy="9720"/>
          </a:xfrm>
          <a:custGeom>
            <a:avLst/>
            <a:gdLst/>
            <a:ahLst/>
            <a:rect l="0" t="0" r="r" b="b"/>
            <a:pathLst>
              <a:path w="6589" h="27">
                <a:moveTo>
                  <a:pt x="0" y="0"/>
                </a:moveTo>
                <a:lnTo>
                  <a:pt x="6589" y="0"/>
                </a:lnTo>
                <a:lnTo>
                  <a:pt x="65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6" name=""/>
          <p:cNvSpPr/>
          <p:nvPr/>
        </p:nvSpPr>
        <p:spPr>
          <a:xfrm>
            <a:off x="3124080" y="632448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7" name=""/>
          <p:cNvSpPr/>
          <p:nvPr/>
        </p:nvSpPr>
        <p:spPr>
          <a:xfrm>
            <a:off x="3714480" y="6324480"/>
            <a:ext cx="1067400" cy="9720"/>
          </a:xfrm>
          <a:custGeom>
            <a:avLst/>
            <a:gdLst/>
            <a:ahLst/>
            <a:rect l="0" t="0" r="r" b="b"/>
            <a:pathLst>
              <a:path w="2965" h="27">
                <a:moveTo>
                  <a:pt x="0" y="0"/>
                </a:moveTo>
                <a:lnTo>
                  <a:pt x="2965" y="0"/>
                </a:lnTo>
                <a:lnTo>
                  <a:pt x="29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8" name=""/>
          <p:cNvSpPr/>
          <p:nvPr/>
        </p:nvSpPr>
        <p:spPr>
          <a:xfrm>
            <a:off x="4781520" y="6324480"/>
            <a:ext cx="1143360" cy="9720"/>
          </a:xfrm>
          <a:custGeom>
            <a:avLst/>
            <a:gdLst/>
            <a:ahLst/>
            <a:rect l="0" t="0" r="r" b="b"/>
            <a:pathLst>
              <a:path w="3176" h="27">
                <a:moveTo>
                  <a:pt x="0" y="0"/>
                </a:moveTo>
                <a:lnTo>
                  <a:pt x="3176" y="0"/>
                </a:lnTo>
                <a:lnTo>
                  <a:pt x="31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9" name=""/>
          <p:cNvSpPr txBox="1"/>
          <p:nvPr/>
        </p:nvSpPr>
        <p:spPr>
          <a:xfrm>
            <a:off x="747720" y="731520"/>
            <a:ext cx="53377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BB84 — what actually becomes key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0" name=""/>
          <p:cNvSpPr/>
          <p:nvPr/>
        </p:nvSpPr>
        <p:spPr>
          <a:xfrm>
            <a:off x="2190600" y="1428480"/>
            <a:ext cx="2467440" cy="305280"/>
          </a:xfrm>
          <a:custGeom>
            <a:avLst/>
            <a:gdLst/>
            <a:ahLst/>
            <a:rect l="0" t="0" r="r" b="b"/>
            <a:pathLst>
              <a:path w="6854" h="848">
                <a:moveTo>
                  <a:pt x="0" y="689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695" y="0"/>
                </a:lnTo>
                <a:cubicBezTo>
                  <a:pt x="6705" y="0"/>
                  <a:pt x="6716" y="1"/>
                  <a:pt x="6726" y="3"/>
                </a:cubicBezTo>
                <a:cubicBezTo>
                  <a:pt x="6736" y="5"/>
                  <a:pt x="6746" y="8"/>
                  <a:pt x="6756" y="12"/>
                </a:cubicBezTo>
                <a:cubicBezTo>
                  <a:pt x="6765" y="16"/>
                  <a:pt x="6774" y="21"/>
                  <a:pt x="6783" y="27"/>
                </a:cubicBezTo>
                <a:cubicBezTo>
                  <a:pt x="6792" y="33"/>
                  <a:pt x="6800" y="39"/>
                  <a:pt x="6807" y="47"/>
                </a:cubicBezTo>
                <a:cubicBezTo>
                  <a:pt x="6814" y="54"/>
                  <a:pt x="6821" y="62"/>
                  <a:pt x="6827" y="71"/>
                </a:cubicBezTo>
                <a:cubicBezTo>
                  <a:pt x="6833" y="79"/>
                  <a:pt x="6838" y="89"/>
                  <a:pt x="6842" y="98"/>
                </a:cubicBezTo>
                <a:cubicBezTo>
                  <a:pt x="6846" y="108"/>
                  <a:pt x="6849" y="118"/>
                  <a:pt x="6851" y="128"/>
                </a:cubicBezTo>
                <a:cubicBezTo>
                  <a:pt x="6853" y="138"/>
                  <a:pt x="6854" y="149"/>
                  <a:pt x="6854" y="159"/>
                </a:cubicBezTo>
                <a:lnTo>
                  <a:pt x="6854" y="689"/>
                </a:lnTo>
                <a:cubicBezTo>
                  <a:pt x="6854" y="700"/>
                  <a:pt x="6853" y="710"/>
                  <a:pt x="6851" y="720"/>
                </a:cubicBezTo>
                <a:cubicBezTo>
                  <a:pt x="6849" y="730"/>
                  <a:pt x="6846" y="740"/>
                  <a:pt x="6842" y="750"/>
                </a:cubicBezTo>
                <a:cubicBezTo>
                  <a:pt x="6838" y="760"/>
                  <a:pt x="6833" y="769"/>
                  <a:pt x="6827" y="777"/>
                </a:cubicBezTo>
                <a:cubicBezTo>
                  <a:pt x="6821" y="786"/>
                  <a:pt x="6814" y="794"/>
                  <a:pt x="6807" y="801"/>
                </a:cubicBezTo>
                <a:cubicBezTo>
                  <a:pt x="6800" y="809"/>
                  <a:pt x="6792" y="815"/>
                  <a:pt x="6783" y="821"/>
                </a:cubicBezTo>
                <a:cubicBezTo>
                  <a:pt x="6774" y="827"/>
                  <a:pt x="6765" y="832"/>
                  <a:pt x="6756" y="836"/>
                </a:cubicBezTo>
                <a:cubicBezTo>
                  <a:pt x="6746" y="840"/>
                  <a:pt x="6736" y="843"/>
                  <a:pt x="6726" y="845"/>
                </a:cubicBezTo>
                <a:cubicBezTo>
                  <a:pt x="6716" y="847"/>
                  <a:pt x="6705" y="848"/>
                  <a:pt x="6695" y="848"/>
                </a:cubicBezTo>
                <a:lnTo>
                  <a:pt x="159" y="848"/>
                </a:lnTo>
                <a:cubicBezTo>
                  <a:pt x="148" y="848"/>
                  <a:pt x="138" y="847"/>
                  <a:pt x="128" y="845"/>
                </a:cubicBezTo>
                <a:cubicBezTo>
                  <a:pt x="117" y="843"/>
                  <a:pt x="108" y="840"/>
                  <a:pt x="98" y="836"/>
                </a:cubicBezTo>
                <a:cubicBezTo>
                  <a:pt x="88" y="832"/>
                  <a:pt x="79" y="827"/>
                  <a:pt x="70" y="821"/>
                </a:cubicBezTo>
                <a:cubicBezTo>
                  <a:pt x="62" y="815"/>
                  <a:pt x="54" y="809"/>
                  <a:pt x="46" y="801"/>
                </a:cubicBezTo>
                <a:cubicBezTo>
                  <a:pt x="39" y="794"/>
                  <a:pt x="32" y="786"/>
                  <a:pt x="27" y="777"/>
                </a:cubicBezTo>
                <a:cubicBezTo>
                  <a:pt x="21" y="769"/>
                  <a:pt x="16" y="760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700"/>
                  <a:pt x="0" y="68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1" name=""/>
          <p:cNvSpPr txBox="1"/>
          <p:nvPr/>
        </p:nvSpPr>
        <p:spPr>
          <a:xfrm>
            <a:off x="747720" y="1383840"/>
            <a:ext cx="14446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 real run of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2" name=""/>
          <p:cNvSpPr txBox="1"/>
          <p:nvPr/>
        </p:nvSpPr>
        <p:spPr>
          <a:xfrm>
            <a:off x="2270160" y="1472040"/>
            <a:ext cx="231192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bb84.py --rounds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3" name=""/>
          <p:cNvSpPr txBox="1"/>
          <p:nvPr/>
        </p:nvSpPr>
        <p:spPr>
          <a:xfrm>
            <a:off x="4658760" y="138384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4" name=""/>
          <p:cNvSpPr txBox="1"/>
          <p:nvPr/>
        </p:nvSpPr>
        <p:spPr>
          <a:xfrm>
            <a:off x="914400" y="2060280"/>
            <a:ext cx="30416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transmitted           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5" name=""/>
          <p:cNvSpPr txBox="1"/>
          <p:nvPr/>
        </p:nvSpPr>
        <p:spPr>
          <a:xfrm>
            <a:off x="914400" y="2288880"/>
            <a:ext cx="55958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bases disagreed       3   dropped at sifting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6" name=""/>
          <p:cNvSpPr txBox="1"/>
          <p:nvPr/>
        </p:nvSpPr>
        <p:spPr>
          <a:xfrm>
            <a:off x="914400" y="2526840"/>
            <a:ext cx="54741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bases agreed          7   = the sifted bits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7" name=""/>
          <p:cNvSpPr txBox="1"/>
          <p:nvPr/>
        </p:nvSpPr>
        <p:spPr>
          <a:xfrm>
            <a:off x="914400" y="2755440"/>
            <a:ext cx="7907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  sacrificed        4   announced openly, so spent either way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8" name=""/>
          <p:cNvSpPr txBox="1"/>
          <p:nvPr/>
        </p:nvSpPr>
        <p:spPr>
          <a:xfrm>
            <a:off x="914400" y="2993760"/>
            <a:ext cx="46227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  left for the key  3   &lt;- the key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9" name=""/>
          <p:cNvSpPr txBox="1"/>
          <p:nvPr/>
        </p:nvSpPr>
        <p:spPr>
          <a:xfrm>
            <a:off x="747720" y="3555360"/>
            <a:ext cx="86551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Two losses.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Half the rounds die at sifting, because the bases disagreed. More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0" name=""/>
          <p:cNvSpPr txBox="1"/>
          <p:nvPr/>
        </p:nvSpPr>
        <p:spPr>
          <a:xfrm>
            <a:off x="747720" y="3907800"/>
            <a:ext cx="90802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are sacriﬁced to test for Eve — once announced they are public, so they are spent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1" name=""/>
          <p:cNvSpPr txBox="1"/>
          <p:nvPr/>
        </p:nvSpPr>
        <p:spPr>
          <a:xfrm>
            <a:off x="747720" y="4269960"/>
            <a:ext cx="83440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whatever they show. Roughly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 quarter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of transmitted qubits become key.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2" name=""/>
          <p:cNvSpPr txBox="1"/>
          <p:nvPr/>
        </p:nvSpPr>
        <p:spPr>
          <a:xfrm>
            <a:off x="747720" y="4774680"/>
            <a:ext cx="42141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Each compared bit is an independent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3" name=""/>
          <p:cNvSpPr txBox="1"/>
          <p:nvPr/>
        </p:nvSpPr>
        <p:spPr>
          <a:xfrm>
            <a:off x="5133240" y="4774680"/>
            <a:ext cx="38977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chance Eve slips past, so detection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4" name=""/>
          <p:cNvSpPr txBox="1"/>
          <p:nvPr/>
        </p:nvSpPr>
        <p:spPr>
          <a:xfrm>
            <a:off x="747720" y="5146200"/>
            <a:ext cx="1630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needs volume: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5" name=""/>
          <p:cNvSpPr txBox="1"/>
          <p:nvPr/>
        </p:nvSpPr>
        <p:spPr>
          <a:xfrm>
            <a:off x="861840" y="5682960"/>
            <a:ext cx="13629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bits compared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6" name=""/>
          <p:cNvSpPr txBox="1"/>
          <p:nvPr/>
        </p:nvSpPr>
        <p:spPr>
          <a:xfrm>
            <a:off x="3357720" y="568296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7" name=""/>
          <p:cNvSpPr txBox="1"/>
          <p:nvPr/>
        </p:nvSpPr>
        <p:spPr>
          <a:xfrm>
            <a:off x="4133160" y="5682960"/>
            <a:ext cx="2185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50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8" name=""/>
          <p:cNvSpPr txBox="1"/>
          <p:nvPr/>
        </p:nvSpPr>
        <p:spPr>
          <a:xfrm>
            <a:off x="5183640" y="5682960"/>
            <a:ext cx="3276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126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9" name=""/>
          <p:cNvSpPr txBox="1"/>
          <p:nvPr/>
        </p:nvSpPr>
        <p:spPr>
          <a:xfrm>
            <a:off x="861840" y="6025680"/>
            <a:ext cx="21438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Eve escapes undetected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0" name=""/>
          <p:cNvSpPr txBox="1"/>
          <p:nvPr/>
        </p:nvSpPr>
        <p:spPr>
          <a:xfrm>
            <a:off x="3224160" y="6025680"/>
            <a:ext cx="3769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32%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1" name=""/>
          <p:cNvSpPr txBox="1"/>
          <p:nvPr/>
        </p:nvSpPr>
        <p:spPr>
          <a:xfrm>
            <a:off x="5108400" y="50191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2" name=""/>
          <p:cNvSpPr/>
          <p:nvPr/>
        </p:nvSpPr>
        <p:spPr>
          <a:xfrm>
            <a:off x="5000400" y="4962240"/>
            <a:ext cx="95760" cy="10080"/>
          </a:xfrm>
          <a:custGeom>
            <a:avLst/>
            <a:gdLst/>
            <a:ahLst/>
            <a:rect l="0" t="0" r="r" b="b"/>
            <a:pathLst>
              <a:path w="266" h="28">
                <a:moveTo>
                  <a:pt x="0" y="0"/>
                </a:moveTo>
                <a:lnTo>
                  <a:pt x="266" y="0"/>
                </a:lnTo>
                <a:lnTo>
                  <a:pt x="2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3" name=""/>
          <p:cNvSpPr txBox="1"/>
          <p:nvPr/>
        </p:nvSpPr>
        <p:spPr>
          <a:xfrm>
            <a:off x="4997880" y="491832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4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4" name=""/>
          <p:cNvSpPr txBox="1"/>
          <p:nvPr/>
        </p:nvSpPr>
        <p:spPr>
          <a:xfrm>
            <a:off x="4997880" y="47088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3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5" name=""/>
          <p:cNvSpPr txBox="1"/>
          <p:nvPr/>
        </p:nvSpPr>
        <p:spPr>
          <a:xfrm>
            <a:off x="3819600" y="5982840"/>
            <a:ext cx="64692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6 × 10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6" name=""/>
          <p:cNvSpPr txBox="1"/>
          <p:nvPr/>
        </p:nvSpPr>
        <p:spPr>
          <a:xfrm>
            <a:off x="4447440" y="5970960"/>
            <a:ext cx="185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−7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7" name=""/>
          <p:cNvSpPr txBox="1"/>
          <p:nvPr/>
        </p:nvSpPr>
        <p:spPr>
          <a:xfrm>
            <a:off x="4884120" y="5982840"/>
            <a:ext cx="64692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1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 × 10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8" name=""/>
          <p:cNvSpPr txBox="1"/>
          <p:nvPr/>
        </p:nvSpPr>
        <p:spPr>
          <a:xfrm>
            <a:off x="5511960" y="5970960"/>
            <a:ext cx="277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−16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9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13" name=""/>
          <p:cNvPicPr/>
          <p:nvPr/>
        </p:nvPicPr>
        <p:blipFill>
          <a:blip r:embed="rId1"/>
          <a:stretch/>
        </p:blipFill>
        <p:spPr>
          <a:xfrm>
            <a:off x="752400" y="1371600"/>
            <a:ext cx="4476240" cy="180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4" name=""/>
          <p:cNvSpPr txBox="1"/>
          <p:nvPr/>
        </p:nvSpPr>
        <p:spPr>
          <a:xfrm>
            <a:off x="747720" y="731520"/>
            <a:ext cx="346320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BB84 — what Eve costs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5" name=""/>
          <p:cNvSpPr txBox="1"/>
          <p:nvPr/>
        </p:nvSpPr>
        <p:spPr>
          <a:xfrm>
            <a:off x="747720" y="3431520"/>
            <a:ext cx="92502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Eve cannot copy the qubit (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no-cloning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), so she must measure — and guess a basis.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6" name=""/>
          <p:cNvSpPr txBox="1"/>
          <p:nvPr/>
        </p:nvSpPr>
        <p:spPr>
          <a:xfrm>
            <a:off x="747720" y="3945960"/>
            <a:ext cx="6522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She is wrong half the time, and then Bob errs half of </a:t>
            </a:r>
            <a:r>
              <a:rPr lang="en-US" sz="1870" b="0" i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those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7" name=""/>
          <p:cNvSpPr txBox="1"/>
          <p:nvPr/>
        </p:nvSpPr>
        <p:spPr>
          <a:xfrm>
            <a:off x="4687920" y="4387680"/>
            <a:ext cx="9918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QBER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8" name=""/>
          <p:cNvSpPr txBox="1"/>
          <p:nvPr/>
        </p:nvSpPr>
        <p:spPr>
          <a:xfrm>
            <a:off x="6053760" y="46857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9" name=""/>
          <p:cNvSpPr txBox="1"/>
          <p:nvPr/>
        </p:nvSpPr>
        <p:spPr>
          <a:xfrm>
            <a:off x="6142680" y="43876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×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0" name=""/>
          <p:cNvSpPr/>
          <p:nvPr/>
        </p:nvSpPr>
        <p:spPr>
          <a:xfrm>
            <a:off x="5943240" y="4619520"/>
            <a:ext cx="105480" cy="9720"/>
          </a:xfrm>
          <a:custGeom>
            <a:avLst/>
            <a:gdLst/>
            <a:ahLst/>
            <a:rect l="0" t="0" r="r" b="b"/>
            <a:pathLst>
              <a:path w="293" h="27">
                <a:moveTo>
                  <a:pt x="0" y="0"/>
                </a:moveTo>
                <a:lnTo>
                  <a:pt x="293" y="0"/>
                </a:lnTo>
                <a:lnTo>
                  <a:pt x="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1" name=""/>
          <p:cNvSpPr txBox="1"/>
          <p:nvPr/>
        </p:nvSpPr>
        <p:spPr>
          <a:xfrm>
            <a:off x="5943240" y="4575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2" name=""/>
          <p:cNvSpPr txBox="1"/>
          <p:nvPr/>
        </p:nvSpPr>
        <p:spPr>
          <a:xfrm>
            <a:off x="5943240" y="43660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3" name=""/>
          <p:cNvSpPr txBox="1"/>
          <p:nvPr/>
        </p:nvSpPr>
        <p:spPr>
          <a:xfrm>
            <a:off x="6576120" y="468576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4" name=""/>
          <p:cNvSpPr txBox="1"/>
          <p:nvPr/>
        </p:nvSpPr>
        <p:spPr>
          <a:xfrm>
            <a:off x="6680880" y="438768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5" name=""/>
          <p:cNvSpPr/>
          <p:nvPr/>
        </p:nvSpPr>
        <p:spPr>
          <a:xfrm>
            <a:off x="6467400" y="4619520"/>
            <a:ext cx="95400" cy="9720"/>
          </a:xfrm>
          <a:custGeom>
            <a:avLst/>
            <a:gdLst/>
            <a:ahLst/>
            <a:rect l="0" t="0" r="r" b="b"/>
            <a:pathLst>
              <a:path w="265" h="27">
                <a:moveTo>
                  <a:pt x="0" y="0"/>
                </a:moveTo>
                <a:lnTo>
                  <a:pt x="265" y="0"/>
                </a:lnTo>
                <a:lnTo>
                  <a:pt x="2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6" name=""/>
          <p:cNvSpPr txBox="1"/>
          <p:nvPr/>
        </p:nvSpPr>
        <p:spPr>
          <a:xfrm>
            <a:off x="6465600" y="457560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7" name=""/>
          <p:cNvSpPr txBox="1"/>
          <p:nvPr/>
        </p:nvSpPr>
        <p:spPr>
          <a:xfrm>
            <a:off x="6465600" y="4366080"/>
            <a:ext cx="201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8" name=""/>
          <p:cNvSpPr txBox="1"/>
          <p:nvPr/>
        </p:nvSpPr>
        <p:spPr>
          <a:xfrm>
            <a:off x="6985080" y="4387680"/>
            <a:ext cx="5695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25%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9" name=""/>
          <p:cNvSpPr txBox="1"/>
          <p:nvPr/>
        </p:nvSpPr>
        <p:spPr>
          <a:xfrm>
            <a:off x="747720" y="4965120"/>
            <a:ext cx="82396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She does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not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change the sifting rate — only the error rate on the bits that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0" name=""/>
          <p:cNvSpPr txBox="1"/>
          <p:nvPr/>
        </p:nvSpPr>
        <p:spPr>
          <a:xfrm>
            <a:off x="747720" y="5326920"/>
            <a:ext cx="9223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survive: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1" name=""/>
          <p:cNvSpPr txBox="1"/>
          <p:nvPr/>
        </p:nvSpPr>
        <p:spPr>
          <a:xfrm>
            <a:off x="3031200" y="5326920"/>
            <a:ext cx="68461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Alice and Bob compare some openly, and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abort above 11%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2" name=""/>
          <p:cNvSpPr txBox="1"/>
          <p:nvPr/>
        </p:nvSpPr>
        <p:spPr>
          <a:xfrm>
            <a:off x="747720" y="5877720"/>
            <a:ext cx="596592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Her gain: 75% of the key — useless, because the key is discarded.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3" name=""/>
          <p:cNvSpPr txBox="1"/>
          <p:nvPr/>
        </p:nvSpPr>
        <p:spPr>
          <a:xfrm>
            <a:off x="1670760" y="5273640"/>
            <a:ext cx="13644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0% → 25%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4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38" name=""/>
          <p:cNvPicPr/>
          <p:nvPr/>
        </p:nvPicPr>
        <p:blipFill>
          <a:blip r:embed="rId1"/>
          <a:stretch/>
        </p:blipFill>
        <p:spPr>
          <a:xfrm>
            <a:off x="752400" y="1371600"/>
            <a:ext cx="4095360" cy="209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9" name=""/>
          <p:cNvSpPr txBox="1"/>
          <p:nvPr/>
        </p:nvSpPr>
        <p:spPr>
          <a:xfrm>
            <a:off x="747720" y="731520"/>
            <a:ext cx="5834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E91 — the same job, via Bell's theorem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0" name=""/>
          <p:cNvSpPr txBox="1"/>
          <p:nvPr/>
        </p:nvSpPr>
        <p:spPr>
          <a:xfrm>
            <a:off x="6238800" y="2117160"/>
            <a:ext cx="46256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 source emits entangled pairs. Each side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1" name=""/>
          <p:cNvSpPr txBox="1"/>
          <p:nvPr/>
        </p:nvSpPr>
        <p:spPr>
          <a:xfrm>
            <a:off x="6238800" y="2478960"/>
            <a:ext cx="45428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measures along a randomly chosen axis.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2" name=""/>
          <p:cNvSpPr txBox="1"/>
          <p:nvPr/>
        </p:nvSpPr>
        <p:spPr>
          <a:xfrm>
            <a:off x="1899000" y="4020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E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3" name=""/>
          <p:cNvSpPr txBox="1"/>
          <p:nvPr/>
        </p:nvSpPr>
        <p:spPr>
          <a:xfrm>
            <a:off x="2128320" y="3940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4" name=""/>
          <p:cNvSpPr txBox="1"/>
          <p:nvPr/>
        </p:nvSpPr>
        <p:spPr>
          <a:xfrm>
            <a:off x="2240280" y="4020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θ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5" name=""/>
          <p:cNvSpPr txBox="1"/>
          <p:nvPr/>
        </p:nvSpPr>
        <p:spPr>
          <a:xfrm>
            <a:off x="2496600" y="4237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6" name=""/>
          <p:cNvSpPr txBox="1"/>
          <p:nvPr/>
        </p:nvSpPr>
        <p:spPr>
          <a:xfrm>
            <a:off x="2496600" y="3940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7" name=""/>
          <p:cNvSpPr txBox="1"/>
          <p:nvPr/>
        </p:nvSpPr>
        <p:spPr>
          <a:xfrm>
            <a:off x="2624760" y="4020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θ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8" name=""/>
          <p:cNvSpPr txBox="1"/>
          <p:nvPr/>
        </p:nvSpPr>
        <p:spPr>
          <a:xfrm>
            <a:off x="2860560" y="4237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9" name=""/>
          <p:cNvSpPr txBox="1"/>
          <p:nvPr/>
        </p:nvSpPr>
        <p:spPr>
          <a:xfrm>
            <a:off x="2860560" y="3940200"/>
            <a:ext cx="3268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) =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0" name=""/>
          <p:cNvSpPr txBox="1"/>
          <p:nvPr/>
        </p:nvSpPr>
        <p:spPr>
          <a:xfrm>
            <a:off x="2375640" y="4136040"/>
            <a:ext cx="20124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1" name=""/>
          <p:cNvSpPr txBox="1"/>
          <p:nvPr/>
        </p:nvSpPr>
        <p:spPr>
          <a:xfrm>
            <a:off x="2759760" y="4136040"/>
            <a:ext cx="20124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2" name=""/>
          <p:cNvSpPr txBox="1"/>
          <p:nvPr/>
        </p:nvSpPr>
        <p:spPr>
          <a:xfrm>
            <a:off x="3357000" y="3940200"/>
            <a:ext cx="5374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cos(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3" name=""/>
          <p:cNvSpPr txBox="1"/>
          <p:nvPr/>
        </p:nvSpPr>
        <p:spPr>
          <a:xfrm>
            <a:off x="3854880" y="4020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θ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4" name=""/>
          <p:cNvSpPr txBox="1"/>
          <p:nvPr/>
        </p:nvSpPr>
        <p:spPr>
          <a:xfrm>
            <a:off x="4110840" y="4237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5" name=""/>
          <p:cNvSpPr txBox="1"/>
          <p:nvPr/>
        </p:nvSpPr>
        <p:spPr>
          <a:xfrm>
            <a:off x="4174920" y="3940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−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6" name=""/>
          <p:cNvSpPr txBox="1"/>
          <p:nvPr/>
        </p:nvSpPr>
        <p:spPr>
          <a:xfrm>
            <a:off x="3989880" y="4136040"/>
            <a:ext cx="20124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a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7" name=""/>
          <p:cNvSpPr txBox="1"/>
          <p:nvPr/>
        </p:nvSpPr>
        <p:spPr>
          <a:xfrm>
            <a:off x="4463280" y="4020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θ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8" name=""/>
          <p:cNvSpPr txBox="1"/>
          <p:nvPr/>
        </p:nvSpPr>
        <p:spPr>
          <a:xfrm>
            <a:off x="4699080" y="42379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9" name=""/>
          <p:cNvSpPr txBox="1"/>
          <p:nvPr/>
        </p:nvSpPr>
        <p:spPr>
          <a:xfrm>
            <a:off x="4699080" y="3940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)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0" name=""/>
          <p:cNvSpPr txBox="1"/>
          <p:nvPr/>
        </p:nvSpPr>
        <p:spPr>
          <a:xfrm>
            <a:off x="4598280" y="4136040"/>
            <a:ext cx="20124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9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b</a:t>
            </a:r>
            <a:endParaRPr lang="en-US" sz="15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1" name=""/>
          <p:cNvSpPr txBox="1"/>
          <p:nvPr/>
        </p:nvSpPr>
        <p:spPr>
          <a:xfrm>
            <a:off x="747720" y="4527000"/>
            <a:ext cx="47325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Combine four settings into the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CHSH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sum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2" name=""/>
          <p:cNvSpPr txBox="1"/>
          <p:nvPr/>
        </p:nvSpPr>
        <p:spPr>
          <a:xfrm>
            <a:off x="5680440" y="4527000"/>
            <a:ext cx="38610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Any theory where the bits existed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3" name=""/>
          <p:cNvSpPr txBox="1"/>
          <p:nvPr/>
        </p:nvSpPr>
        <p:spPr>
          <a:xfrm>
            <a:off x="747720" y="4907880"/>
            <a:ext cx="31557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before measurement obeys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4" name=""/>
          <p:cNvSpPr txBox="1"/>
          <p:nvPr/>
        </p:nvSpPr>
        <p:spPr>
          <a:xfrm>
            <a:off x="4775400" y="4907880"/>
            <a:ext cx="34412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Quantum mechanics reaches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5" name=""/>
          <p:cNvSpPr txBox="1"/>
          <p:nvPr/>
        </p:nvSpPr>
        <p:spPr>
          <a:xfrm>
            <a:off x="9641880" y="490788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6" name=""/>
          <p:cNvSpPr txBox="1"/>
          <p:nvPr/>
        </p:nvSpPr>
        <p:spPr>
          <a:xfrm>
            <a:off x="747720" y="5432040"/>
            <a:ext cx="89640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Eve has to entangle herself with the pair to learn anything — and </a:t>
            </a:r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monogamy of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7" name=""/>
          <p:cNvSpPr txBox="1"/>
          <p:nvPr/>
        </p:nvSpPr>
        <p:spPr>
          <a:xfrm>
            <a:off x="747720" y="5793840"/>
            <a:ext cx="69656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entanglement </a:t>
            </a:r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means that halves every correlation, dropping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8" name=""/>
          <p:cNvSpPr txBox="1"/>
          <p:nvPr/>
        </p:nvSpPr>
        <p:spPr>
          <a:xfrm>
            <a:off x="7902720" y="5793840"/>
            <a:ext cx="3538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to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9" name=""/>
          <p:cNvSpPr txBox="1"/>
          <p:nvPr/>
        </p:nvSpPr>
        <p:spPr>
          <a:xfrm>
            <a:off x="8769240" y="579384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0" name=""/>
          <p:cNvSpPr txBox="1"/>
          <p:nvPr/>
        </p:nvSpPr>
        <p:spPr>
          <a:xfrm>
            <a:off x="747720" y="6363360"/>
            <a:ext cx="102456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Measured: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1" name=""/>
          <p:cNvSpPr txBox="1"/>
          <p:nvPr/>
        </p:nvSpPr>
        <p:spPr>
          <a:xfrm>
            <a:off x="3370680" y="6363360"/>
            <a:ext cx="63828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clean, 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2" name=""/>
          <p:cNvSpPr txBox="1"/>
          <p:nvPr/>
        </p:nvSpPr>
        <p:spPr>
          <a:xfrm>
            <a:off x="4429080" y="6363360"/>
            <a:ext cx="519840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with Eve. The eavesdropper is visible as a </a:t>
            </a:r>
            <a:r>
              <a:rPr lang="en-US" sz="1540" b="0" i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failed violation</a:t>
            </a:r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3" name=""/>
          <p:cNvSpPr txBox="1"/>
          <p:nvPr/>
        </p:nvSpPr>
        <p:spPr>
          <a:xfrm>
            <a:off x="5487120" y="455328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4" name=""/>
          <p:cNvSpPr txBox="1"/>
          <p:nvPr/>
        </p:nvSpPr>
        <p:spPr>
          <a:xfrm>
            <a:off x="3893400" y="48546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5" name=""/>
          <p:cNvSpPr txBox="1"/>
          <p:nvPr/>
        </p:nvSpPr>
        <p:spPr>
          <a:xfrm>
            <a:off x="3973680" y="49345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6" name=""/>
          <p:cNvSpPr txBox="1"/>
          <p:nvPr/>
        </p:nvSpPr>
        <p:spPr>
          <a:xfrm>
            <a:off x="4167000" y="4854600"/>
            <a:ext cx="7009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∣ ≤ 2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7" name=""/>
          <p:cNvSpPr txBox="1"/>
          <p:nvPr/>
        </p:nvSpPr>
        <p:spPr>
          <a:xfrm>
            <a:off x="8217000" y="4849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8" name=""/>
          <p:cNvSpPr txBox="1"/>
          <p:nvPr/>
        </p:nvSpPr>
        <p:spPr>
          <a:xfrm>
            <a:off x="8745120" y="51523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9" name=""/>
          <p:cNvSpPr txBox="1"/>
          <p:nvPr/>
        </p:nvSpPr>
        <p:spPr>
          <a:xfrm>
            <a:off x="8825040" y="48492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≈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0" name=""/>
          <p:cNvSpPr/>
          <p:nvPr/>
        </p:nvSpPr>
        <p:spPr>
          <a:xfrm>
            <a:off x="8383680" y="4909320"/>
            <a:ext cx="360360" cy="288360"/>
          </a:xfrm>
          <a:custGeom>
            <a:avLst/>
            <a:gdLst/>
            <a:ahLst/>
            <a:rect l="0" t="0" r="r" b="b"/>
            <a:pathLst>
              <a:path w="1001" h="801">
                <a:moveTo>
                  <a:pt x="18" y="498"/>
                </a:moveTo>
                <a:cubicBezTo>
                  <a:pt x="16" y="498"/>
                  <a:pt x="12" y="496"/>
                  <a:pt x="7" y="492"/>
                </a:cubicBezTo>
                <a:cubicBezTo>
                  <a:pt x="2" y="488"/>
                  <a:pt x="0" y="484"/>
                  <a:pt x="0" y="481"/>
                </a:cubicBezTo>
                <a:cubicBezTo>
                  <a:pt x="0" y="479"/>
                  <a:pt x="0" y="478"/>
                  <a:pt x="0" y="477"/>
                </a:cubicBezTo>
                <a:cubicBezTo>
                  <a:pt x="1" y="475"/>
                  <a:pt x="19" y="461"/>
                  <a:pt x="54" y="434"/>
                </a:cubicBezTo>
                <a:cubicBezTo>
                  <a:pt x="90" y="408"/>
                  <a:pt x="107" y="394"/>
                  <a:pt x="108" y="393"/>
                </a:cubicBezTo>
                <a:cubicBezTo>
                  <a:pt x="109" y="392"/>
                  <a:pt x="110" y="392"/>
                  <a:pt x="112" y="392"/>
                </a:cubicBezTo>
                <a:cubicBezTo>
                  <a:pt x="115" y="392"/>
                  <a:pt x="118" y="394"/>
                  <a:pt x="121" y="400"/>
                </a:cubicBezTo>
                <a:cubicBezTo>
                  <a:pt x="124" y="405"/>
                  <a:pt x="261" y="702"/>
                  <a:pt x="261" y="702"/>
                </a:cubicBezTo>
                <a:cubicBezTo>
                  <a:pt x="261" y="702"/>
                  <a:pt x="289" y="645"/>
                  <a:pt x="344" y="532"/>
                </a:cubicBezTo>
                <a:cubicBezTo>
                  <a:pt x="399" y="418"/>
                  <a:pt x="454" y="303"/>
                  <a:pt x="509" y="188"/>
                </a:cubicBezTo>
                <a:cubicBezTo>
                  <a:pt x="564" y="72"/>
                  <a:pt x="593" y="13"/>
                  <a:pt x="594" y="11"/>
                </a:cubicBezTo>
                <a:cubicBezTo>
                  <a:pt x="598" y="3"/>
                  <a:pt x="604" y="0"/>
                  <a:pt x="610" y="0"/>
                </a:cubicBezTo>
                <a:lnTo>
                  <a:pt x="1001" y="0"/>
                </a:lnTo>
                <a:lnTo>
                  <a:pt x="1001" y="32"/>
                </a:lnTo>
                <a:lnTo>
                  <a:pt x="619" y="32"/>
                </a:lnTo>
                <a:lnTo>
                  <a:pt x="439" y="406"/>
                </a:lnTo>
                <a:lnTo>
                  <a:pt x="251" y="795"/>
                </a:lnTo>
                <a:cubicBezTo>
                  <a:pt x="249" y="799"/>
                  <a:pt x="244" y="801"/>
                  <a:pt x="236" y="801"/>
                </a:cubicBezTo>
                <a:cubicBezTo>
                  <a:pt x="231" y="801"/>
                  <a:pt x="228" y="800"/>
                  <a:pt x="226" y="798"/>
                </a:cubicBezTo>
                <a:cubicBezTo>
                  <a:pt x="225" y="797"/>
                  <a:pt x="70" y="461"/>
                  <a:pt x="70" y="461"/>
                </a:cubicBezTo>
                <a:lnTo>
                  <a:pt x="18" y="49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1" name=""/>
          <p:cNvSpPr txBox="1"/>
          <p:nvPr/>
        </p:nvSpPr>
        <p:spPr>
          <a:xfrm>
            <a:off x="8601120" y="4854600"/>
            <a:ext cx="2876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2" name=""/>
          <p:cNvSpPr txBox="1"/>
          <p:nvPr/>
        </p:nvSpPr>
        <p:spPr>
          <a:xfrm>
            <a:off x="9129240" y="4854600"/>
            <a:ext cx="5720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2.83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3" name=""/>
          <p:cNvSpPr txBox="1"/>
          <p:nvPr/>
        </p:nvSpPr>
        <p:spPr>
          <a:xfrm>
            <a:off x="7709760" y="5820120"/>
            <a:ext cx="287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4" name=""/>
          <p:cNvSpPr txBox="1"/>
          <p:nvPr/>
        </p:nvSpPr>
        <p:spPr>
          <a:xfrm>
            <a:off x="8256600" y="5740200"/>
            <a:ext cx="57204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7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1.41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5" name=""/>
          <p:cNvSpPr txBox="1"/>
          <p:nvPr/>
        </p:nvSpPr>
        <p:spPr>
          <a:xfrm>
            <a:off x="1768680" y="6385320"/>
            <a:ext cx="235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i="1" u="none" strike="noStrik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S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6" name=""/>
          <p:cNvSpPr txBox="1"/>
          <p:nvPr/>
        </p:nvSpPr>
        <p:spPr>
          <a:xfrm>
            <a:off x="1992960" y="6319800"/>
            <a:ext cx="139248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 2.78 ± 0.07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7" name=""/>
          <p:cNvSpPr txBox="1"/>
          <p:nvPr/>
        </p:nvSpPr>
        <p:spPr>
          <a:xfrm>
            <a:off x="4008960" y="6319800"/>
            <a:ext cx="46944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60" b="0" u="none" strike="noStrik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1.34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8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2" name=""/>
          <p:cNvSpPr/>
          <p:nvPr/>
        </p:nvSpPr>
        <p:spPr>
          <a:xfrm>
            <a:off x="752400" y="2019240"/>
            <a:ext cx="2410200" cy="486000"/>
          </a:xfrm>
          <a:custGeom>
            <a:avLst/>
            <a:gdLst/>
            <a:ahLst/>
            <a:rect l="0" t="0" r="r" b="b"/>
            <a:pathLst>
              <a:path w="6695" h="1350">
                <a:moveTo>
                  <a:pt x="0" y="0"/>
                </a:moveTo>
                <a:lnTo>
                  <a:pt x="6695" y="0"/>
                </a:lnTo>
                <a:lnTo>
                  <a:pt x="6695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3" name=""/>
          <p:cNvSpPr/>
          <p:nvPr/>
        </p:nvSpPr>
        <p:spPr>
          <a:xfrm>
            <a:off x="3162240" y="2019240"/>
            <a:ext cx="2086200" cy="486000"/>
          </a:xfrm>
          <a:custGeom>
            <a:avLst/>
            <a:gdLst/>
            <a:ahLst/>
            <a:rect l="0" t="0" r="r" b="b"/>
            <a:pathLst>
              <a:path w="5795" h="1350">
                <a:moveTo>
                  <a:pt x="0" y="0"/>
                </a:moveTo>
                <a:lnTo>
                  <a:pt x="5795" y="0"/>
                </a:lnTo>
                <a:lnTo>
                  <a:pt x="5795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4" name=""/>
          <p:cNvSpPr/>
          <p:nvPr/>
        </p:nvSpPr>
        <p:spPr>
          <a:xfrm>
            <a:off x="5248080" y="2019240"/>
            <a:ext cx="1438560" cy="486000"/>
          </a:xfrm>
          <a:custGeom>
            <a:avLst/>
            <a:gdLst/>
            <a:ahLst/>
            <a:rect l="0" t="0" r="r" b="b"/>
            <a:pathLst>
              <a:path w="3996" h="1350">
                <a:moveTo>
                  <a:pt x="0" y="0"/>
                </a:moveTo>
                <a:lnTo>
                  <a:pt x="3996" y="0"/>
                </a:lnTo>
                <a:lnTo>
                  <a:pt x="3996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5" name=""/>
          <p:cNvSpPr/>
          <p:nvPr/>
        </p:nvSpPr>
        <p:spPr>
          <a:xfrm>
            <a:off x="6686280" y="2019240"/>
            <a:ext cx="2724480" cy="486000"/>
          </a:xfrm>
          <a:custGeom>
            <a:avLst/>
            <a:gdLst/>
            <a:ahLst/>
            <a:rect l="0" t="0" r="r" b="b"/>
            <a:pathLst>
              <a:path w="7568" h="1350">
                <a:moveTo>
                  <a:pt x="0" y="0"/>
                </a:moveTo>
                <a:lnTo>
                  <a:pt x="7568" y="0"/>
                </a:lnTo>
                <a:lnTo>
                  <a:pt x="756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6" name=""/>
          <p:cNvSpPr/>
          <p:nvPr/>
        </p:nvSpPr>
        <p:spPr>
          <a:xfrm>
            <a:off x="752400" y="2504880"/>
            <a:ext cx="2410200" cy="476640"/>
          </a:xfrm>
          <a:custGeom>
            <a:avLst/>
            <a:gdLst/>
            <a:ahLst/>
            <a:rect l="0" t="0" r="r" b="b"/>
            <a:pathLst>
              <a:path w="6695" h="1324">
                <a:moveTo>
                  <a:pt x="0" y="0"/>
                </a:moveTo>
                <a:lnTo>
                  <a:pt x="6695" y="0"/>
                </a:lnTo>
                <a:lnTo>
                  <a:pt x="6695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7" name=""/>
          <p:cNvSpPr/>
          <p:nvPr/>
        </p:nvSpPr>
        <p:spPr>
          <a:xfrm>
            <a:off x="3162240" y="2504880"/>
            <a:ext cx="2086200" cy="476640"/>
          </a:xfrm>
          <a:custGeom>
            <a:avLst/>
            <a:gdLst/>
            <a:ahLst/>
            <a:rect l="0" t="0" r="r" b="b"/>
            <a:pathLst>
              <a:path w="5795" h="1324">
                <a:moveTo>
                  <a:pt x="0" y="0"/>
                </a:moveTo>
                <a:lnTo>
                  <a:pt x="5795" y="0"/>
                </a:lnTo>
                <a:lnTo>
                  <a:pt x="5795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8" name=""/>
          <p:cNvSpPr/>
          <p:nvPr/>
        </p:nvSpPr>
        <p:spPr>
          <a:xfrm>
            <a:off x="5248080" y="2504880"/>
            <a:ext cx="1438560" cy="476640"/>
          </a:xfrm>
          <a:custGeom>
            <a:avLst/>
            <a:gdLst/>
            <a:ahLst/>
            <a:rect l="0" t="0" r="r" b="b"/>
            <a:pathLst>
              <a:path w="3996" h="1324">
                <a:moveTo>
                  <a:pt x="0" y="0"/>
                </a:moveTo>
                <a:lnTo>
                  <a:pt x="3996" y="0"/>
                </a:lnTo>
                <a:lnTo>
                  <a:pt x="3996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9" name=""/>
          <p:cNvSpPr/>
          <p:nvPr/>
        </p:nvSpPr>
        <p:spPr>
          <a:xfrm>
            <a:off x="6686280" y="2504880"/>
            <a:ext cx="2724480" cy="476640"/>
          </a:xfrm>
          <a:custGeom>
            <a:avLst/>
            <a:gdLst/>
            <a:ahLst/>
            <a:rect l="0" t="0" r="r" b="b"/>
            <a:pathLst>
              <a:path w="7568" h="1324">
                <a:moveTo>
                  <a:pt x="0" y="0"/>
                </a:moveTo>
                <a:lnTo>
                  <a:pt x="7568" y="0"/>
                </a:lnTo>
                <a:lnTo>
                  <a:pt x="756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0" name=""/>
          <p:cNvSpPr/>
          <p:nvPr/>
        </p:nvSpPr>
        <p:spPr>
          <a:xfrm>
            <a:off x="752400" y="2981160"/>
            <a:ext cx="2410200" cy="486000"/>
          </a:xfrm>
          <a:custGeom>
            <a:avLst/>
            <a:gdLst/>
            <a:ahLst/>
            <a:rect l="0" t="0" r="r" b="b"/>
            <a:pathLst>
              <a:path w="6695" h="1350">
                <a:moveTo>
                  <a:pt x="0" y="0"/>
                </a:moveTo>
                <a:lnTo>
                  <a:pt x="6695" y="0"/>
                </a:lnTo>
                <a:lnTo>
                  <a:pt x="6695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1" name=""/>
          <p:cNvSpPr/>
          <p:nvPr/>
        </p:nvSpPr>
        <p:spPr>
          <a:xfrm>
            <a:off x="3162240" y="2981160"/>
            <a:ext cx="2086200" cy="486000"/>
          </a:xfrm>
          <a:custGeom>
            <a:avLst/>
            <a:gdLst/>
            <a:ahLst/>
            <a:rect l="0" t="0" r="r" b="b"/>
            <a:pathLst>
              <a:path w="5795" h="1350">
                <a:moveTo>
                  <a:pt x="0" y="0"/>
                </a:moveTo>
                <a:lnTo>
                  <a:pt x="5795" y="0"/>
                </a:lnTo>
                <a:lnTo>
                  <a:pt x="5795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2" name=""/>
          <p:cNvSpPr/>
          <p:nvPr/>
        </p:nvSpPr>
        <p:spPr>
          <a:xfrm>
            <a:off x="5248080" y="2981160"/>
            <a:ext cx="1438560" cy="486000"/>
          </a:xfrm>
          <a:custGeom>
            <a:avLst/>
            <a:gdLst/>
            <a:ahLst/>
            <a:rect l="0" t="0" r="r" b="b"/>
            <a:pathLst>
              <a:path w="3996" h="1350">
                <a:moveTo>
                  <a:pt x="0" y="0"/>
                </a:moveTo>
                <a:lnTo>
                  <a:pt x="3996" y="0"/>
                </a:lnTo>
                <a:lnTo>
                  <a:pt x="3996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3" name=""/>
          <p:cNvSpPr/>
          <p:nvPr/>
        </p:nvSpPr>
        <p:spPr>
          <a:xfrm>
            <a:off x="6686280" y="2981160"/>
            <a:ext cx="2724480" cy="486000"/>
          </a:xfrm>
          <a:custGeom>
            <a:avLst/>
            <a:gdLst/>
            <a:ahLst/>
            <a:rect l="0" t="0" r="r" b="b"/>
            <a:pathLst>
              <a:path w="7568" h="1350">
                <a:moveTo>
                  <a:pt x="0" y="0"/>
                </a:moveTo>
                <a:lnTo>
                  <a:pt x="7568" y="0"/>
                </a:lnTo>
                <a:lnTo>
                  <a:pt x="756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4" name=""/>
          <p:cNvSpPr/>
          <p:nvPr/>
        </p:nvSpPr>
        <p:spPr>
          <a:xfrm>
            <a:off x="752400" y="3466800"/>
            <a:ext cx="2410200" cy="476640"/>
          </a:xfrm>
          <a:custGeom>
            <a:avLst/>
            <a:gdLst/>
            <a:ahLst/>
            <a:rect l="0" t="0" r="r" b="b"/>
            <a:pathLst>
              <a:path w="6695" h="1324">
                <a:moveTo>
                  <a:pt x="0" y="0"/>
                </a:moveTo>
                <a:lnTo>
                  <a:pt x="6695" y="0"/>
                </a:lnTo>
                <a:lnTo>
                  <a:pt x="6695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5" name=""/>
          <p:cNvSpPr/>
          <p:nvPr/>
        </p:nvSpPr>
        <p:spPr>
          <a:xfrm>
            <a:off x="3162240" y="3466800"/>
            <a:ext cx="2086200" cy="476640"/>
          </a:xfrm>
          <a:custGeom>
            <a:avLst/>
            <a:gdLst/>
            <a:ahLst/>
            <a:rect l="0" t="0" r="r" b="b"/>
            <a:pathLst>
              <a:path w="5795" h="1324">
                <a:moveTo>
                  <a:pt x="0" y="0"/>
                </a:moveTo>
                <a:lnTo>
                  <a:pt x="5795" y="0"/>
                </a:lnTo>
                <a:lnTo>
                  <a:pt x="5795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6" name=""/>
          <p:cNvSpPr/>
          <p:nvPr/>
        </p:nvSpPr>
        <p:spPr>
          <a:xfrm>
            <a:off x="5248080" y="3466800"/>
            <a:ext cx="1438560" cy="476640"/>
          </a:xfrm>
          <a:custGeom>
            <a:avLst/>
            <a:gdLst/>
            <a:ahLst/>
            <a:rect l="0" t="0" r="r" b="b"/>
            <a:pathLst>
              <a:path w="3996" h="1324">
                <a:moveTo>
                  <a:pt x="0" y="0"/>
                </a:moveTo>
                <a:lnTo>
                  <a:pt x="3996" y="0"/>
                </a:lnTo>
                <a:lnTo>
                  <a:pt x="3996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7" name=""/>
          <p:cNvSpPr/>
          <p:nvPr/>
        </p:nvSpPr>
        <p:spPr>
          <a:xfrm>
            <a:off x="6686280" y="3466800"/>
            <a:ext cx="2724480" cy="476640"/>
          </a:xfrm>
          <a:custGeom>
            <a:avLst/>
            <a:gdLst/>
            <a:ahLst/>
            <a:rect l="0" t="0" r="r" b="b"/>
            <a:pathLst>
              <a:path w="7568" h="1324">
                <a:moveTo>
                  <a:pt x="0" y="0"/>
                </a:moveTo>
                <a:lnTo>
                  <a:pt x="7568" y="0"/>
                </a:lnTo>
                <a:lnTo>
                  <a:pt x="756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8" name=""/>
          <p:cNvSpPr/>
          <p:nvPr/>
        </p:nvSpPr>
        <p:spPr>
          <a:xfrm>
            <a:off x="752400" y="3943080"/>
            <a:ext cx="2410200" cy="486360"/>
          </a:xfrm>
          <a:custGeom>
            <a:avLst/>
            <a:gdLst/>
            <a:ahLst/>
            <a:rect l="0" t="0" r="r" b="b"/>
            <a:pathLst>
              <a:path w="6695" h="1351">
                <a:moveTo>
                  <a:pt x="0" y="0"/>
                </a:moveTo>
                <a:lnTo>
                  <a:pt x="6695" y="0"/>
                </a:lnTo>
                <a:lnTo>
                  <a:pt x="6695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9" name=""/>
          <p:cNvSpPr/>
          <p:nvPr/>
        </p:nvSpPr>
        <p:spPr>
          <a:xfrm>
            <a:off x="3162240" y="3943080"/>
            <a:ext cx="2086200" cy="486360"/>
          </a:xfrm>
          <a:custGeom>
            <a:avLst/>
            <a:gdLst/>
            <a:ahLst/>
            <a:rect l="0" t="0" r="r" b="b"/>
            <a:pathLst>
              <a:path w="5795" h="1351">
                <a:moveTo>
                  <a:pt x="0" y="0"/>
                </a:moveTo>
                <a:lnTo>
                  <a:pt x="5795" y="0"/>
                </a:lnTo>
                <a:lnTo>
                  <a:pt x="5795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0" name=""/>
          <p:cNvSpPr/>
          <p:nvPr/>
        </p:nvSpPr>
        <p:spPr>
          <a:xfrm>
            <a:off x="5248080" y="3943080"/>
            <a:ext cx="1438560" cy="486360"/>
          </a:xfrm>
          <a:custGeom>
            <a:avLst/>
            <a:gdLst/>
            <a:ahLst/>
            <a:rect l="0" t="0" r="r" b="b"/>
            <a:pathLst>
              <a:path w="3996" h="1351">
                <a:moveTo>
                  <a:pt x="0" y="0"/>
                </a:moveTo>
                <a:lnTo>
                  <a:pt x="3996" y="0"/>
                </a:lnTo>
                <a:lnTo>
                  <a:pt x="3996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1" name=""/>
          <p:cNvSpPr/>
          <p:nvPr/>
        </p:nvSpPr>
        <p:spPr>
          <a:xfrm>
            <a:off x="6686280" y="3943080"/>
            <a:ext cx="2724480" cy="486360"/>
          </a:xfrm>
          <a:custGeom>
            <a:avLst/>
            <a:gdLst/>
            <a:ahLst/>
            <a:rect l="0" t="0" r="r" b="b"/>
            <a:pathLst>
              <a:path w="7568" h="1351">
                <a:moveTo>
                  <a:pt x="0" y="0"/>
                </a:moveTo>
                <a:lnTo>
                  <a:pt x="7568" y="0"/>
                </a:lnTo>
                <a:lnTo>
                  <a:pt x="756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2" name=""/>
          <p:cNvSpPr/>
          <p:nvPr/>
        </p:nvSpPr>
        <p:spPr>
          <a:xfrm>
            <a:off x="752400" y="201924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3" name=""/>
          <p:cNvSpPr/>
          <p:nvPr/>
        </p:nvSpPr>
        <p:spPr>
          <a:xfrm>
            <a:off x="752400" y="201924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4" name=""/>
          <p:cNvSpPr/>
          <p:nvPr/>
        </p:nvSpPr>
        <p:spPr>
          <a:xfrm>
            <a:off x="3152520" y="201924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5" name=""/>
          <p:cNvSpPr/>
          <p:nvPr/>
        </p:nvSpPr>
        <p:spPr>
          <a:xfrm>
            <a:off x="3162240" y="2019240"/>
            <a:ext cx="2095560" cy="9720"/>
          </a:xfrm>
          <a:custGeom>
            <a:avLst/>
            <a:gdLst/>
            <a:ahLst/>
            <a:rect l="0" t="0" r="r" b="b"/>
            <a:pathLst>
              <a:path w="5821" h="27">
                <a:moveTo>
                  <a:pt x="0" y="0"/>
                </a:moveTo>
                <a:lnTo>
                  <a:pt x="5821" y="0"/>
                </a:lnTo>
                <a:lnTo>
                  <a:pt x="58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6" name=""/>
          <p:cNvSpPr/>
          <p:nvPr/>
        </p:nvSpPr>
        <p:spPr>
          <a:xfrm>
            <a:off x="5248080" y="201924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7" name=""/>
          <p:cNvSpPr/>
          <p:nvPr/>
        </p:nvSpPr>
        <p:spPr>
          <a:xfrm>
            <a:off x="5257440" y="2019240"/>
            <a:ext cx="1438920" cy="9720"/>
          </a:xfrm>
          <a:custGeom>
            <a:avLst/>
            <a:gdLst/>
            <a:ahLst/>
            <a:rect l="0" t="0" r="r" b="b"/>
            <a:pathLst>
              <a:path w="3997" h="27">
                <a:moveTo>
                  <a:pt x="0" y="0"/>
                </a:moveTo>
                <a:lnTo>
                  <a:pt x="3997" y="0"/>
                </a:lnTo>
                <a:lnTo>
                  <a:pt x="3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8" name=""/>
          <p:cNvSpPr/>
          <p:nvPr/>
        </p:nvSpPr>
        <p:spPr>
          <a:xfrm>
            <a:off x="6686280" y="201924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9" name=""/>
          <p:cNvSpPr/>
          <p:nvPr/>
        </p:nvSpPr>
        <p:spPr>
          <a:xfrm>
            <a:off x="6696000" y="201924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0" name=""/>
          <p:cNvSpPr/>
          <p:nvPr/>
        </p:nvSpPr>
        <p:spPr>
          <a:xfrm>
            <a:off x="9401040" y="201924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1" name=""/>
          <p:cNvSpPr/>
          <p:nvPr/>
        </p:nvSpPr>
        <p:spPr>
          <a:xfrm>
            <a:off x="752400" y="249552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2" name=""/>
          <p:cNvSpPr/>
          <p:nvPr/>
        </p:nvSpPr>
        <p:spPr>
          <a:xfrm>
            <a:off x="3162240" y="2495520"/>
            <a:ext cx="2095560" cy="9720"/>
          </a:xfrm>
          <a:custGeom>
            <a:avLst/>
            <a:gdLst/>
            <a:ahLst/>
            <a:rect l="0" t="0" r="r" b="b"/>
            <a:pathLst>
              <a:path w="5821" h="27">
                <a:moveTo>
                  <a:pt x="0" y="0"/>
                </a:moveTo>
                <a:lnTo>
                  <a:pt x="5821" y="0"/>
                </a:lnTo>
                <a:lnTo>
                  <a:pt x="58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3" name=""/>
          <p:cNvSpPr/>
          <p:nvPr/>
        </p:nvSpPr>
        <p:spPr>
          <a:xfrm>
            <a:off x="5257440" y="2495520"/>
            <a:ext cx="1438920" cy="9720"/>
          </a:xfrm>
          <a:custGeom>
            <a:avLst/>
            <a:gdLst/>
            <a:ahLst/>
            <a:rect l="0" t="0" r="r" b="b"/>
            <a:pathLst>
              <a:path w="3997" h="27">
                <a:moveTo>
                  <a:pt x="0" y="0"/>
                </a:moveTo>
                <a:lnTo>
                  <a:pt x="3997" y="0"/>
                </a:lnTo>
                <a:lnTo>
                  <a:pt x="3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4" name=""/>
          <p:cNvSpPr/>
          <p:nvPr/>
        </p:nvSpPr>
        <p:spPr>
          <a:xfrm>
            <a:off x="6696000" y="249552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5" name=""/>
          <p:cNvSpPr/>
          <p:nvPr/>
        </p:nvSpPr>
        <p:spPr>
          <a:xfrm>
            <a:off x="752400" y="25048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6" name=""/>
          <p:cNvSpPr/>
          <p:nvPr/>
        </p:nvSpPr>
        <p:spPr>
          <a:xfrm>
            <a:off x="3152520" y="250488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7" name=""/>
          <p:cNvSpPr/>
          <p:nvPr/>
        </p:nvSpPr>
        <p:spPr>
          <a:xfrm>
            <a:off x="5248080" y="25048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8" name=""/>
          <p:cNvSpPr/>
          <p:nvPr/>
        </p:nvSpPr>
        <p:spPr>
          <a:xfrm>
            <a:off x="6686280" y="250488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9" name=""/>
          <p:cNvSpPr/>
          <p:nvPr/>
        </p:nvSpPr>
        <p:spPr>
          <a:xfrm>
            <a:off x="9401040" y="25048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0" name=""/>
          <p:cNvSpPr/>
          <p:nvPr/>
        </p:nvSpPr>
        <p:spPr>
          <a:xfrm>
            <a:off x="752400" y="299052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1" name=""/>
          <p:cNvSpPr/>
          <p:nvPr/>
        </p:nvSpPr>
        <p:spPr>
          <a:xfrm>
            <a:off x="752400" y="298116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2" name=""/>
          <p:cNvSpPr/>
          <p:nvPr/>
        </p:nvSpPr>
        <p:spPr>
          <a:xfrm>
            <a:off x="3152520" y="299052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3" name=""/>
          <p:cNvSpPr/>
          <p:nvPr/>
        </p:nvSpPr>
        <p:spPr>
          <a:xfrm>
            <a:off x="3162240" y="2981160"/>
            <a:ext cx="2095560" cy="9720"/>
          </a:xfrm>
          <a:custGeom>
            <a:avLst/>
            <a:gdLst/>
            <a:ahLst/>
            <a:rect l="0" t="0" r="r" b="b"/>
            <a:pathLst>
              <a:path w="5821" h="27">
                <a:moveTo>
                  <a:pt x="0" y="0"/>
                </a:moveTo>
                <a:lnTo>
                  <a:pt x="5821" y="0"/>
                </a:lnTo>
                <a:lnTo>
                  <a:pt x="58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4" name=""/>
          <p:cNvSpPr/>
          <p:nvPr/>
        </p:nvSpPr>
        <p:spPr>
          <a:xfrm>
            <a:off x="5248080" y="299052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5" name=""/>
          <p:cNvSpPr/>
          <p:nvPr/>
        </p:nvSpPr>
        <p:spPr>
          <a:xfrm>
            <a:off x="5257440" y="2981160"/>
            <a:ext cx="1438920" cy="9720"/>
          </a:xfrm>
          <a:custGeom>
            <a:avLst/>
            <a:gdLst/>
            <a:ahLst/>
            <a:rect l="0" t="0" r="r" b="b"/>
            <a:pathLst>
              <a:path w="3997" h="27">
                <a:moveTo>
                  <a:pt x="0" y="0"/>
                </a:moveTo>
                <a:lnTo>
                  <a:pt x="3997" y="0"/>
                </a:lnTo>
                <a:lnTo>
                  <a:pt x="3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6" name=""/>
          <p:cNvSpPr/>
          <p:nvPr/>
        </p:nvSpPr>
        <p:spPr>
          <a:xfrm>
            <a:off x="6686280" y="299052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7" name=""/>
          <p:cNvSpPr/>
          <p:nvPr/>
        </p:nvSpPr>
        <p:spPr>
          <a:xfrm>
            <a:off x="6696000" y="298116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8" name=""/>
          <p:cNvSpPr/>
          <p:nvPr/>
        </p:nvSpPr>
        <p:spPr>
          <a:xfrm>
            <a:off x="9401040" y="299052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9" name=""/>
          <p:cNvSpPr/>
          <p:nvPr/>
        </p:nvSpPr>
        <p:spPr>
          <a:xfrm>
            <a:off x="752400" y="346680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0" name=""/>
          <p:cNvSpPr/>
          <p:nvPr/>
        </p:nvSpPr>
        <p:spPr>
          <a:xfrm>
            <a:off x="752400" y="345744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1" name=""/>
          <p:cNvSpPr/>
          <p:nvPr/>
        </p:nvSpPr>
        <p:spPr>
          <a:xfrm>
            <a:off x="3152520" y="346680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2" name=""/>
          <p:cNvSpPr/>
          <p:nvPr/>
        </p:nvSpPr>
        <p:spPr>
          <a:xfrm>
            <a:off x="3162240" y="3457440"/>
            <a:ext cx="2095560" cy="9720"/>
          </a:xfrm>
          <a:custGeom>
            <a:avLst/>
            <a:gdLst/>
            <a:ahLst/>
            <a:rect l="0" t="0" r="r" b="b"/>
            <a:pathLst>
              <a:path w="5821" h="27">
                <a:moveTo>
                  <a:pt x="0" y="0"/>
                </a:moveTo>
                <a:lnTo>
                  <a:pt x="5821" y="0"/>
                </a:lnTo>
                <a:lnTo>
                  <a:pt x="58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3" name=""/>
          <p:cNvSpPr/>
          <p:nvPr/>
        </p:nvSpPr>
        <p:spPr>
          <a:xfrm>
            <a:off x="5248080" y="346680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4" name=""/>
          <p:cNvSpPr/>
          <p:nvPr/>
        </p:nvSpPr>
        <p:spPr>
          <a:xfrm>
            <a:off x="5257440" y="3457440"/>
            <a:ext cx="1438920" cy="9720"/>
          </a:xfrm>
          <a:custGeom>
            <a:avLst/>
            <a:gdLst/>
            <a:ahLst/>
            <a:rect l="0" t="0" r="r" b="b"/>
            <a:pathLst>
              <a:path w="3997" h="27">
                <a:moveTo>
                  <a:pt x="0" y="0"/>
                </a:moveTo>
                <a:lnTo>
                  <a:pt x="3997" y="0"/>
                </a:lnTo>
                <a:lnTo>
                  <a:pt x="3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5" name=""/>
          <p:cNvSpPr/>
          <p:nvPr/>
        </p:nvSpPr>
        <p:spPr>
          <a:xfrm>
            <a:off x="6686280" y="346680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6" name=""/>
          <p:cNvSpPr/>
          <p:nvPr/>
        </p:nvSpPr>
        <p:spPr>
          <a:xfrm>
            <a:off x="6696000" y="345744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7" name=""/>
          <p:cNvSpPr/>
          <p:nvPr/>
        </p:nvSpPr>
        <p:spPr>
          <a:xfrm>
            <a:off x="9401040" y="346680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8" name=""/>
          <p:cNvSpPr/>
          <p:nvPr/>
        </p:nvSpPr>
        <p:spPr>
          <a:xfrm>
            <a:off x="752400" y="395280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9" name=""/>
          <p:cNvSpPr/>
          <p:nvPr/>
        </p:nvSpPr>
        <p:spPr>
          <a:xfrm>
            <a:off x="752400" y="3943080"/>
            <a:ext cx="2410200" cy="10080"/>
          </a:xfrm>
          <a:custGeom>
            <a:avLst/>
            <a:gdLst/>
            <a:ahLst/>
            <a:rect l="0" t="0" r="r" b="b"/>
            <a:pathLst>
              <a:path w="6695" h="28">
                <a:moveTo>
                  <a:pt x="0" y="0"/>
                </a:moveTo>
                <a:lnTo>
                  <a:pt x="6695" y="0"/>
                </a:lnTo>
                <a:lnTo>
                  <a:pt x="6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0" name=""/>
          <p:cNvSpPr/>
          <p:nvPr/>
        </p:nvSpPr>
        <p:spPr>
          <a:xfrm>
            <a:off x="3152520" y="395280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1" name=""/>
          <p:cNvSpPr/>
          <p:nvPr/>
        </p:nvSpPr>
        <p:spPr>
          <a:xfrm>
            <a:off x="3162240" y="3943080"/>
            <a:ext cx="2095560" cy="10080"/>
          </a:xfrm>
          <a:custGeom>
            <a:avLst/>
            <a:gdLst/>
            <a:ahLst/>
            <a:rect l="0" t="0" r="r" b="b"/>
            <a:pathLst>
              <a:path w="5821" h="28">
                <a:moveTo>
                  <a:pt x="0" y="0"/>
                </a:moveTo>
                <a:lnTo>
                  <a:pt x="5821" y="0"/>
                </a:lnTo>
                <a:lnTo>
                  <a:pt x="58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2" name=""/>
          <p:cNvSpPr/>
          <p:nvPr/>
        </p:nvSpPr>
        <p:spPr>
          <a:xfrm>
            <a:off x="5248080" y="395280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3" name=""/>
          <p:cNvSpPr/>
          <p:nvPr/>
        </p:nvSpPr>
        <p:spPr>
          <a:xfrm>
            <a:off x="5257440" y="3943080"/>
            <a:ext cx="1438920" cy="10080"/>
          </a:xfrm>
          <a:custGeom>
            <a:avLst/>
            <a:gdLst/>
            <a:ahLst/>
            <a:rect l="0" t="0" r="r" b="b"/>
            <a:pathLst>
              <a:path w="3997" h="28">
                <a:moveTo>
                  <a:pt x="0" y="0"/>
                </a:moveTo>
                <a:lnTo>
                  <a:pt x="3997" y="0"/>
                </a:lnTo>
                <a:lnTo>
                  <a:pt x="3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4" name=""/>
          <p:cNvSpPr/>
          <p:nvPr/>
        </p:nvSpPr>
        <p:spPr>
          <a:xfrm>
            <a:off x="6686280" y="395280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5" name=""/>
          <p:cNvSpPr/>
          <p:nvPr/>
        </p:nvSpPr>
        <p:spPr>
          <a:xfrm>
            <a:off x="6696000" y="3943080"/>
            <a:ext cx="2714760" cy="10080"/>
          </a:xfrm>
          <a:custGeom>
            <a:avLst/>
            <a:gdLst/>
            <a:ahLst/>
            <a:rect l="0" t="0" r="r" b="b"/>
            <a:pathLst>
              <a:path w="7541" h="28">
                <a:moveTo>
                  <a:pt x="0" y="0"/>
                </a:moveTo>
                <a:lnTo>
                  <a:pt x="7541" y="0"/>
                </a:lnTo>
                <a:lnTo>
                  <a:pt x="7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6" name=""/>
          <p:cNvSpPr/>
          <p:nvPr/>
        </p:nvSpPr>
        <p:spPr>
          <a:xfrm>
            <a:off x="9401040" y="395280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7" name=""/>
          <p:cNvSpPr/>
          <p:nvPr/>
        </p:nvSpPr>
        <p:spPr>
          <a:xfrm>
            <a:off x="752400" y="4419360"/>
            <a:ext cx="2410200" cy="10080"/>
          </a:xfrm>
          <a:custGeom>
            <a:avLst/>
            <a:gdLst/>
            <a:ahLst/>
            <a:rect l="0" t="0" r="r" b="b"/>
            <a:pathLst>
              <a:path w="6695" h="28">
                <a:moveTo>
                  <a:pt x="0" y="0"/>
                </a:moveTo>
                <a:lnTo>
                  <a:pt x="6695" y="0"/>
                </a:lnTo>
                <a:lnTo>
                  <a:pt x="6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8" name=""/>
          <p:cNvSpPr/>
          <p:nvPr/>
        </p:nvSpPr>
        <p:spPr>
          <a:xfrm>
            <a:off x="3162240" y="4419360"/>
            <a:ext cx="2095560" cy="10080"/>
          </a:xfrm>
          <a:custGeom>
            <a:avLst/>
            <a:gdLst/>
            <a:ahLst/>
            <a:rect l="0" t="0" r="r" b="b"/>
            <a:pathLst>
              <a:path w="5821" h="28">
                <a:moveTo>
                  <a:pt x="0" y="0"/>
                </a:moveTo>
                <a:lnTo>
                  <a:pt x="5821" y="0"/>
                </a:lnTo>
                <a:lnTo>
                  <a:pt x="58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9" name=""/>
          <p:cNvSpPr/>
          <p:nvPr/>
        </p:nvSpPr>
        <p:spPr>
          <a:xfrm>
            <a:off x="5257440" y="4419360"/>
            <a:ext cx="1438920" cy="10080"/>
          </a:xfrm>
          <a:custGeom>
            <a:avLst/>
            <a:gdLst/>
            <a:ahLst/>
            <a:rect l="0" t="0" r="r" b="b"/>
            <a:pathLst>
              <a:path w="3997" h="28">
                <a:moveTo>
                  <a:pt x="0" y="0"/>
                </a:moveTo>
                <a:lnTo>
                  <a:pt x="3997" y="0"/>
                </a:lnTo>
                <a:lnTo>
                  <a:pt x="3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0" name=""/>
          <p:cNvSpPr/>
          <p:nvPr/>
        </p:nvSpPr>
        <p:spPr>
          <a:xfrm>
            <a:off x="6696000" y="4419360"/>
            <a:ext cx="2714760" cy="10080"/>
          </a:xfrm>
          <a:custGeom>
            <a:avLst/>
            <a:gdLst/>
            <a:ahLst/>
            <a:rect l="0" t="0" r="r" b="b"/>
            <a:pathLst>
              <a:path w="7541" h="28">
                <a:moveTo>
                  <a:pt x="0" y="0"/>
                </a:moveTo>
                <a:lnTo>
                  <a:pt x="7541" y="0"/>
                </a:lnTo>
                <a:lnTo>
                  <a:pt x="7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1" name=""/>
          <p:cNvSpPr txBox="1"/>
          <p:nvPr/>
        </p:nvSpPr>
        <p:spPr>
          <a:xfrm>
            <a:off x="5638680" y="1369440"/>
            <a:ext cx="915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C2185B"/>
                </a:solidFill>
                <a:effectLst/>
                <a:uFillTx/>
                <a:latin typeface="NotoSans"/>
                <a:ea typeface="NotoSans"/>
              </a:rPr>
              <a:t>Recap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2" name=""/>
          <p:cNvSpPr txBox="1"/>
          <p:nvPr/>
        </p:nvSpPr>
        <p:spPr>
          <a:xfrm>
            <a:off x="3288600" y="2098080"/>
            <a:ext cx="6861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sends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3" name=""/>
          <p:cNvSpPr txBox="1"/>
          <p:nvPr/>
        </p:nvSpPr>
        <p:spPr>
          <a:xfrm>
            <a:off x="5377320" y="2098080"/>
            <a:ext cx="11811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adversary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4" name=""/>
          <p:cNvSpPr txBox="1"/>
          <p:nvPr/>
        </p:nvSpPr>
        <p:spPr>
          <a:xfrm>
            <a:off x="6816960" y="2098080"/>
            <a:ext cx="24616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needs entanglement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5" name=""/>
          <p:cNvSpPr txBox="1"/>
          <p:nvPr/>
        </p:nvSpPr>
        <p:spPr>
          <a:xfrm>
            <a:off x="880920" y="2574360"/>
            <a:ext cx="21524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Superdense coding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6" name=""/>
          <p:cNvSpPr txBox="1"/>
          <p:nvPr/>
        </p:nvSpPr>
        <p:spPr>
          <a:xfrm>
            <a:off x="3288600" y="2574360"/>
            <a:ext cx="18291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2 bits via 1 qubit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7" name=""/>
          <p:cNvSpPr txBox="1"/>
          <p:nvPr/>
        </p:nvSpPr>
        <p:spPr>
          <a:xfrm>
            <a:off x="5823000" y="2574360"/>
            <a:ext cx="291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8" name=""/>
          <p:cNvSpPr txBox="1"/>
          <p:nvPr/>
        </p:nvSpPr>
        <p:spPr>
          <a:xfrm>
            <a:off x="7864200" y="2574360"/>
            <a:ext cx="3700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yes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9" name=""/>
          <p:cNvSpPr txBox="1"/>
          <p:nvPr/>
        </p:nvSpPr>
        <p:spPr>
          <a:xfrm>
            <a:off x="880920" y="3060000"/>
            <a:ext cx="15076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Teleportation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0" name=""/>
          <p:cNvSpPr txBox="1"/>
          <p:nvPr/>
        </p:nvSpPr>
        <p:spPr>
          <a:xfrm>
            <a:off x="3288600" y="3060000"/>
            <a:ext cx="18291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 qubit via 2 bits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1" name=""/>
          <p:cNvSpPr txBox="1"/>
          <p:nvPr/>
        </p:nvSpPr>
        <p:spPr>
          <a:xfrm>
            <a:off x="5823000" y="3060000"/>
            <a:ext cx="291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2" name=""/>
          <p:cNvSpPr txBox="1"/>
          <p:nvPr/>
        </p:nvSpPr>
        <p:spPr>
          <a:xfrm>
            <a:off x="7864200" y="3060000"/>
            <a:ext cx="3700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yes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3" name=""/>
          <p:cNvSpPr txBox="1"/>
          <p:nvPr/>
        </p:nvSpPr>
        <p:spPr>
          <a:xfrm>
            <a:off x="880920" y="3536280"/>
            <a:ext cx="5817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BB84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4" name=""/>
          <p:cNvSpPr txBox="1"/>
          <p:nvPr/>
        </p:nvSpPr>
        <p:spPr>
          <a:xfrm>
            <a:off x="3288600" y="3536280"/>
            <a:ext cx="13201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 secret key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5" name=""/>
          <p:cNvSpPr txBox="1"/>
          <p:nvPr/>
        </p:nvSpPr>
        <p:spPr>
          <a:xfrm>
            <a:off x="5769720" y="3536280"/>
            <a:ext cx="397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yes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6" name=""/>
          <p:cNvSpPr txBox="1"/>
          <p:nvPr/>
        </p:nvSpPr>
        <p:spPr>
          <a:xfrm>
            <a:off x="7903800" y="3536280"/>
            <a:ext cx="291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7" name=""/>
          <p:cNvSpPr txBox="1"/>
          <p:nvPr/>
        </p:nvSpPr>
        <p:spPr>
          <a:xfrm>
            <a:off x="880920" y="4022280"/>
            <a:ext cx="4050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E91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8" name=""/>
          <p:cNvSpPr txBox="1"/>
          <p:nvPr/>
        </p:nvSpPr>
        <p:spPr>
          <a:xfrm>
            <a:off x="3288600" y="4022280"/>
            <a:ext cx="13201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 secret key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9" name=""/>
          <p:cNvSpPr txBox="1"/>
          <p:nvPr/>
        </p:nvSpPr>
        <p:spPr>
          <a:xfrm>
            <a:off x="5769720" y="4022280"/>
            <a:ext cx="3978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yes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0" name=""/>
          <p:cNvSpPr txBox="1"/>
          <p:nvPr/>
        </p:nvSpPr>
        <p:spPr>
          <a:xfrm>
            <a:off x="7864200" y="4022280"/>
            <a:ext cx="3700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yes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1" name=""/>
          <p:cNvSpPr/>
          <p:nvPr/>
        </p:nvSpPr>
        <p:spPr>
          <a:xfrm>
            <a:off x="8143560" y="4638600"/>
            <a:ext cx="771840" cy="314640"/>
          </a:xfrm>
          <a:custGeom>
            <a:avLst/>
            <a:gdLst/>
            <a:ahLst/>
            <a:rect l="0" t="0" r="r" b="b"/>
            <a:pathLst>
              <a:path w="2144" h="874">
                <a:moveTo>
                  <a:pt x="0" y="715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985" y="0"/>
                </a:lnTo>
                <a:cubicBezTo>
                  <a:pt x="1995" y="0"/>
                  <a:pt x="2005" y="1"/>
                  <a:pt x="2016" y="3"/>
                </a:cubicBezTo>
                <a:cubicBezTo>
                  <a:pt x="2027" y="5"/>
                  <a:pt x="2037" y="8"/>
                  <a:pt x="2046" y="12"/>
                </a:cubicBezTo>
                <a:cubicBezTo>
                  <a:pt x="2056" y="16"/>
                  <a:pt x="2065" y="21"/>
                  <a:pt x="2074" y="26"/>
                </a:cubicBezTo>
                <a:cubicBezTo>
                  <a:pt x="2083" y="32"/>
                  <a:pt x="2091" y="39"/>
                  <a:pt x="2098" y="46"/>
                </a:cubicBezTo>
                <a:cubicBezTo>
                  <a:pt x="2105" y="54"/>
                  <a:pt x="2112" y="62"/>
                  <a:pt x="2118" y="70"/>
                </a:cubicBezTo>
                <a:cubicBezTo>
                  <a:pt x="2124" y="79"/>
                  <a:pt x="2128" y="88"/>
                  <a:pt x="2132" y="98"/>
                </a:cubicBezTo>
                <a:cubicBezTo>
                  <a:pt x="2136" y="107"/>
                  <a:pt x="2139" y="117"/>
                  <a:pt x="2141" y="127"/>
                </a:cubicBezTo>
                <a:cubicBezTo>
                  <a:pt x="2143" y="138"/>
                  <a:pt x="2144" y="148"/>
                  <a:pt x="2144" y="158"/>
                </a:cubicBezTo>
                <a:lnTo>
                  <a:pt x="2144" y="715"/>
                </a:lnTo>
                <a:cubicBezTo>
                  <a:pt x="2144" y="726"/>
                  <a:pt x="2143" y="736"/>
                  <a:pt x="2141" y="746"/>
                </a:cubicBezTo>
                <a:cubicBezTo>
                  <a:pt x="2139" y="756"/>
                  <a:pt x="2136" y="766"/>
                  <a:pt x="2132" y="776"/>
                </a:cubicBezTo>
                <a:cubicBezTo>
                  <a:pt x="2128" y="785"/>
                  <a:pt x="2124" y="795"/>
                  <a:pt x="2118" y="803"/>
                </a:cubicBezTo>
                <a:cubicBezTo>
                  <a:pt x="2112" y="812"/>
                  <a:pt x="2105" y="820"/>
                  <a:pt x="2098" y="827"/>
                </a:cubicBezTo>
                <a:cubicBezTo>
                  <a:pt x="2091" y="835"/>
                  <a:pt x="2083" y="841"/>
                  <a:pt x="2074" y="847"/>
                </a:cubicBezTo>
                <a:cubicBezTo>
                  <a:pt x="2065" y="853"/>
                  <a:pt x="2056" y="858"/>
                  <a:pt x="2046" y="862"/>
                </a:cubicBezTo>
                <a:cubicBezTo>
                  <a:pt x="2037" y="866"/>
                  <a:pt x="2027" y="869"/>
                  <a:pt x="2016" y="871"/>
                </a:cubicBezTo>
                <a:cubicBezTo>
                  <a:pt x="2005" y="873"/>
                  <a:pt x="1995" y="874"/>
                  <a:pt x="1985" y="874"/>
                </a:cubicBezTo>
                <a:lnTo>
                  <a:pt x="159" y="874"/>
                </a:lnTo>
                <a:cubicBezTo>
                  <a:pt x="149" y="874"/>
                  <a:pt x="138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9" y="858"/>
                  <a:pt x="80" y="853"/>
                  <a:pt x="71" y="847"/>
                </a:cubicBezTo>
                <a:cubicBezTo>
                  <a:pt x="62" y="841"/>
                  <a:pt x="54" y="835"/>
                  <a:pt x="47" y="827"/>
                </a:cubicBezTo>
                <a:cubicBezTo>
                  <a:pt x="39" y="820"/>
                  <a:pt x="33" y="812"/>
                  <a:pt x="27" y="803"/>
                </a:cubicBezTo>
                <a:cubicBezTo>
                  <a:pt x="21" y="795"/>
                  <a:pt x="16" y="785"/>
                  <a:pt x="12" y="776"/>
                </a:cubicBezTo>
                <a:cubicBezTo>
                  <a:pt x="8" y="766"/>
                  <a:pt x="5" y="756"/>
                  <a:pt x="3" y="746"/>
                </a:cubicBezTo>
                <a:cubicBezTo>
                  <a:pt x="1" y="736"/>
                  <a:pt x="0" y="726"/>
                  <a:pt x="0" y="71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2" name=""/>
          <p:cNvSpPr txBox="1"/>
          <p:nvPr/>
        </p:nvSpPr>
        <p:spPr>
          <a:xfrm>
            <a:off x="3214080" y="4593600"/>
            <a:ext cx="49327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All four run locally or on IBM hardware with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3" name=""/>
          <p:cNvSpPr txBox="1"/>
          <p:nvPr/>
        </p:nvSpPr>
        <p:spPr>
          <a:xfrm>
            <a:off x="8225640" y="4682160"/>
            <a:ext cx="6087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--ibm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4" name=""/>
          <p:cNvSpPr txBox="1"/>
          <p:nvPr/>
        </p:nvSpPr>
        <p:spPr>
          <a:xfrm>
            <a:off x="8913960" y="459360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5" name=""/>
          <p:cNvSpPr txBox="1"/>
          <p:nvPr/>
        </p:nvSpPr>
        <p:spPr>
          <a:xfrm>
            <a:off x="3592440" y="5163480"/>
            <a:ext cx="500868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4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github.com/alessandrogpz/quantum-computing-notes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6" name=""/>
          <p:cNvSpPr txBox="1"/>
          <p:nvPr/>
        </p:nvSpPr>
        <p:spPr>
          <a:xfrm>
            <a:off x="11644560" y="632772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LibreOffice_project/f58cec7047c8c23ebe1a1fb1be361bbdc44a7ca5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